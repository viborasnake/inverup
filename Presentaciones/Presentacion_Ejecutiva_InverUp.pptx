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50b84b75014aaa" /><Relationship Type="http://schemas.openxmlformats.org/officeDocument/2006/relationships/extended-properties" Target="/docProps/app.xml" Id="R9fd70fb44112432a" /><Relationship Type="http://schemas.openxmlformats.org/officeDocument/2006/relationships/officeDocument" Target="/ppt/presentation.xml" Id="R3fe9288b2e0e4211" /></Relationships>
</file>

<file path=ppt/presentation.xml><?xml version="1.0" encoding="utf-8"?>
<p:presentation xmlns:p="http://schemas.openxmlformats.org/presentationml/2006/main">
  <p:sldMasterIdLst>
    <p:sldMasterId xmlns:r="http://schemas.openxmlformats.org/officeDocument/2006/relationships" id="2147483648" r:id="R09ae0800e8754f59"/>
  </p:sldMasterIdLst>
  <p:notesMasterIdLst>
    <p:notesMasterId xmlns:r="http://schemas.openxmlformats.org/officeDocument/2006/relationships" r:id="R4475b165853b4562"/>
  </p:notesMasterIdLst>
  <p:sldIdLst>
    <p:sldId xmlns:r="http://schemas.openxmlformats.org/officeDocument/2006/relationships" id="256" r:id="R649ddb04f8634f04"/>
    <p:sldId xmlns:r="http://schemas.openxmlformats.org/officeDocument/2006/relationships" id="257" r:id="R671d954f5b5240f2"/>
    <p:sldId xmlns:r="http://schemas.openxmlformats.org/officeDocument/2006/relationships" id="258" r:id="R6928e25e15354f92"/>
    <p:sldId xmlns:r="http://schemas.openxmlformats.org/officeDocument/2006/relationships" id="259" r:id="R1d1f0ca92d9744b0"/>
    <p:sldId xmlns:r="http://schemas.openxmlformats.org/officeDocument/2006/relationships" id="260" r:id="R2d3c6ae4de5d4c15"/>
    <p:sldId xmlns:r="http://schemas.openxmlformats.org/officeDocument/2006/relationships" id="261" r:id="R0827657bf4e24dfb"/>
    <p:sldId xmlns:r="http://schemas.openxmlformats.org/officeDocument/2006/relationships" id="262" r:id="R5b99ad197a5a4f05"/>
    <p:sldId xmlns:r="http://schemas.openxmlformats.org/officeDocument/2006/relationships" id="263" r:id="Ra15f228ad9e345b7"/>
    <p:sldId xmlns:r="http://schemas.openxmlformats.org/officeDocument/2006/relationships" id="264" r:id="R77a7f485c9504272"/>
    <p:sldId xmlns:r="http://schemas.openxmlformats.org/officeDocument/2006/relationships" id="265" r:id="R62910513575348d1"/>
    <p:sldId xmlns:r="http://schemas.openxmlformats.org/officeDocument/2006/relationships" id="266" r:id="R639f18a4f7db48cb"/>
    <p:sldId xmlns:r="http://schemas.openxmlformats.org/officeDocument/2006/relationships" id="267" r:id="Rbb6fbb90b2344b6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3ea2a58e504886" /><Relationship Type="http://schemas.openxmlformats.org/officeDocument/2006/relationships/slideMaster" Target="/ppt/slideMasters/slideMaster1.xml" Id="R09ae0800e8754f59" /><Relationship Type="http://schemas.openxmlformats.org/officeDocument/2006/relationships/notesMaster" Target="/ppt/notesMasters/notesMaster1.xml" Id="R4475b165853b4562" /><Relationship Type="http://schemas.openxmlformats.org/officeDocument/2006/relationships/presProps" Target="/ppt/presProps.xml" Id="Ra18dbc2df7c04b05" /><Relationship Type="http://schemas.openxmlformats.org/officeDocument/2006/relationships/tableStyles" Target="/ppt/tableStyles.xml" Id="R55bd09d216ef41d6" /><Relationship Type="http://schemas.openxmlformats.org/officeDocument/2006/relationships/slide" Target="/ppt/slides/slide1.xml" Id="R649ddb04f8634f04" /><Relationship Type="http://schemas.openxmlformats.org/officeDocument/2006/relationships/slide" Target="/ppt/slides/slide2.xml" Id="R671d954f5b5240f2" /><Relationship Type="http://schemas.openxmlformats.org/officeDocument/2006/relationships/slide" Target="/ppt/slides/slide3.xml" Id="R6928e25e15354f92" /><Relationship Type="http://schemas.openxmlformats.org/officeDocument/2006/relationships/slide" Target="/ppt/slides/slide4.xml" Id="R1d1f0ca92d9744b0" /><Relationship Type="http://schemas.openxmlformats.org/officeDocument/2006/relationships/slide" Target="/ppt/slides/slide5.xml" Id="R2d3c6ae4de5d4c15" /><Relationship Type="http://schemas.openxmlformats.org/officeDocument/2006/relationships/slide" Target="/ppt/slides/slide6.xml" Id="R0827657bf4e24dfb" /><Relationship Type="http://schemas.openxmlformats.org/officeDocument/2006/relationships/slide" Target="/ppt/slides/slide7.xml" Id="R5b99ad197a5a4f05" /><Relationship Type="http://schemas.openxmlformats.org/officeDocument/2006/relationships/slide" Target="/ppt/slides/slide8.xml" Id="Ra15f228ad9e345b7" /><Relationship Type="http://schemas.openxmlformats.org/officeDocument/2006/relationships/slide" Target="/ppt/slides/slide9.xml" Id="R77a7f485c9504272" /><Relationship Type="http://schemas.openxmlformats.org/officeDocument/2006/relationships/slide" Target="/ppt/slides/slide10.xml" Id="R62910513575348d1" /><Relationship Type="http://schemas.openxmlformats.org/officeDocument/2006/relationships/slide" Target="/ppt/slides/slide11.xml" Id="R639f18a4f7db48cb" /><Relationship Type="http://schemas.openxmlformats.org/officeDocument/2006/relationships/slide" Target="/ppt/slides/slide12.xml" Id="Rbb6fbb90b234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06103a7284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e6f4d35db541e4" /><Relationship Type="http://schemas.openxmlformats.org/officeDocument/2006/relationships/notesMaster" Target="/ppt/notesMasters/notesMaster1.xml" Id="Re3998365caea4c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8f1dfba7344d20" /><Relationship Type="http://schemas.openxmlformats.org/officeDocument/2006/relationships/notesMaster" Target="/ppt/notesMasters/notesMaster1.xml" Id="Rf4dc2a8ffb2748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caed0da3554806" /><Relationship Type="http://schemas.openxmlformats.org/officeDocument/2006/relationships/notesMaster" Target="/ppt/notesMasters/notesMaster1.xml" Id="Rcdc21534a65e48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5ec489237a4fe7" /><Relationship Type="http://schemas.openxmlformats.org/officeDocument/2006/relationships/notesMaster" Target="/ppt/notesMasters/notesMaster1.xml" Id="R558b758957ec48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87590e83704a4e" /><Relationship Type="http://schemas.openxmlformats.org/officeDocument/2006/relationships/notesMaster" Target="/ppt/notesMasters/notesMaster1.xml" Id="R126dbc1f929340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dc1db6341f4fe7" /><Relationship Type="http://schemas.openxmlformats.org/officeDocument/2006/relationships/notesMaster" Target="/ppt/notesMasters/notesMaster1.xml" Id="R98e5da2b1deb40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89b6ecc3054723" /><Relationship Type="http://schemas.openxmlformats.org/officeDocument/2006/relationships/notesMaster" Target="/ppt/notesMasters/notesMaster1.xml" Id="Rc5eefd18061d41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84d4c2bdd24eac" /><Relationship Type="http://schemas.openxmlformats.org/officeDocument/2006/relationships/notesMaster" Target="/ppt/notesMasters/notesMaster1.xml" Id="R425a98ce136d4b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72e7007a3141ef" /><Relationship Type="http://schemas.openxmlformats.org/officeDocument/2006/relationships/notesMaster" Target="/ppt/notesMasters/notesMaster1.xml" Id="R9dd98a9c79cc4b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4d10d0de1348c3" /><Relationship Type="http://schemas.openxmlformats.org/officeDocument/2006/relationships/notesMaster" Target="/ppt/notesMasters/notesMaster1.xml" Id="R5b699df4042d42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55125b1bb84e58" /><Relationship Type="http://schemas.openxmlformats.org/officeDocument/2006/relationships/notesMaster" Target="/ppt/notesMasters/notesMaster1.xml" Id="R2b36a4b44e9747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74edacb4404fec" /><Relationship Type="http://schemas.openxmlformats.org/officeDocument/2006/relationships/notesMaster" Target="/ppt/notesMasters/notesMaster1.xml" Id="R995dcdf5f4654e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VALE — Apertura (10–15 segundos)</a:t>
            </a:r>
          </a:p>
          <a:p xmlns:a="http://schemas.openxmlformats.org/drawingml/2006/main">
            <a:r>
              <a:t/>
            </a:r>
          </a:p>
          <a:p xmlns:a="http://schemas.openxmlformats.org/drawingml/2006/main">
            <a:r>
              <a:t>Hoy presentamos un plan de rescate para InverUp. La propuesta no promete eliminar el plazo de liquidación ni transformar el core en dos semanas. Busca algo más urgente y viable: que el usuario pueda ver dónde está su dinero, entender qué ocurre y mantener la confianza suficiente para seguir invirtiendo.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VALE — Crisis y evidencia (50–55 segundos)</a:t>
            </a:r>
          </a:p>
          <a:p xmlns:a="http://schemas.openxmlformats.org/drawingml/2006/main">
            <a:r>
              <a:t/>
            </a:r>
          </a:p>
          <a:p xmlns:a="http://schemas.openxmlformats.org/drawingml/2006/main">
            <a:r>
              <a:t>Hoy InverUp no enfrenta solamente un problema de usabilidad. Enfrenta una crisis de confianza que ya está afectando al negocio. En 45 días, el portafolio Futuro Joven perdió un 30% de sus usuarios activos. La fuga se concentra en el momento más sensible: cuando una persona intenta recuperar su dinero.</a:t>
            </a:r>
          </a:p>
          <a:p xmlns:a="http://schemas.openxmlformats.org/drawingml/2006/main">
            <a:r>
              <a:t/>
            </a:r>
          </a:p>
          <a:p xmlns:a="http://schemas.openxmlformats.org/drawingml/2006/main">
            <a:r>
              <a:t>La triple validación —clave, SMS y fotografías de la cédula— concentra un 50% de abandono. Y después de confirmar, durante las 48 horas hábiles de liquidación, la aplicación muestra saldo cero sin explicar dónde está el dinero. El resultado es soporte colapsado, amenazas de denuncia y abandono silencioso.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VALE — Cierre del bloque 1 (50–55 segundos)</a:t>
            </a:r>
          </a:p>
          <a:p xmlns:a="http://schemas.openxmlformats.org/drawingml/2006/main">
            <a:r>
              <a:t/>
            </a:r>
          </a:p>
          <a:p xmlns:a="http://schemas.openxmlformats.org/drawingml/2006/main">
            <a:r>
              <a:t>Visto como recorrido, el sistema puede estar funcionando y aun así fallar para el usuario. Primero le exige tres validaciones. Luego, justo después de confirmar, elimina el saldo sin mostrar un estado intermedio. Durante la espera, la persona vuelve a entrar, toma pantallazos, busca en Google o llama al soporte.</a:t>
            </a:r>
          </a:p>
          <a:p xmlns:a="http://schemas.openxmlformats.org/drawingml/2006/main">
            <a:r>
              <a:t/>
            </a:r>
          </a:p>
          <a:p xmlns:a="http://schemas.openxmlformats.org/drawingml/2006/main">
            <a:r>
              <a:t>Cuando el dinero finalmente llega, la operación puede clasificarse como exitosa, pero la relación ya quedó dañada: algunos usuarios pausan aportes, reducen el capital o migran. Por eso el problema core es transparentar el retiro sin reemplazar el core ni debilitar la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CRISTIAN — Usuario (55–60 segundos)</a:t>
            </a:r>
          </a:p>
          <a:p xmlns:a="http://schemas.openxmlformats.org/drawingml/2006/main">
            <a:r>
              <a:t/>
            </a:r>
          </a:p>
          <a:p xmlns:a="http://schemas.openxmlformats.org/drawingml/2006/main">
            <a:r>
              <a:t>Las entrevistas sintéticas muestran una señal consistente: el usuario Sub-30 no necesariamente espera que la regulación desaparezca. Necesita entender qué ocurre y conservar sensación de control.</a:t>
            </a:r>
          </a:p>
          <a:p xmlns:a="http://schemas.openxmlformats.org/drawingml/2006/main">
            <a:r>
              <a:t/>
            </a:r>
          </a:p>
          <a:p xmlns:a="http://schemas.openxmlformats.org/drawingml/2006/main">
            <a:r>
              <a:t>Cuando ve el saldo cero, interpreta que la aplicación falló o que su dinero se perdió. La triple validación puede sentirse como burocracia o sospecha, especialmente cuando no se explica por qué se solicita la cédula. Ante el silencio, busca certeza fuera de InverUp: reingresa, revisa el correo, pregunta a amigos o contacta soporte.</a:t>
            </a:r>
          </a:p>
          <a:p xmlns:a="http://schemas.openxmlformats.org/drawingml/2006/main">
            <a:r>
              <a:t/>
            </a:r>
          </a:p>
          <a:p xmlns:a="http://schemas.openxmlformats.org/drawingml/2006/main">
            <a:r>
              <a:t>Metodológicamente, estas entrevistas generan hipótesis. Debemos contrastarlas con usuarios reales, tickets y analytics antes de declararlas evidencia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CRISTIAN — North Star Metric (55–60 segundos)</a:t>
            </a:r>
          </a:p>
          <a:p xmlns:a="http://schemas.openxmlformats.org/drawingml/2006/main">
            <a:r>
              <a:t/>
            </a:r>
          </a:p>
          <a:p xmlns:a="http://schemas.openxmlformats.org/drawingml/2006/main">
            <a:r>
              <a:t>El problema no termina cuando el dinero llega. Una cuenta abierta tampoco representa necesariamente retención. Por eso proponemos la Tasa de Continuidad de Inversión Post-Retiro a 30 días.</a:t>
            </a:r>
          </a:p>
          <a:p xmlns:a="http://schemas.openxmlformats.org/drawingml/2006/main">
            <a:r>
              <a:t/>
            </a:r>
          </a:p>
          <a:p xmlns:a="http://schemas.openxmlformats.org/drawingml/2006/main">
            <a:r>
              <a:t>La métrica representa el porcentaje de usuarios que, después de completar un retiro, conserva una relación activa: mantiene saldo, vuelve a aportar o mantiene su plan automático, sin retirar posteriormente todo el capital ni pausar ese plan.</a:t>
            </a:r>
          </a:p>
          <a:p xmlns:a="http://schemas.openxmlformats.org/drawingml/2006/main">
            <a:r>
              <a:t/>
            </a:r>
          </a:p>
          <a:p xmlns:a="http://schemas.openxmlformats.org/drawingml/2006/main">
            <a:r>
              <a:t>La complementamos con finalización del retiro, abandono por etapa, reingresos y tickets por saldo cero. Y la protegemos con dos guardrails: el fraude no puede superar la línea base y el 100% de los rescates debe respetar el plazo aplicable. Primero calcularemos la línea base histórica; después fijaremos la meta definitiva.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TAMI — Stakeholders (55–60 segundos)</a:t>
            </a:r>
          </a:p>
          <a:p xmlns:a="http://schemas.openxmlformats.org/drawingml/2006/main">
            <a:r>
              <a:t/>
            </a:r>
          </a:p>
          <a:p xmlns:a="http://schemas.openxmlformats.org/drawingml/2006/main">
            <a:r>
              <a:t>La dificultad no es sólo diseñar una buena experiencia. Es lograr que Finanzas, Riesgo, Tecnología y CX avancen hacia el mismo objetivo.</a:t>
            </a:r>
          </a:p>
          <a:p xmlns:a="http://schemas.openxmlformats.org/drawingml/2006/main">
            <a:r>
              <a:t/>
            </a:r>
          </a:p>
          <a:p xmlns:a="http://schemas.openxmlformats.org/drawingml/2006/main">
            <a:r>
              <a:t>El CFO necesita frenar la fuga con una inversión acotada. Riesgo necesita asegurar que no se debilite la identidad ni la trazabilidad. Tecnología exige un alcance que no toque el core legacy. Y CX necesita reducir el motivo de contacto más crítico: el dinero que parece desaparecer.</a:t>
            </a:r>
          </a:p>
          <a:p xmlns:a="http://schemas.openxmlformats.org/drawingml/2006/main">
            <a:r>
              <a:t/>
            </a:r>
          </a:p>
          <a:p xmlns:a="http://schemas.openxmlformats.org/drawingml/2006/main">
            <a:r>
              <a:t>Nuestra política es distinta para cada actor. Riesgo participa como coautor de guardrails; el CFO recibe un caso de negocio y una regla stop o go; Tecnología acuerda el contrato de estados y los fallbacks; y CX aporta la línea base de tickets y prepara la operación.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TAMI — Gobernanza (55–60 segundos)</a:t>
            </a:r>
          </a:p>
          <a:p xmlns:a="http://schemas.openxmlformats.org/drawingml/2006/main">
            <a:r>
              <a:t/>
            </a:r>
          </a:p>
          <a:p xmlns:a="http://schemas.openxmlformats.org/drawingml/2006/main">
            <a:r>
              <a:t>Para que la gobernanza habilite el Sprint, la convertimos en criterios concretos. En Ready, ninguna historia comienza sin fuente normativa, estados del core, línea base y responsable de Compliance. Durante la construcción, no usamos datos personales en herramientas externas de IA y desplegamos detrás de feature flag.</a:t>
            </a:r>
          </a:p>
          <a:p xmlns:a="http://schemas.openxmlformats.org/drawingml/2006/main">
            <a:r>
              <a:t/>
            </a:r>
          </a:p>
          <a:p xmlns:a="http://schemas.openxmlformats.org/drawingml/2006/main">
            <a:r>
              <a:t>En Done, todo texto asistido por IA requiere aprobación humana y trazabilidad; además forzamos una prueba para comprobar que no se inventen plazos o garantías. Finalmente, liberamos en una cohorte canario, monitoreamos 48 horas y mantenemos rollback.</a:t>
            </a:r>
          </a:p>
          <a:p xmlns:a="http://schemas.openxmlformats.org/drawingml/2006/main">
            <a:r>
              <a:t/>
            </a:r>
          </a:p>
          <a:p xmlns:a="http://schemas.openxmlformats.org/drawingml/2006/main">
            <a:r>
              <a:t>El Sprint 1 no elimina controles ni modifica el motor de liquidación: es una capa de transparencia y comunicación con guardrails verificables.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ERICK — Priorización, método (40–45 segundos)</a:t>
            </a:r>
          </a:p>
          <a:p xmlns:a="http://schemas.openxmlformats.org/drawingml/2006/main">
            <a:r>
              <a:t/>
            </a:r>
          </a:p>
          <a:p xmlns:a="http://schemas.openxmlformats.org/drawingml/2006/main">
            <a:r>
              <a:t>Para evitar que la decisión dependiera de opiniones o de la presión de un área, evaluamos diez iniciativas con la misma fórmula. El 35% corresponde a impacto en usuario, 25% a impacto en negocio, 20% a factibilidad en dos semanas, 15% a Seguridad y Compliance y 5% a confianza de la evidencia.</a:t>
            </a:r>
          </a:p>
          <a:p xmlns:a="http://schemas.openxmlformats.org/drawingml/2006/main">
            <a:r>
              <a:t/>
            </a:r>
          </a:p>
          <a:p xmlns:a="http://schemas.openxmlformats.org/drawingml/2006/main">
            <a:r>
              <a:t>La escala va de uno a cinco y, en Seguridad, una nota alta significa menor riesgo residual. El rastreador de fondos obtiene 4,80 porque ataca el dolor principal, protege negocio, es viable como capa de experiencia y no modifica controles.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ERICK — Priorización, decisión (40–45 segundos)</a:t>
            </a:r>
          </a:p>
          <a:p xmlns:a="http://schemas.openxmlformats.org/drawingml/2006/main">
            <a:r>
              <a:t/>
            </a:r>
          </a:p>
          <a:p xmlns:a="http://schemas.openxmlformats.org/drawingml/2006/main">
            <a:r>
              <a:t>El ranking permite distinguir una idea atractiva de una decisión adecuada para la crisis. La liquidez inmediata, por ejemplo, podría ser valiosa, pero exige capital, cambios estructurales y aprobación regulatoria; no corresponde a un Sprint de rescate.</a:t>
            </a:r>
          </a:p>
          <a:p xmlns:a="http://schemas.openxmlformats.org/drawingml/2006/main">
            <a:r>
              <a:t/>
            </a:r>
          </a:p>
          <a:p xmlns:a="http://schemas.openxmlformats.org/drawingml/2006/main">
            <a:r>
              <a:t>Las dos iniciativas mejor evaluadas son el rastreador de Fondos en tránsito, con 4,80, y el lenguaje claro contextual, con 4,40. Ambas atacan la ansiedad y la incomprensión, pueden implementarse en frontend y reducen la fricción política porque no eliminan controles ni cambian la liquidación.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ERICK — Solución del Sprint 1 (40–45 segundos)</a:t>
            </a:r>
          </a:p>
          <a:p xmlns:a="http://schemas.openxmlformats.org/drawingml/2006/main">
            <a:r>
              <a:t/>
            </a:r>
          </a:p>
          <a:p xmlns:a="http://schemas.openxmlformats.org/drawingml/2006/main">
            <a:r>
              <a:t>El Sprint Goal es restaurar la confianza eliminando el pánico del saldo cero y la confusión legal. La primera historia reemplaza la caja negra por un estado persistente de Fondos en tránsito, con monto, etapa y fecha estimada. La segunda acompaña los términos obligatorios con lenguaje claro y contextual.</a:t>
            </a:r>
          </a:p>
          <a:p xmlns:a="http://schemas.openxmlformats.org/drawingml/2006/main">
            <a:r>
              <a:t/>
            </a:r>
          </a:p>
          <a:p xmlns:a="http://schemas.openxmlformats.org/drawingml/2006/main">
            <a:r>
              <a:t>La fecha nunca se inventa: debe derivarse de eventos verificables del sistema y mostrar fallback si el dato está vencido. El copy final se contrasta con el reglamento y lo aprueba Compliance. No removemos clave, SMS ni cédula, y no intervenimos el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ERICK — Entrega y medición (40–45 segundos)</a:t>
            </a:r>
          </a:p>
          <a:p xmlns:a="http://schemas.openxmlformats.org/drawingml/2006/main">
            <a:r>
              <a:t/>
            </a:r>
          </a:p>
          <a:p xmlns:a="http://schemas.openxmlformats.org/drawingml/2006/main">
            <a:r>
              <a:t>En los primeros dos días alineamos estados, copy, línea base y responsables. Entre los días tres y cinco probamos el prototipo con usuarios reales. Luego construimos e instrumentamos, y al final de la segunda semana liberamos una cohorte canario.</a:t>
            </a:r>
          </a:p>
          <a:p xmlns:a="http://schemas.openxmlformats.org/drawingml/2006/main">
            <a:r>
              <a:t/>
            </a:r>
          </a:p>
          <a:p xmlns:a="http://schemas.openxmlformats.org/drawingml/2006/main">
            <a:r>
              <a:t>Mediremos comprensión, contactos por dinero desaparecido, cumplimiento del plazo y fraude. La reducción de 35 a 40% de tickets es una hipótesis de CX, no un resultado garantizado. A 30 días observaremos la TCI-30 y tomaremos una decisión de detener, ajustar o escalar.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ERICK — Cierre y solicitud formal (55–60 segundos)</a:t>
            </a:r>
          </a:p>
          <a:p xmlns:a="http://schemas.openxmlformats.org/drawingml/2006/main">
            <a:r>
              <a:t/>
            </a:r>
          </a:p>
          <a:p xmlns:a="http://schemas.openxmlformats.org/drawingml/2006/main">
            <a:r>
              <a:t>InverUp no necesita prometer que el dinero llegará antes de lo permitido. Necesita dejar de hacer sentir al usuario que su dinero desapareció.</a:t>
            </a:r>
          </a:p>
          <a:p xmlns:a="http://schemas.openxmlformats.org/drawingml/2006/main">
            <a:r>
              <a:t/>
            </a:r>
          </a:p>
          <a:p xmlns:a="http://schemas.openxmlformats.org/drawingml/2006/main">
            <a:r>
              <a:t>Solicitamos formalmente la aprobación de un Sprint de rescate de dos semanas para implementar Fondos en tránsito y lenguaje claro contextual. Solicitamos además un responsable de Compliance asignado, acceso a la línea base de retiros, tickets y continuidad de inversión, y patrocinio ejecutivo para revisar resultados al día diez y a los treinta días.</a:t>
            </a:r>
          </a:p>
          <a:p xmlns:a="http://schemas.openxmlformats.org/drawingml/2006/main">
            <a:r>
              <a:t/>
            </a:r>
          </a:p>
          <a:p xmlns:a="http://schemas.openxmlformats.org/drawingml/2006/main">
            <a:r>
              <a:t>No pedimos una transformación completa del core. Pedimos autorización para recuperar visibilidad, control y confianza en el momento que más importa. La regulación explica por qué el dinero tarda; es responsabilidad de InverUp evitar que, durante esa espera, el usuario sienta que lo perdió.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6b6b1e685047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7ff18fb90d469e" /><Relationship Type="http://schemas.openxmlformats.org/officeDocument/2006/relationships/slideLayout" Target="/ppt/slideLayouts/slideLayout1.xml" Id="R76260467f76c4a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260467f76c4a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e4bfe8c00e43bc" /><Relationship Type="http://schemas.openxmlformats.org/officeDocument/2006/relationships/notesSlide" Target="/ppt/notesSlides/notesSlide1.xml" Id="Ra0b2eb42dc314e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2522bfd8bb4c2b" /><Relationship Type="http://schemas.openxmlformats.org/officeDocument/2006/relationships/notesSlide" Target="/ppt/notesSlides/notesSlide2.xml" Id="R83c7cf3ff32b43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892c25d35b4dbd" /><Relationship Type="http://schemas.openxmlformats.org/officeDocument/2006/relationships/notesSlide" Target="/ppt/notesSlides/notesSlide3.xml" Id="R4f5cd547056347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311f5c9d3c4040" /><Relationship Type="http://schemas.openxmlformats.org/officeDocument/2006/relationships/notesSlide" Target="/ppt/notesSlides/notesSlide4.xml" Id="R3011100dcf7941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bd07345ae649ee" /><Relationship Type="http://schemas.openxmlformats.org/officeDocument/2006/relationships/notesSlide" Target="/ppt/notesSlides/notesSlide5.xml" Id="R411c56b803ff4f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8bf3280c234dd8" /><Relationship Type="http://schemas.openxmlformats.org/officeDocument/2006/relationships/notesSlide" Target="/ppt/notesSlides/notesSlide6.xml" Id="R5518dda78c7242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37ee639f9b449e" /><Relationship Type="http://schemas.openxmlformats.org/officeDocument/2006/relationships/notesSlide" Target="/ppt/notesSlides/notesSlide7.xml" Id="R0f6d8efc48a04f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ff9acdea1a4cde" /><Relationship Type="http://schemas.openxmlformats.org/officeDocument/2006/relationships/notesSlide" Target="/ppt/notesSlides/notesSlide8.xml" Id="R0ddbef36096041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6642a74b90424a" /><Relationship Type="http://schemas.openxmlformats.org/officeDocument/2006/relationships/chart" Target="/ppt/slides/charts/chart1.xml" Id="R5001eb46da554644" /><Relationship Type="http://schemas.openxmlformats.org/officeDocument/2006/relationships/notesSlide" Target="/ppt/notesSlides/notesSlide9.xml" Id="Rbd8fd982f3a143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7d21dcaf5e4f90" /><Relationship Type="http://schemas.openxmlformats.org/officeDocument/2006/relationships/notesSlide" Target="/ppt/notesSlides/notesSlide10.xml" Id="R16db5feb653848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666de535524e67" /><Relationship Type="http://schemas.openxmlformats.org/officeDocument/2006/relationships/notesSlide" Target="/ppt/notesSlides/notesSlide11.xml" Id="Re23028cc81ef46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b06a847bbb24427" /><Relationship Type="http://schemas.openxmlformats.org/officeDocument/2006/relationships/notesSlide" Target="/ppt/notesSlides/notesSlide12.xml" Id="R8267fc5cf3054eac" /></Relationships>
</file>

<file path=ppt/slides/charts/chart1.xml><?xml version="1.0" encoding="utf-8"?>
<c:chartSpace xmlns:c="http://schemas.openxmlformats.org/drawingml/2006/chart">
  <c:lang val="en-US"/>
  <c:chart>
    <c:plotArea>
      <c:barChart>
        <c:barDir val="bar"/>
        <c:grouping val="clustered"/>
        <c:varyColors val="0"/>
        <c:ser>
          <c:idx val="0"/>
          <c:order val="0"/>
          <c:tx>
            <c:v>Puntaje</c:v>
          </c:tx>
          <c:spPr>
            <a:solidFill xmlns:a="http://schemas.openxmlformats.org/drawingml/2006/main">
              <a:srgbClr val="9FB2BF"/>
            </a:solidFill>
          </c:spPr>
          <c:dPt>
            <c:idx val="0"/>
            <c:spPr>
              <a:solidFill xmlns:a="http://schemas.openxmlformats.org/drawingml/2006/main">
                <a:srgbClr val="AAB9C3"/>
              </a:solidFill>
            </c:spPr>
          </c:dPt>
          <c:dPt>
            <c:idx val="1"/>
            <c:spPr>
              <a:solidFill xmlns:a="http://schemas.openxmlformats.org/drawingml/2006/main">
                <a:srgbClr val="AAB9C3"/>
              </a:solidFill>
            </c:spPr>
          </c:dPt>
          <c:dPt>
            <c:idx val="2"/>
            <c:spPr>
              <a:solidFill xmlns:a="http://schemas.openxmlformats.org/drawingml/2006/main">
                <a:srgbClr val="AAB9C3"/>
              </a:solidFill>
            </c:spPr>
          </c:dPt>
          <c:dPt>
            <c:idx val="3"/>
            <c:spPr>
              <a:solidFill xmlns:a="http://schemas.openxmlformats.org/drawingml/2006/main">
                <a:srgbClr val="AAB9C3"/>
              </a:solidFill>
            </c:spPr>
          </c:dPt>
          <c:dPt>
            <c:idx val="4"/>
            <c:spPr>
              <a:solidFill xmlns:a="http://schemas.openxmlformats.org/drawingml/2006/main">
                <a:srgbClr val="AAB9C3"/>
              </a:solidFill>
            </c:spPr>
          </c:dPt>
          <c:dPt>
            <c:idx val="5"/>
            <c:spPr>
              <a:solidFill xmlns:a="http://schemas.openxmlformats.org/drawingml/2006/main">
                <a:srgbClr val="AAB9C3"/>
              </a:solidFill>
            </c:spPr>
          </c:dPt>
          <c:dPt>
            <c:idx val="6"/>
            <c:spPr>
              <a:solidFill xmlns:a="http://schemas.openxmlformats.org/drawingml/2006/main">
                <a:srgbClr val="AAB9C3"/>
              </a:solidFill>
            </c:spPr>
          </c:dPt>
          <c:dPt>
            <c:idx val="7"/>
            <c:spPr>
              <a:solidFill xmlns:a="http://schemas.openxmlformats.org/drawingml/2006/main">
                <a:srgbClr val="173B57"/>
              </a:solidFill>
            </c:spPr>
          </c:dPt>
          <c:dPt>
            <c:idx val="8"/>
            <c:spPr>
              <a:solidFill xmlns:a="http://schemas.openxmlformats.org/drawingml/2006/main">
                <a:srgbClr val="00A7A0"/>
              </a:solidFill>
            </c:spPr>
          </c:dPt>
          <c:dPt>
            <c:idx val="9"/>
            <c:spPr>
              <a:solidFill xmlns:a="http://schemas.openxmlformats.org/drawingml/2006/main">
                <a:srgbClr val="00A7A0"/>
              </a:solidFill>
            </c:spPr>
          </c:dPt>
          <c:cat>
            <c:strLit>
              <c:ptCount val="10"/>
              <c:pt idx="0">
                <c:v>Retiro parcial</c:v>
              </c:pt>
              <c:pt idx="1">
                <c:v>Biometría Sprint 1</c:v>
              </c:pt>
              <c:pt idx="2">
                <c:v>Educación financiera</c:v>
              </c:pt>
              <c:pt idx="3">
                <c:v>Liquidez inmediata</c:v>
              </c:pt>
              <c:pt idx="4">
                <c:v>Spike biometría</c:v>
              </c:pt>
              <c:pt idx="5">
                <c:v>Resumen previo</c:v>
              </c:pt>
              <c:pt idx="6">
                <c:v>Ayuda con código</c:v>
              </c:pt>
              <c:pt idx="7">
                <c:v>Push por hito</c:v>
              </c:pt>
              <c:pt idx="8">
                <c:v>Lenguaje claro</c:v>
              </c:pt>
              <c:pt idx="9">
                <c:v>Fondos en tránsito</c:v>
              </c:pt>
            </c:strLit>
          </c:cat>
          <c:val>
            <c:numLit>
              <c:formatCode>General</c:formatCode>
              <c:ptCount val="10"/>
              <c:pt idx="0">
                <c:v>2.95</c:v>
              </c:pt>
              <c:pt idx="1">
                <c:v>3.05</c:v>
              </c:pt>
              <c:pt idx="2">
                <c:v>3.25</c:v>
              </c:pt>
              <c:pt idx="3">
                <c:v>3.45</c:v>
              </c:pt>
              <c:pt idx="4">
                <c:v>3.5</c:v>
              </c:pt>
              <c:pt idx="5">
                <c:v>3.75</c:v>
              </c:pt>
              <c:pt idx="6">
                <c:v>3.8</c:v>
              </c:pt>
              <c:pt idx="7">
                <c:v>3.95</c:v>
              </c:pt>
              <c:pt idx="8">
                <c:v>4.4</c:v>
              </c:pt>
              <c:pt idx="9">
                <c:v>4.8</c:v>
              </c:pt>
            </c:numLit>
          </c:val>
        </c:ser>
        <c:dLbls>
          <c:txPr>
            <a:bodyPr xmlns:a="http://schemas.openxmlformats.org/drawingml/2006/main" anchorCtr="1"/>
            <a:lstStyle xmlns:a="http://schemas.openxmlformats.org/drawingml/2006/main"/>
            <a:p xmlns:a="http://schemas.openxmlformats.org/drawingml/2006/main">
              <a:pPr>
                <a:defRPr sz="1050" b="1">
                  <a:solidFill>
                    <a:srgbClr val="102A43"/>
                  </a:solidFill>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F7C"/>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A0F6B4-E640-4287-9158-62BF1472FEE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A7A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6D3E84-72A4-4B46-A75B-224DDE43F73B}"/>
              </a:ext>
            </a:extLst>
          </p:cNvPr>
          <p:cNvSpPr>
            <a:spLocks xmlns:a="http://schemas.openxmlformats.org/drawingml/2006/main" noGrp="1"/>
          </p:cNvSpPr>
          <p:nvPr/>
        </p:nvSpPr>
        <p:spPr>
          <a:xfrm xmlns:a="http://schemas.openxmlformats.org/drawingml/2006/main">
            <a:off x="742950" y="647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050" b="1">
                <a:solidFill>
                  <a:srgbClr val="71D8D0"/>
                </a:solidFill>
                <a:latin typeface="DejaVu Sans"/>
                <a:ea typeface="DejaVu Sans"/>
                <a:cs typeface="DejaVu Sans"/>
              </a:defRPr>
            </a:pPr>
            <a:r>
              <a:rPr sz="1050" b="1">
                <a:solidFill>
                  <a:srgbClr val="71D8D0"/>
                </a:solidFill>
                <a:latin typeface="DejaVu Sans"/>
                <a:ea typeface="DejaVu Sans"/>
                <a:cs typeface="DejaVu Sans"/>
              </a:rPr>
              <a:t>PLAN DE RESCATE EJECUTIVO</a:t>
            </a:r>
          </a:p>
        </p:txBody>
      </p:sp>
      <p:sp>
        <p:nvSpPr>
          <p:cNvPr id="3" name="">
            <a:extLst xmlns:a="http://schemas.openxmlformats.org/drawingml/2006/main">
              <a:ext uri="{FF2B5EF4-FFF2-40B4-BE49-F238E27FC236}">
                <a16:creationId xmlns:a16="http://schemas.microsoft.com/office/drawing/2014/main" id="{7D538C75-AA03-49EF-8D7A-89ADBD3E98EA}"/>
              </a:ext>
            </a:extLst>
          </p:cNvPr>
          <p:cNvSpPr>
            <a:spLocks xmlns:a="http://schemas.openxmlformats.org/drawingml/2006/main" noGrp="1"/>
          </p:cNvSpPr>
          <p:nvPr/>
        </p:nvSpPr>
        <p:spPr>
          <a:xfrm xmlns:a="http://schemas.openxmlformats.org/drawingml/2006/main">
            <a:off x="742950" y="1352550"/>
            <a:ext cx="68580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InverUp: recuperar la</a:t>
            </a:r>
          </a:p>
          <a:p xmlns:a="http://schemas.openxmlformats.org/drawingml/2006/main">
            <a:pPr algn="l">
              <a:lnSpc>
                <a:spcPct val="93000"/>
              </a:lnSpc>
              <a:buNone/>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confianza en el retiro</a:t>
            </a:r>
          </a:p>
        </p:txBody>
      </p:sp>
      <p:sp>
        <p:nvSpPr>
          <p:cNvPr id="4" name="">
            <a:extLst xmlns:a="http://schemas.openxmlformats.org/drawingml/2006/main">
              <a:ext uri="{FF2B5EF4-FFF2-40B4-BE49-F238E27FC236}">
                <a16:creationId xmlns:a16="http://schemas.microsoft.com/office/drawing/2014/main" id="{7FC6830C-80EC-4192-B98C-7336291E191E}"/>
              </a:ext>
            </a:extLst>
          </p:cNvPr>
          <p:cNvSpPr>
            <a:spLocks xmlns:a="http://schemas.openxmlformats.org/drawingml/2006/main" noGrp="1"/>
          </p:cNvSpPr>
          <p:nvPr/>
        </p:nvSpPr>
        <p:spPr>
          <a:xfrm xmlns:a="http://schemas.openxmlformats.org/drawingml/2006/main">
            <a:off x="742950" y="3086100"/>
            <a:ext cx="619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650" b="0">
                <a:solidFill>
                  <a:srgbClr val="C7D8E3"/>
                </a:solidFill>
                <a:latin typeface="DejaVu Sans"/>
                <a:ea typeface="DejaVu Sans"/>
                <a:cs typeface="DejaVu Sans"/>
              </a:defRPr>
            </a:pPr>
            <a:r>
              <a:rPr sz="1650" b="0">
                <a:solidFill>
                  <a:srgbClr val="C7D8E3"/>
                </a:solidFill>
                <a:latin typeface="DejaVu Sans"/>
                <a:ea typeface="DejaVu Sans"/>
                <a:cs typeface="DejaVu Sans"/>
              </a:rPr>
              <a:t>Una intervención acotada para hacer visible el dinero, explicar el proceso y proteger la continuidad de inversión.</a:t>
            </a:r>
          </a:p>
        </p:txBody>
      </p:sp>
      <p:sp>
        <p:nvSpPr>
          <p:cNvPr id="5" name="">
            <a:extLst xmlns:a="http://schemas.openxmlformats.org/drawingml/2006/main">
              <a:ext uri="{FF2B5EF4-FFF2-40B4-BE49-F238E27FC236}">
                <a16:creationId xmlns:a16="http://schemas.microsoft.com/office/drawing/2014/main" id="{C13081AE-52F5-472D-BB05-37F4ED3ED7D5}"/>
              </a:ext>
            </a:extLst>
          </p:cNvPr>
          <p:cNvSpPr>
            <a:spLocks xmlns:a="http://schemas.openxmlformats.org/drawingml/2006/main" noGrp="1"/>
          </p:cNvSpPr>
          <p:nvPr/>
        </p:nvSpPr>
        <p:spPr>
          <a:xfrm xmlns:a="http://schemas.openxmlformats.org/drawingml/2006/main">
            <a:off x="7810500" y="2419350"/>
            <a:ext cx="2857500" cy="0"/>
          </a:xfrm>
          <a:prstGeom xmlns:a="http://schemas.openxmlformats.org/drawingml/2006/main" prst="line">
            <a:avLst/>
          </a:prstGeom>
          <a:noFill xmlns:a="http://schemas.openxmlformats.org/drawingml/2006/main"/>
          <a:ln xmlns:a="http://schemas.openxmlformats.org/drawingml/2006/main" w="47625">
            <a:solidFill>
              <a:srgbClr val="3C6178"/>
            </a:solidFill>
            <a:prstDash val="solid"/>
          </a:ln>
        </p:spPr>
      </p:sp>
      <p:sp>
        <p:nvSpPr>
          <p:cNvPr id="6" name="">
            <a:extLst xmlns:a="http://schemas.openxmlformats.org/drawingml/2006/main">
              <a:ext uri="{FF2B5EF4-FFF2-40B4-BE49-F238E27FC236}">
                <a16:creationId xmlns:a16="http://schemas.microsoft.com/office/drawing/2014/main" id="{0D663B28-4FC2-4F91-969E-5775E94A7BBE}"/>
              </a:ext>
            </a:extLst>
          </p:cNvPr>
          <p:cNvSpPr>
            <a:spLocks xmlns:a="http://schemas.openxmlformats.org/drawingml/2006/main" noGrp="1"/>
          </p:cNvSpPr>
          <p:nvPr/>
        </p:nvSpPr>
        <p:spPr>
          <a:xfrm xmlns:a="http://schemas.openxmlformats.org/drawingml/2006/main">
            <a:off x="7734300" y="2152650"/>
            <a:ext cx="533400" cy="533400"/>
          </a:xfrm>
          <a:prstGeom xmlns:a="http://schemas.openxmlformats.org/drawingml/2006/main" prst="ellipse">
            <a:avLst/>
          </a:prstGeom>
          <a:solidFill xmlns:a="http://schemas.openxmlformats.org/drawingml/2006/main">
            <a:srgbClr val="E86A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96152A-10CB-4F49-8AA9-8C227BF23E47}"/>
              </a:ext>
            </a:extLst>
          </p:cNvPr>
          <p:cNvSpPr>
            <a:spLocks xmlns:a="http://schemas.openxmlformats.org/drawingml/2006/main" noGrp="1"/>
          </p:cNvSpPr>
          <p:nvPr/>
        </p:nvSpPr>
        <p:spPr>
          <a:xfrm xmlns:a="http://schemas.openxmlformats.org/drawingml/2006/main">
            <a:off x="8896350" y="2076450"/>
            <a:ext cx="685800" cy="685800"/>
          </a:xfrm>
          <a:prstGeom xmlns:a="http://schemas.openxmlformats.org/drawingml/2006/main" prst="ellipse">
            <a:avLst/>
          </a:prstGeom>
          <a:solidFill xmlns:a="http://schemas.openxmlformats.org/drawingml/2006/main">
            <a:srgbClr val="00A7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8EEB653-C3FE-4453-9025-99C1D5631D70}"/>
              </a:ext>
            </a:extLst>
          </p:cNvPr>
          <p:cNvSpPr>
            <a:spLocks xmlns:a="http://schemas.openxmlformats.org/drawingml/2006/main" noGrp="1"/>
          </p:cNvSpPr>
          <p:nvPr/>
        </p:nvSpPr>
        <p:spPr>
          <a:xfrm xmlns:a="http://schemas.openxmlformats.org/drawingml/2006/main">
            <a:off x="10306050" y="2152650"/>
            <a:ext cx="533400" cy="5334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C97D1F-3E2B-470A-9923-B308440E71B5}"/>
              </a:ext>
            </a:extLst>
          </p:cNvPr>
          <p:cNvSpPr>
            <a:spLocks xmlns:a="http://schemas.openxmlformats.org/drawingml/2006/main" noGrp="1"/>
          </p:cNvSpPr>
          <p:nvPr/>
        </p:nvSpPr>
        <p:spPr>
          <a:xfrm xmlns:a="http://schemas.openxmlformats.org/drawingml/2006/main">
            <a:off x="7791450" y="219075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15726B13-3A55-46A1-89F9-FEB00DBBA1C4}"/>
              </a:ext>
            </a:extLst>
          </p:cNvPr>
          <p:cNvSpPr>
            <a:spLocks xmlns:a="http://schemas.openxmlformats.org/drawingml/2006/main" noGrp="1"/>
          </p:cNvSpPr>
          <p:nvPr/>
        </p:nvSpPr>
        <p:spPr>
          <a:xfrm xmlns:a="http://schemas.openxmlformats.org/drawingml/2006/main">
            <a:off x="8991600" y="213360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7AA3244B-12B5-4C2A-8082-D3686AF1F919}"/>
              </a:ext>
            </a:extLst>
          </p:cNvPr>
          <p:cNvSpPr>
            <a:spLocks xmlns:a="http://schemas.openxmlformats.org/drawingml/2006/main" noGrp="1"/>
          </p:cNvSpPr>
          <p:nvPr/>
        </p:nvSpPr>
        <p:spPr>
          <a:xfrm xmlns:a="http://schemas.openxmlformats.org/drawingml/2006/main">
            <a:off x="10363200" y="219075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3</a:t>
            </a:r>
          </a:p>
        </p:txBody>
      </p:sp>
      <p:sp>
        <p:nvSpPr>
          <p:cNvPr id="12" name="">
            <a:extLst xmlns:a="http://schemas.openxmlformats.org/drawingml/2006/main">
              <a:ext uri="{FF2B5EF4-FFF2-40B4-BE49-F238E27FC236}">
                <a16:creationId xmlns:a16="http://schemas.microsoft.com/office/drawing/2014/main" id="{DE8836A2-CE71-4D12-97F6-C26D2901F86D}"/>
              </a:ext>
            </a:extLst>
          </p:cNvPr>
          <p:cNvSpPr>
            <a:spLocks xmlns:a="http://schemas.openxmlformats.org/drawingml/2006/main" noGrp="1"/>
          </p:cNvSpPr>
          <p:nvPr/>
        </p:nvSpPr>
        <p:spPr>
          <a:xfrm xmlns:a="http://schemas.openxmlformats.org/drawingml/2006/main">
            <a:off x="7572375" y="2952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B7CBD9"/>
                </a:solidFill>
                <a:latin typeface="DejaVu Sans"/>
                <a:ea typeface="DejaVu Sans"/>
                <a:cs typeface="DejaVu Sans"/>
              </a:defRPr>
            </a:pPr>
            <a:r>
              <a:rPr sz="1050" b="1">
                <a:solidFill>
                  <a:srgbClr val="B7CBD9"/>
                </a:solidFill>
                <a:latin typeface="DejaVu Sans"/>
                <a:ea typeface="DejaVu Sans"/>
                <a:cs typeface="DejaVu Sans"/>
              </a:rPr>
              <a:t>Solicitud</a:t>
            </a:r>
          </a:p>
        </p:txBody>
      </p:sp>
      <p:sp>
        <p:nvSpPr>
          <p:cNvPr id="13" name="">
            <a:extLst xmlns:a="http://schemas.openxmlformats.org/drawingml/2006/main">
              <a:ext uri="{FF2B5EF4-FFF2-40B4-BE49-F238E27FC236}">
                <a16:creationId xmlns:a16="http://schemas.microsoft.com/office/drawing/2014/main" id="{1953598C-E92A-4555-8972-AB7D66CC13E0}"/>
              </a:ext>
            </a:extLst>
          </p:cNvPr>
          <p:cNvSpPr>
            <a:spLocks xmlns:a="http://schemas.openxmlformats.org/drawingml/2006/main" noGrp="1"/>
          </p:cNvSpPr>
          <p:nvPr/>
        </p:nvSpPr>
        <p:spPr>
          <a:xfrm xmlns:a="http://schemas.openxmlformats.org/drawingml/2006/main">
            <a:off x="8810625" y="29527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71D8D0"/>
                </a:solidFill>
                <a:latin typeface="DejaVu Sans"/>
                <a:ea typeface="DejaVu Sans"/>
                <a:cs typeface="DejaVu Sans"/>
              </a:defRPr>
            </a:pPr>
            <a:r>
              <a:rPr sz="1050" b="1">
                <a:solidFill>
                  <a:srgbClr val="71D8D0"/>
                </a:solidFill>
                <a:latin typeface="DejaVu Sans"/>
                <a:ea typeface="DejaVu Sans"/>
                <a:cs typeface="DejaVu Sans"/>
              </a:rPr>
              <a:t>En tránsito</a:t>
            </a:r>
          </a:p>
        </p:txBody>
      </p:sp>
      <p:sp>
        <p:nvSpPr>
          <p:cNvPr id="14" name="">
            <a:extLst xmlns:a="http://schemas.openxmlformats.org/drawingml/2006/main">
              <a:ext uri="{FF2B5EF4-FFF2-40B4-BE49-F238E27FC236}">
                <a16:creationId xmlns:a16="http://schemas.microsoft.com/office/drawing/2014/main" id="{4B74E8AD-D9A3-4718-A7EA-95F98E6D1E2C}"/>
              </a:ext>
            </a:extLst>
          </p:cNvPr>
          <p:cNvSpPr>
            <a:spLocks xmlns:a="http://schemas.openxmlformats.org/drawingml/2006/main" noGrp="1"/>
          </p:cNvSpPr>
          <p:nvPr/>
        </p:nvSpPr>
        <p:spPr>
          <a:xfrm xmlns:a="http://schemas.openxmlformats.org/drawingml/2006/main">
            <a:off x="10201275" y="295275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B7CBD9"/>
                </a:solidFill>
                <a:latin typeface="DejaVu Sans"/>
                <a:ea typeface="DejaVu Sans"/>
                <a:cs typeface="DejaVu Sans"/>
              </a:defRPr>
            </a:pPr>
            <a:r>
              <a:rPr sz="1050" b="1">
                <a:solidFill>
                  <a:srgbClr val="B7CBD9"/>
                </a:solidFill>
                <a:latin typeface="DejaVu Sans"/>
                <a:ea typeface="DejaVu Sans"/>
                <a:cs typeface="DejaVu Sans"/>
              </a:rPr>
              <a:t>Abono</a:t>
            </a:r>
          </a:p>
        </p:txBody>
      </p:sp>
      <p:sp>
        <p:nvSpPr>
          <p:cNvPr id="15" name="">
            <a:extLst xmlns:a="http://schemas.openxmlformats.org/drawingml/2006/main">
              <a:ext uri="{FF2B5EF4-FFF2-40B4-BE49-F238E27FC236}">
                <a16:creationId xmlns:a16="http://schemas.microsoft.com/office/drawing/2014/main" id="{20C43868-61F3-4B21-8EA1-1758CCB42D14}"/>
              </a:ext>
            </a:extLst>
          </p:cNvPr>
          <p:cNvSpPr>
            <a:spLocks xmlns:a="http://schemas.openxmlformats.org/drawingml/2006/main" noGrp="1"/>
          </p:cNvSpPr>
          <p:nvPr/>
        </p:nvSpPr>
        <p:spPr>
          <a:xfrm xmlns:a="http://schemas.openxmlformats.org/drawingml/2006/main">
            <a:off x="7905750" y="36004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61"/>
          </a:bodyPr>
          <a:lstStyle xmlns:a="http://schemas.openxmlformats.org/drawingml/2006/main"/>
          <a:p xmlns:a="http://schemas.openxmlformats.org/drawingml/2006/main">
            <a:pPr algn="ctr">
              <a:lnSpc>
                <a:spcPct val="10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Transparencia durante toda la espera</a:t>
            </a:r>
          </a:p>
        </p:txBody>
      </p:sp>
      <p:sp>
        <p:nvSpPr>
          <p:cNvPr id="16" name="">
            <a:extLst xmlns:a="http://schemas.openxmlformats.org/drawingml/2006/main">
              <a:ext uri="{FF2B5EF4-FFF2-40B4-BE49-F238E27FC236}">
                <a16:creationId xmlns:a16="http://schemas.microsoft.com/office/drawing/2014/main" id="{23F07A21-4804-4989-A899-97BB89521E22}"/>
              </a:ext>
            </a:extLst>
          </p:cNvPr>
          <p:cNvSpPr>
            <a:spLocks xmlns:a="http://schemas.openxmlformats.org/drawingml/2006/main" noGrp="1"/>
          </p:cNvSpPr>
          <p:nvPr/>
        </p:nvSpPr>
        <p:spPr>
          <a:xfrm xmlns:a="http://schemas.openxmlformats.org/drawingml/2006/main">
            <a:off x="742950" y="5772150"/>
            <a:ext cx="10668000" cy="0"/>
          </a:xfrm>
          <a:prstGeom xmlns:a="http://schemas.openxmlformats.org/drawingml/2006/main" prst="line">
            <a:avLst/>
          </a:prstGeom>
          <a:noFill xmlns:a="http://schemas.openxmlformats.org/drawingml/2006/main"/>
          <a:ln xmlns:a="http://schemas.openxmlformats.org/drawingml/2006/main" w="9525">
            <a:solidFill>
              <a:srgbClr val="36556B"/>
            </a:solidFill>
            <a:prstDash val="solid"/>
          </a:ln>
        </p:spPr>
      </p:sp>
      <p:sp>
        <p:nvSpPr>
          <p:cNvPr id="17" name="">
            <a:extLst xmlns:a="http://schemas.openxmlformats.org/drawingml/2006/main">
              <a:ext uri="{FF2B5EF4-FFF2-40B4-BE49-F238E27FC236}">
                <a16:creationId xmlns:a16="http://schemas.microsoft.com/office/drawing/2014/main" id="{9E502D54-3470-4BC7-A6DD-92C260F2788A}"/>
              </a:ext>
            </a:extLst>
          </p:cNvPr>
          <p:cNvSpPr>
            <a:spLocks xmlns:a="http://schemas.openxmlformats.org/drawingml/2006/main" noGrp="1"/>
          </p:cNvSpPr>
          <p:nvPr/>
        </p:nvSpPr>
        <p:spPr>
          <a:xfrm xmlns:a="http://schemas.openxmlformats.org/drawingml/2006/main">
            <a:off x="742950" y="59626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B7CBD9"/>
                </a:solidFill>
                <a:latin typeface="DejaVu Sans"/>
                <a:ea typeface="DejaVu Sans"/>
                <a:cs typeface="DejaVu Sans"/>
              </a:defRPr>
            </a:pPr>
            <a:r>
              <a:rPr sz="1050" b="0">
                <a:solidFill>
                  <a:srgbClr val="B7CBD9"/>
                </a:solidFill>
                <a:latin typeface="DejaVu Sans"/>
                <a:ea typeface="DejaVu Sans"/>
                <a:cs typeface="DejaVu Sans"/>
              </a:rPr>
              <a:t>Erick Fuentealba · Tamara Valdivia · Valeria Nieto · Cristian Pizarro</a:t>
            </a:r>
          </a:p>
        </p:txBody>
      </p:sp>
      <p:sp>
        <p:nvSpPr>
          <p:cNvPr id="18" name="">
            <a:extLst xmlns:a="http://schemas.openxmlformats.org/drawingml/2006/main">
              <a:ext uri="{FF2B5EF4-FFF2-40B4-BE49-F238E27FC236}">
                <a16:creationId xmlns:a16="http://schemas.microsoft.com/office/drawing/2014/main" id="{3D0842A5-1DFB-42B8-9E72-DEAEA307AD53}"/>
              </a:ext>
            </a:extLst>
          </p:cNvPr>
          <p:cNvSpPr>
            <a:spLocks xmlns:a="http://schemas.openxmlformats.org/drawingml/2006/main" noGrp="1"/>
          </p:cNvSpPr>
          <p:nvPr/>
        </p:nvSpPr>
        <p:spPr>
          <a:xfrm xmlns:a="http://schemas.openxmlformats.org/drawingml/2006/main">
            <a:off x="9810750" y="59626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050" b="1">
                <a:solidFill>
                  <a:srgbClr val="71D8D0"/>
                </a:solidFill>
                <a:latin typeface="DejaVu Sans"/>
                <a:ea typeface="DejaVu Sans"/>
                <a:cs typeface="DejaVu Sans"/>
              </a:defRPr>
            </a:pPr>
            <a:r>
              <a:rPr sz="1050" b="1">
                <a:solidFill>
                  <a:srgbClr val="71D8D0"/>
                </a:solidFill>
                <a:latin typeface="DejaVu Sans"/>
                <a:ea typeface="DejaVu Sans"/>
                <a:cs typeface="DejaVu Sans"/>
              </a:rPr>
              <a:t>22 JUL 2026</a:t>
            </a:r>
          </a:p>
        </p:txBody>
      </p:sp>
    </p:spTree>
    <p:extLst>
      <p:ext uri="{BB962C8B-B14F-4D97-AF65-F5344CB8AC3E}">
        <p14:creationId xmlns:p14="http://schemas.microsoft.com/office/powerpoint/2010/main" val="266039383"/>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E3DF3B-097D-4BAB-ADF8-7DFEC4227B73}"/>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CRISIS Y EVIDENCIA</a:t>
            </a:r>
          </a:p>
        </p:txBody>
      </p:sp>
      <p:sp>
        <p:nvSpPr>
          <p:cNvPr id="2" name="">
            <a:extLst xmlns:a="http://schemas.openxmlformats.org/drawingml/2006/main">
              <a:ext uri="{FF2B5EF4-FFF2-40B4-BE49-F238E27FC236}">
                <a16:creationId xmlns:a16="http://schemas.microsoft.com/office/drawing/2014/main" id="{2D624F3E-8B54-42E2-A20A-6C5842DA4467}"/>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El retiro convirtió una fricción en una crisis de negocio</a:t>
            </a:r>
          </a:p>
        </p:txBody>
      </p:sp>
      <p:sp>
        <p:nvSpPr>
          <p:cNvPr id="3" name="">
            <a:extLst xmlns:a="http://schemas.openxmlformats.org/drawingml/2006/main">
              <a:ext uri="{FF2B5EF4-FFF2-40B4-BE49-F238E27FC236}">
                <a16:creationId xmlns:a16="http://schemas.microsoft.com/office/drawing/2014/main" id="{70154320-5D98-44CA-912B-FDEC61B2F2E5}"/>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2764BE78-5F82-46D4-914D-61379EC26371}"/>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9653DE18-1E90-4A2E-9853-76349898F433}"/>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VALE</a:t>
            </a:r>
          </a:p>
        </p:txBody>
      </p:sp>
      <p:sp>
        <p:nvSpPr>
          <p:cNvPr id="6" name="">
            <a:extLst xmlns:a="http://schemas.openxmlformats.org/drawingml/2006/main">
              <a:ext uri="{FF2B5EF4-FFF2-40B4-BE49-F238E27FC236}">
                <a16:creationId xmlns:a16="http://schemas.microsoft.com/office/drawing/2014/main" id="{3A84D83D-D011-49B1-9BCE-E28DB509E285}"/>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3F882C32-E616-4F85-85F5-A2BAB6BB1670}"/>
              </a:ext>
            </a:extLst>
          </p:cNvPr>
          <p:cNvSpPr>
            <a:spLocks xmlns:a="http://schemas.openxmlformats.org/drawingml/2006/main" noGrp="1"/>
          </p:cNvSpPr>
          <p:nvPr/>
        </p:nvSpPr>
        <p:spPr>
          <a:xfrm xmlns:a="http://schemas.openxmlformats.org/drawingml/2006/main">
            <a:off x="4038600" y="1657350"/>
            <a:ext cx="0" cy="295275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8" name="">
            <a:extLst xmlns:a="http://schemas.openxmlformats.org/drawingml/2006/main">
              <a:ext uri="{FF2B5EF4-FFF2-40B4-BE49-F238E27FC236}">
                <a16:creationId xmlns:a16="http://schemas.microsoft.com/office/drawing/2014/main" id="{EB47BE3F-C2B7-4598-A096-CA1315FC14C1}"/>
              </a:ext>
            </a:extLst>
          </p:cNvPr>
          <p:cNvSpPr>
            <a:spLocks xmlns:a="http://schemas.openxmlformats.org/drawingml/2006/main" noGrp="1"/>
          </p:cNvSpPr>
          <p:nvPr/>
        </p:nvSpPr>
        <p:spPr>
          <a:xfrm xmlns:a="http://schemas.openxmlformats.org/drawingml/2006/main">
            <a:off x="7600950" y="1657350"/>
            <a:ext cx="0" cy="295275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9" name="">
            <a:extLst xmlns:a="http://schemas.openxmlformats.org/drawingml/2006/main">
              <a:ext uri="{FF2B5EF4-FFF2-40B4-BE49-F238E27FC236}">
                <a16:creationId xmlns:a16="http://schemas.microsoft.com/office/drawing/2014/main" id="{ECFFE50D-794E-4DFC-A3DB-346C3AF6AF7B}"/>
              </a:ext>
            </a:extLst>
          </p:cNvPr>
          <p:cNvSpPr>
            <a:spLocks xmlns:a="http://schemas.openxmlformats.org/drawingml/2006/main" noGrp="1"/>
          </p:cNvSpPr>
          <p:nvPr/>
        </p:nvSpPr>
        <p:spPr>
          <a:xfrm xmlns:a="http://schemas.openxmlformats.org/drawingml/2006/main">
            <a:off x="685800" y="1752600"/>
            <a:ext cx="304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4350" b="1">
                <a:solidFill>
                  <a:srgbClr val="E86A5B"/>
                </a:solidFill>
                <a:latin typeface="DejaVu Sans"/>
                <a:ea typeface="DejaVu Sans"/>
                <a:cs typeface="DejaVu Sans"/>
              </a:defRPr>
            </a:pPr>
            <a:r>
              <a:rPr sz="4350" b="1">
                <a:solidFill>
                  <a:srgbClr val="E86A5B"/>
                </a:solidFill>
                <a:latin typeface="DejaVu Sans"/>
                <a:ea typeface="DejaVu Sans"/>
                <a:cs typeface="DejaVu Sans"/>
              </a:rPr>
              <a:t>30%</a:t>
            </a:r>
          </a:p>
        </p:txBody>
      </p:sp>
      <p:sp>
        <p:nvSpPr>
          <p:cNvPr id="10" name="">
            <a:extLst xmlns:a="http://schemas.openxmlformats.org/drawingml/2006/main">
              <a:ext uri="{FF2B5EF4-FFF2-40B4-BE49-F238E27FC236}">
                <a16:creationId xmlns:a16="http://schemas.microsoft.com/office/drawing/2014/main" id="{3A534874-AB54-471D-A2F0-8A254EFC24CE}"/>
              </a:ext>
            </a:extLst>
          </p:cNvPr>
          <p:cNvSpPr>
            <a:spLocks xmlns:a="http://schemas.openxmlformats.org/drawingml/2006/main" noGrp="1"/>
          </p:cNvSpPr>
          <p:nvPr/>
        </p:nvSpPr>
        <p:spPr>
          <a:xfrm xmlns:a="http://schemas.openxmlformats.org/drawingml/2006/main">
            <a:off x="685800" y="27432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de usuarios activos</a:t>
            </a:r>
          </a:p>
        </p:txBody>
      </p:sp>
      <p:sp>
        <p:nvSpPr>
          <p:cNvPr id="11" name="">
            <a:extLst xmlns:a="http://schemas.openxmlformats.org/drawingml/2006/main">
              <a:ext uri="{FF2B5EF4-FFF2-40B4-BE49-F238E27FC236}">
                <a16:creationId xmlns:a16="http://schemas.microsoft.com/office/drawing/2014/main" id="{2275E5C3-F6E5-41B9-A135-4DA297ECEC42}"/>
              </a:ext>
            </a:extLst>
          </p:cNvPr>
          <p:cNvSpPr>
            <a:spLocks xmlns:a="http://schemas.openxmlformats.org/drawingml/2006/main" noGrp="1"/>
          </p:cNvSpPr>
          <p:nvPr/>
        </p:nvSpPr>
        <p:spPr>
          <a:xfrm xmlns:a="http://schemas.openxmlformats.org/drawingml/2006/main">
            <a:off x="685800" y="31432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cerró su cuenta en 45 días</a:t>
            </a:r>
          </a:p>
        </p:txBody>
      </p:sp>
      <p:sp>
        <p:nvSpPr>
          <p:cNvPr id="12" name="">
            <a:extLst xmlns:a="http://schemas.openxmlformats.org/drawingml/2006/main">
              <a:ext uri="{FF2B5EF4-FFF2-40B4-BE49-F238E27FC236}">
                <a16:creationId xmlns:a16="http://schemas.microsoft.com/office/drawing/2014/main" id="{04E9924F-DABC-4E5B-BF8E-24FBE6FD00D4}"/>
              </a:ext>
            </a:extLst>
          </p:cNvPr>
          <p:cNvSpPr>
            <a:spLocks xmlns:a="http://schemas.openxmlformats.org/drawingml/2006/main" noGrp="1"/>
          </p:cNvSpPr>
          <p:nvPr/>
        </p:nvSpPr>
        <p:spPr>
          <a:xfrm xmlns:a="http://schemas.openxmlformats.org/drawingml/2006/main">
            <a:off x="4248150" y="1752600"/>
            <a:ext cx="304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4350" b="1">
                <a:solidFill>
                  <a:srgbClr val="D99B35"/>
                </a:solidFill>
                <a:latin typeface="DejaVu Sans"/>
                <a:ea typeface="DejaVu Sans"/>
                <a:cs typeface="DejaVu Sans"/>
              </a:defRPr>
            </a:pPr>
            <a:r>
              <a:rPr sz="4350" b="1">
                <a:solidFill>
                  <a:srgbClr val="D99B35"/>
                </a:solidFill>
                <a:latin typeface="DejaVu Sans"/>
                <a:ea typeface="DejaVu Sans"/>
                <a:cs typeface="DejaVu Sans"/>
              </a:rPr>
              <a:t>50%</a:t>
            </a:r>
          </a:p>
        </p:txBody>
      </p:sp>
      <p:sp>
        <p:nvSpPr>
          <p:cNvPr id="13" name="">
            <a:extLst xmlns:a="http://schemas.openxmlformats.org/drawingml/2006/main">
              <a:ext uri="{FF2B5EF4-FFF2-40B4-BE49-F238E27FC236}">
                <a16:creationId xmlns:a16="http://schemas.microsoft.com/office/drawing/2014/main" id="{2D61D272-2535-4C07-9595-ACB83DD7DE1C}"/>
              </a:ext>
            </a:extLst>
          </p:cNvPr>
          <p:cNvSpPr>
            <a:spLocks xmlns:a="http://schemas.openxmlformats.org/drawingml/2006/main" noGrp="1"/>
          </p:cNvSpPr>
          <p:nvPr/>
        </p:nvSpPr>
        <p:spPr>
          <a:xfrm xmlns:a="http://schemas.openxmlformats.org/drawingml/2006/main">
            <a:off x="4248150" y="27432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abandona el retiro</a:t>
            </a:r>
          </a:p>
        </p:txBody>
      </p:sp>
      <p:sp>
        <p:nvSpPr>
          <p:cNvPr id="14" name="">
            <a:extLst xmlns:a="http://schemas.openxmlformats.org/drawingml/2006/main">
              <a:ext uri="{FF2B5EF4-FFF2-40B4-BE49-F238E27FC236}">
                <a16:creationId xmlns:a16="http://schemas.microsoft.com/office/drawing/2014/main" id="{6C1DB7C5-5738-4C24-900B-D3F1CE344BDF}"/>
              </a:ext>
            </a:extLst>
          </p:cNvPr>
          <p:cNvSpPr>
            <a:spLocks xmlns:a="http://schemas.openxmlformats.org/drawingml/2006/main" noGrp="1"/>
          </p:cNvSpPr>
          <p:nvPr/>
        </p:nvSpPr>
        <p:spPr>
          <a:xfrm xmlns:a="http://schemas.openxmlformats.org/drawingml/2006/main">
            <a:off x="4248150" y="31432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durante la triple validación</a:t>
            </a:r>
          </a:p>
        </p:txBody>
      </p:sp>
      <p:sp>
        <p:nvSpPr>
          <p:cNvPr id="15" name="">
            <a:extLst xmlns:a="http://schemas.openxmlformats.org/drawingml/2006/main">
              <a:ext uri="{FF2B5EF4-FFF2-40B4-BE49-F238E27FC236}">
                <a16:creationId xmlns:a16="http://schemas.microsoft.com/office/drawing/2014/main" id="{FE4A936F-B534-495D-B34E-B4480C3C39A5}"/>
              </a:ext>
            </a:extLst>
          </p:cNvPr>
          <p:cNvSpPr>
            <a:spLocks xmlns:a="http://schemas.openxmlformats.org/drawingml/2006/main" noGrp="1"/>
          </p:cNvSpPr>
          <p:nvPr/>
        </p:nvSpPr>
        <p:spPr>
          <a:xfrm xmlns:a="http://schemas.openxmlformats.org/drawingml/2006/main">
            <a:off x="7810500" y="1752600"/>
            <a:ext cx="304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4350" b="1">
                <a:solidFill>
                  <a:srgbClr val="00A7A0"/>
                </a:solidFill>
                <a:latin typeface="DejaVu Sans"/>
                <a:ea typeface="DejaVu Sans"/>
                <a:cs typeface="DejaVu Sans"/>
              </a:defRPr>
            </a:pPr>
            <a:r>
              <a:rPr sz="4350" b="1">
                <a:solidFill>
                  <a:srgbClr val="00A7A0"/>
                </a:solidFill>
                <a:latin typeface="DejaVu Sans"/>
                <a:ea typeface="DejaVu Sans"/>
                <a:cs typeface="DejaVu Sans"/>
              </a:rPr>
              <a:t>48 h</a:t>
            </a:r>
          </a:p>
        </p:txBody>
      </p:sp>
      <p:sp>
        <p:nvSpPr>
          <p:cNvPr id="16" name="">
            <a:extLst xmlns:a="http://schemas.openxmlformats.org/drawingml/2006/main">
              <a:ext uri="{FF2B5EF4-FFF2-40B4-BE49-F238E27FC236}">
                <a16:creationId xmlns:a16="http://schemas.microsoft.com/office/drawing/2014/main" id="{4D6F3A34-3A8F-4D63-8978-D4584CDD0FE1}"/>
              </a:ext>
            </a:extLst>
          </p:cNvPr>
          <p:cNvSpPr>
            <a:spLocks xmlns:a="http://schemas.openxmlformats.org/drawingml/2006/main" noGrp="1"/>
          </p:cNvSpPr>
          <p:nvPr/>
        </p:nvSpPr>
        <p:spPr>
          <a:xfrm xmlns:a="http://schemas.openxmlformats.org/drawingml/2006/main">
            <a:off x="7810500" y="27432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hábiles de espera</a:t>
            </a:r>
          </a:p>
        </p:txBody>
      </p:sp>
      <p:sp>
        <p:nvSpPr>
          <p:cNvPr id="17" name="">
            <a:extLst xmlns:a="http://schemas.openxmlformats.org/drawingml/2006/main">
              <a:ext uri="{FF2B5EF4-FFF2-40B4-BE49-F238E27FC236}">
                <a16:creationId xmlns:a16="http://schemas.microsoft.com/office/drawing/2014/main" id="{61CF413F-B0FA-4B86-A552-AE66068B6A37}"/>
              </a:ext>
            </a:extLst>
          </p:cNvPr>
          <p:cNvSpPr>
            <a:spLocks xmlns:a="http://schemas.openxmlformats.org/drawingml/2006/main" noGrp="1"/>
          </p:cNvSpPr>
          <p:nvPr/>
        </p:nvSpPr>
        <p:spPr>
          <a:xfrm xmlns:a="http://schemas.openxmlformats.org/drawingml/2006/main">
            <a:off x="7810500" y="31432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con saldo $0 y sin estado</a:t>
            </a:r>
          </a:p>
        </p:txBody>
      </p:sp>
      <p:sp>
        <p:nvSpPr>
          <p:cNvPr id="18" name="">
            <a:extLst xmlns:a="http://schemas.openxmlformats.org/drawingml/2006/main">
              <a:ext uri="{FF2B5EF4-FFF2-40B4-BE49-F238E27FC236}">
                <a16:creationId xmlns:a16="http://schemas.microsoft.com/office/drawing/2014/main" id="{F5854CC7-8B6B-4D1C-A802-BA6B9E5E5063}"/>
              </a:ext>
            </a:extLst>
          </p:cNvPr>
          <p:cNvSpPr>
            <a:spLocks xmlns:a="http://schemas.openxmlformats.org/drawingml/2006/main" noGrp="1"/>
          </p:cNvSpPr>
          <p:nvPr/>
        </p:nvSpPr>
        <p:spPr>
          <a:xfrm xmlns:a="http://schemas.openxmlformats.org/drawingml/2006/main">
            <a:off x="685800" y="4762500"/>
            <a:ext cx="10820400" cy="1123950"/>
          </a:xfrm>
          <a:prstGeom xmlns:a="http://schemas.openxmlformats.org/drawingml/2006/main" prst="roundRect">
            <a:avLst>
              <a:gd name="adj" fmla="val 15254"/>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7262B4-143F-4780-B351-C92A2401E0D1}"/>
              </a:ext>
            </a:extLst>
          </p:cNvPr>
          <p:cNvSpPr>
            <a:spLocks xmlns:a="http://schemas.openxmlformats.org/drawingml/2006/main" noGrp="1"/>
          </p:cNvSpPr>
          <p:nvPr/>
        </p:nvSpPr>
        <p:spPr>
          <a:xfrm xmlns:a="http://schemas.openxmlformats.org/drawingml/2006/main">
            <a:off x="990600" y="4972050"/>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El sistema completa una operación; el negocio pierde confianza, aportes y activos bajo administración.</a:t>
            </a:r>
          </a:p>
        </p:txBody>
      </p:sp>
      <p:sp>
        <p:nvSpPr>
          <p:cNvPr id="20" name="">
            <a:extLst xmlns:a="http://schemas.openxmlformats.org/drawingml/2006/main">
              <a:ext uri="{FF2B5EF4-FFF2-40B4-BE49-F238E27FC236}">
                <a16:creationId xmlns:a16="http://schemas.microsoft.com/office/drawing/2014/main" id="{859A2EBC-0EA8-4279-B400-B506D11DD7C8}"/>
              </a:ext>
            </a:extLst>
          </p:cNvPr>
          <p:cNvSpPr>
            <a:spLocks xmlns:a="http://schemas.openxmlformats.org/drawingml/2006/main" noGrp="1"/>
          </p:cNvSpPr>
          <p:nvPr/>
        </p:nvSpPr>
        <p:spPr>
          <a:xfrm xmlns:a="http://schemas.openxmlformats.org/drawingml/2006/main">
            <a:off x="9620250" y="5105400"/>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050" b="1">
                <a:solidFill>
                  <a:srgbClr val="71D8D0"/>
                </a:solidFill>
                <a:latin typeface="DejaVu Sans"/>
                <a:ea typeface="DejaVu Sans"/>
                <a:cs typeface="DejaVu Sans"/>
              </a:defRPr>
            </a:pPr>
            <a:r>
              <a:rPr sz="1050" b="1">
                <a:solidFill>
                  <a:srgbClr val="71D8D0"/>
                </a:solidFill>
                <a:latin typeface="DejaVu Sans"/>
                <a:ea typeface="DejaVu Sans"/>
                <a:cs typeface="DejaVu Sans"/>
              </a:rPr>
              <a:t>AUM · soporte · reputación · CMF</a:t>
            </a:r>
          </a:p>
        </p:txBody>
      </p:sp>
      <p:sp>
        <p:nvSpPr>
          <p:cNvPr id="21" name="">
            <a:extLst xmlns:a="http://schemas.openxmlformats.org/drawingml/2006/main">
              <a:ext uri="{FF2B5EF4-FFF2-40B4-BE49-F238E27FC236}">
                <a16:creationId xmlns:a16="http://schemas.microsoft.com/office/drawing/2014/main" id="{7850450F-2817-4FEB-900A-E93C5CB4F7D7}"/>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caso InverUp y Plan Estratégico de Rescate. Cifras entregadas por el caso.</a:t>
            </a:r>
          </a:p>
        </p:txBody>
      </p:sp>
    </p:spTree>
    <p:extLst>
      <p:ext uri="{BB962C8B-B14F-4D97-AF65-F5344CB8AC3E}">
        <p14:creationId xmlns:p14="http://schemas.microsoft.com/office/powerpoint/2010/main" val="7239740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A7505E-748A-4D1E-B9DE-EE49B61E20A6}"/>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CRISIS Y EVIDENCIA</a:t>
            </a:r>
          </a:p>
        </p:txBody>
      </p:sp>
      <p:sp>
        <p:nvSpPr>
          <p:cNvPr id="2" name="">
            <a:extLst xmlns:a="http://schemas.openxmlformats.org/drawingml/2006/main">
              <a:ext uri="{FF2B5EF4-FFF2-40B4-BE49-F238E27FC236}">
                <a16:creationId xmlns:a16="http://schemas.microsoft.com/office/drawing/2014/main" id="{C2BD2E7C-C04B-48AE-8195-2BCD4D3DA678}"/>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235"/>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El sistema procesa; el usuario siente que el dinero desaparece</a:t>
            </a:r>
          </a:p>
        </p:txBody>
      </p:sp>
      <p:sp>
        <p:nvSpPr>
          <p:cNvPr id="3" name="">
            <a:extLst xmlns:a="http://schemas.openxmlformats.org/drawingml/2006/main">
              <a:ext uri="{FF2B5EF4-FFF2-40B4-BE49-F238E27FC236}">
                <a16:creationId xmlns:a16="http://schemas.microsoft.com/office/drawing/2014/main" id="{76518A49-53D0-4324-90AC-9018FC9AD9A4}"/>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C1B1B83D-96E8-42C5-9493-7A23ED0CDDA5}"/>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E1B3D37C-F075-4E5F-B49F-B71DDF9EF8FD}"/>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VALE</a:t>
            </a:r>
          </a:p>
        </p:txBody>
      </p:sp>
      <p:sp>
        <p:nvSpPr>
          <p:cNvPr id="6" name="">
            <a:extLst xmlns:a="http://schemas.openxmlformats.org/drawingml/2006/main">
              <a:ext uri="{FF2B5EF4-FFF2-40B4-BE49-F238E27FC236}">
                <a16:creationId xmlns:a16="http://schemas.microsoft.com/office/drawing/2014/main" id="{784B7F89-BC5E-4665-940F-1E3D9D17DA41}"/>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03</a:t>
            </a:r>
          </a:p>
        </p:txBody>
      </p:sp>
      <p:sp>
        <p:nvSpPr>
          <p:cNvPr id="7" name="">
            <a:extLst xmlns:a="http://schemas.openxmlformats.org/drawingml/2006/main">
              <a:ext uri="{FF2B5EF4-FFF2-40B4-BE49-F238E27FC236}">
                <a16:creationId xmlns:a16="http://schemas.microsoft.com/office/drawing/2014/main" id="{3B39DEF2-ABAA-442C-B892-5C93CEFECBAF}"/>
              </a:ext>
            </a:extLst>
          </p:cNvPr>
          <p:cNvSpPr>
            <a:spLocks xmlns:a="http://schemas.openxmlformats.org/drawingml/2006/main" noGrp="1"/>
          </p:cNvSpPr>
          <p:nvPr/>
        </p:nvSpPr>
        <p:spPr>
          <a:xfrm xmlns:a="http://schemas.openxmlformats.org/drawingml/2006/main">
            <a:off x="685800" y="12763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5F6F7C"/>
                </a:solidFill>
                <a:latin typeface="DejaVu Sans"/>
                <a:ea typeface="DejaVu Sans"/>
                <a:cs typeface="DejaVu Sans"/>
              </a:defRPr>
            </a:pPr>
            <a:r>
              <a:rPr sz="1425" b="0">
                <a:solidFill>
                  <a:srgbClr val="5F6F7C"/>
                </a:solidFill>
                <a:latin typeface="DejaVu Sans"/>
                <a:ea typeface="DejaVu Sans"/>
                <a:cs typeface="DejaVu Sans"/>
              </a:rPr>
              <a:t>El quiebre ocurre entre la confirmación técnica y la certeza emocional.</a:t>
            </a:r>
          </a:p>
        </p:txBody>
      </p:sp>
      <p:sp>
        <p:nvSpPr>
          <p:cNvPr id="8" name="">
            <a:extLst xmlns:a="http://schemas.openxmlformats.org/drawingml/2006/main">
              <a:ext uri="{FF2B5EF4-FFF2-40B4-BE49-F238E27FC236}">
                <a16:creationId xmlns:a16="http://schemas.microsoft.com/office/drawing/2014/main" id="{29D32E74-51A4-49C4-925E-597617A0BCEE}"/>
              </a:ext>
            </a:extLst>
          </p:cNvPr>
          <p:cNvSpPr>
            <a:spLocks xmlns:a="http://schemas.openxmlformats.org/drawingml/2006/main" noGrp="1"/>
          </p:cNvSpPr>
          <p:nvPr/>
        </p:nvSpPr>
        <p:spPr>
          <a:xfrm xmlns:a="http://schemas.openxmlformats.org/drawingml/2006/main">
            <a:off x="1381125" y="2609850"/>
            <a:ext cx="9429750" cy="0"/>
          </a:xfrm>
          <a:prstGeom xmlns:a="http://schemas.openxmlformats.org/drawingml/2006/main" prst="line">
            <a:avLst/>
          </a:prstGeom>
          <a:noFill xmlns:a="http://schemas.openxmlformats.org/drawingml/2006/main"/>
          <a:ln xmlns:a="http://schemas.openxmlformats.org/drawingml/2006/main" w="47625">
            <a:solidFill>
              <a:srgbClr val="D9E2E8"/>
            </a:solidFill>
            <a:prstDash val="solid"/>
          </a:ln>
        </p:spPr>
      </p:sp>
      <p:sp>
        <p:nvSpPr>
          <p:cNvPr id="9" name="">
            <a:extLst xmlns:a="http://schemas.openxmlformats.org/drawingml/2006/main">
              <a:ext uri="{FF2B5EF4-FFF2-40B4-BE49-F238E27FC236}">
                <a16:creationId xmlns:a16="http://schemas.microsoft.com/office/drawing/2014/main" id="{B311EC14-0DD2-4E97-80F8-3707C9A50876}"/>
              </a:ext>
            </a:extLst>
          </p:cNvPr>
          <p:cNvSpPr>
            <a:spLocks xmlns:a="http://schemas.openxmlformats.org/drawingml/2006/main" noGrp="1"/>
          </p:cNvSpPr>
          <p:nvPr/>
        </p:nvSpPr>
        <p:spPr>
          <a:xfrm xmlns:a="http://schemas.openxmlformats.org/drawingml/2006/main">
            <a:off x="1104900" y="2286000"/>
            <a:ext cx="647700" cy="647700"/>
          </a:xfrm>
          <a:prstGeom xmlns:a="http://schemas.openxmlformats.org/drawingml/2006/main" prst="ellipse">
            <a:avLst/>
          </a:prstGeom>
          <a:solidFill xmlns:a="http://schemas.openxmlformats.org/drawingml/2006/main">
            <a:srgbClr val="D99B35"/>
          </a:solidFill>
          <a:ln xmlns:a="http://schemas.openxmlformats.org/drawingml/2006/main" w="38100">
            <a:solidFill>
              <a:srgbClr val="FFFFFF"/>
            </a:solidFill>
            <a:prstDash val="solid"/>
          </a:ln>
        </p:spPr>
      </p:sp>
      <p:sp>
        <p:nvSpPr>
          <p:cNvPr id="10" name="">
            <a:extLst xmlns:a="http://schemas.openxmlformats.org/drawingml/2006/main">
              <a:ext uri="{FF2B5EF4-FFF2-40B4-BE49-F238E27FC236}">
                <a16:creationId xmlns:a16="http://schemas.microsoft.com/office/drawing/2014/main" id="{F8272D93-0FCB-4B65-86D0-DFB08A3DACA1}"/>
              </a:ext>
            </a:extLst>
          </p:cNvPr>
          <p:cNvSpPr>
            <a:spLocks xmlns:a="http://schemas.openxmlformats.org/drawingml/2006/main" noGrp="1"/>
          </p:cNvSpPr>
          <p:nvPr/>
        </p:nvSpPr>
        <p:spPr>
          <a:xfrm xmlns:a="http://schemas.openxmlformats.org/drawingml/2006/main">
            <a:off x="1209675" y="23812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11" name="">
            <a:extLst xmlns:a="http://schemas.openxmlformats.org/drawingml/2006/main">
              <a:ext uri="{FF2B5EF4-FFF2-40B4-BE49-F238E27FC236}">
                <a16:creationId xmlns:a16="http://schemas.microsoft.com/office/drawing/2014/main" id="{D6ACE376-D03C-4EF6-8151-7E6480A5E33E}"/>
              </a:ext>
            </a:extLst>
          </p:cNvPr>
          <p:cNvSpPr>
            <a:spLocks xmlns:a="http://schemas.openxmlformats.org/drawingml/2006/main" noGrp="1"/>
          </p:cNvSpPr>
          <p:nvPr/>
        </p:nvSpPr>
        <p:spPr>
          <a:xfrm xmlns:a="http://schemas.openxmlformats.org/drawingml/2006/main">
            <a:off x="285750" y="3124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Validar</a:t>
            </a:r>
          </a:p>
        </p:txBody>
      </p:sp>
      <p:sp>
        <p:nvSpPr>
          <p:cNvPr id="12" name="">
            <a:extLst xmlns:a="http://schemas.openxmlformats.org/drawingml/2006/main">
              <a:ext uri="{FF2B5EF4-FFF2-40B4-BE49-F238E27FC236}">
                <a16:creationId xmlns:a16="http://schemas.microsoft.com/office/drawing/2014/main" id="{B11875EA-721D-4E4A-9BD3-A96AA9051A5D}"/>
              </a:ext>
            </a:extLst>
          </p:cNvPr>
          <p:cNvSpPr>
            <a:spLocks xmlns:a="http://schemas.openxmlformats.org/drawingml/2006/main" noGrp="1"/>
          </p:cNvSpPr>
          <p:nvPr/>
        </p:nvSpPr>
        <p:spPr>
          <a:xfrm xmlns:a="http://schemas.openxmlformats.org/drawingml/2006/main">
            <a:off x="285750" y="34861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Clave → SMS → cédula</a:t>
            </a:r>
          </a:p>
        </p:txBody>
      </p:sp>
      <p:sp>
        <p:nvSpPr>
          <p:cNvPr id="13" name="">
            <a:extLst xmlns:a="http://schemas.openxmlformats.org/drawingml/2006/main">
              <a:ext uri="{FF2B5EF4-FFF2-40B4-BE49-F238E27FC236}">
                <a16:creationId xmlns:a16="http://schemas.microsoft.com/office/drawing/2014/main" id="{B28A041A-4746-4E29-BAA2-4C0A1571C533}"/>
              </a:ext>
            </a:extLst>
          </p:cNvPr>
          <p:cNvSpPr>
            <a:spLocks xmlns:a="http://schemas.openxmlformats.org/drawingml/2006/main" noGrp="1"/>
          </p:cNvSpPr>
          <p:nvPr/>
        </p:nvSpPr>
        <p:spPr>
          <a:xfrm xmlns:a="http://schemas.openxmlformats.org/drawingml/2006/main">
            <a:off x="361950" y="4076700"/>
            <a:ext cx="2133600" cy="323850"/>
          </a:xfrm>
          <a:prstGeom xmlns:a="http://schemas.openxmlformats.org/drawingml/2006/main" prst="roundRect">
            <a:avLst>
              <a:gd name="adj" fmla="val 50000"/>
            </a:avLst>
          </a:prstGeom>
          <a:solidFill xmlns:a="http://schemas.openxmlformats.org/drawingml/2006/main">
            <a:srgbClr val="FFF2D8"/>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D99B35"/>
                </a:solidFill>
                <a:latin typeface="DejaVu Sans"/>
                <a:ea typeface="DejaVu Sans"/>
                <a:cs typeface="DejaVu Sans"/>
              </a:defRPr>
            </a:pPr>
            <a:r>
              <a:rPr sz="1050" b="1">
                <a:solidFill>
                  <a:srgbClr val="D99B35"/>
                </a:solidFill>
                <a:latin typeface="DejaVu Sans"/>
                <a:ea typeface="DejaVu Sans"/>
                <a:cs typeface="DejaVu Sans"/>
              </a:rPr>
              <a:t>50% abandona</a:t>
            </a:r>
          </a:p>
        </p:txBody>
      </p:sp>
      <p:sp>
        <p:nvSpPr>
          <p:cNvPr id="14" name="">
            <a:extLst xmlns:a="http://schemas.openxmlformats.org/drawingml/2006/main">
              <a:ext uri="{FF2B5EF4-FFF2-40B4-BE49-F238E27FC236}">
                <a16:creationId xmlns:a16="http://schemas.microsoft.com/office/drawing/2014/main" id="{E17F66AF-8485-4A7B-B249-22692C45C4C3}"/>
              </a:ext>
            </a:extLst>
          </p:cNvPr>
          <p:cNvSpPr>
            <a:spLocks xmlns:a="http://schemas.openxmlformats.org/drawingml/2006/main" noGrp="1"/>
          </p:cNvSpPr>
          <p:nvPr/>
        </p:nvSpPr>
        <p:spPr>
          <a:xfrm xmlns:a="http://schemas.openxmlformats.org/drawingml/2006/main">
            <a:off x="4057650" y="2286000"/>
            <a:ext cx="647700" cy="647700"/>
          </a:xfrm>
          <a:prstGeom xmlns:a="http://schemas.openxmlformats.org/drawingml/2006/main" prst="ellipse">
            <a:avLst/>
          </a:prstGeom>
          <a:solidFill xmlns:a="http://schemas.openxmlformats.org/drawingml/2006/main">
            <a:srgbClr val="E86A5B"/>
          </a:solidFill>
          <a:ln xmlns:a="http://schemas.openxmlformats.org/drawingml/2006/main" w="38100">
            <a:solidFill>
              <a:srgbClr val="FFFFFF"/>
            </a:solidFill>
            <a:prstDash val="solid"/>
          </a:ln>
        </p:spPr>
      </p:sp>
      <p:sp>
        <p:nvSpPr>
          <p:cNvPr id="15" name="">
            <a:extLst xmlns:a="http://schemas.openxmlformats.org/drawingml/2006/main">
              <a:ext uri="{FF2B5EF4-FFF2-40B4-BE49-F238E27FC236}">
                <a16:creationId xmlns:a16="http://schemas.microsoft.com/office/drawing/2014/main" id="{79F26067-C5AA-453F-BEBE-052F803D39CE}"/>
              </a:ext>
            </a:extLst>
          </p:cNvPr>
          <p:cNvSpPr>
            <a:spLocks xmlns:a="http://schemas.openxmlformats.org/drawingml/2006/main" noGrp="1"/>
          </p:cNvSpPr>
          <p:nvPr/>
        </p:nvSpPr>
        <p:spPr>
          <a:xfrm xmlns:a="http://schemas.openxmlformats.org/drawingml/2006/main">
            <a:off x="4162425" y="23812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6" name="">
            <a:extLst xmlns:a="http://schemas.openxmlformats.org/drawingml/2006/main">
              <a:ext uri="{FF2B5EF4-FFF2-40B4-BE49-F238E27FC236}">
                <a16:creationId xmlns:a16="http://schemas.microsoft.com/office/drawing/2014/main" id="{AA5F89F2-BD4C-4BD9-BA17-72AE0B8C2CAC}"/>
              </a:ext>
            </a:extLst>
          </p:cNvPr>
          <p:cNvSpPr>
            <a:spLocks xmlns:a="http://schemas.openxmlformats.org/drawingml/2006/main" noGrp="1"/>
          </p:cNvSpPr>
          <p:nvPr/>
        </p:nvSpPr>
        <p:spPr>
          <a:xfrm xmlns:a="http://schemas.openxmlformats.org/drawingml/2006/main">
            <a:off x="3238500" y="3124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Confirmar</a:t>
            </a:r>
          </a:p>
        </p:txBody>
      </p:sp>
      <p:sp>
        <p:nvSpPr>
          <p:cNvPr id="17" name="">
            <a:extLst xmlns:a="http://schemas.openxmlformats.org/drawingml/2006/main">
              <a:ext uri="{FF2B5EF4-FFF2-40B4-BE49-F238E27FC236}">
                <a16:creationId xmlns:a16="http://schemas.microsoft.com/office/drawing/2014/main" id="{BD55AD80-3C5D-403C-984E-D186E81AAE46}"/>
              </a:ext>
            </a:extLst>
          </p:cNvPr>
          <p:cNvSpPr>
            <a:spLocks xmlns:a="http://schemas.openxmlformats.org/drawingml/2006/main" noGrp="1"/>
          </p:cNvSpPr>
          <p:nvPr/>
        </p:nvSpPr>
        <p:spPr>
          <a:xfrm xmlns:a="http://schemas.openxmlformats.org/drawingml/2006/main">
            <a:off x="3238500" y="34861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El saldo cambia a $0</a:t>
            </a:r>
          </a:p>
        </p:txBody>
      </p:sp>
      <p:sp>
        <p:nvSpPr>
          <p:cNvPr id="18" name="">
            <a:extLst xmlns:a="http://schemas.openxmlformats.org/drawingml/2006/main">
              <a:ext uri="{FF2B5EF4-FFF2-40B4-BE49-F238E27FC236}">
                <a16:creationId xmlns:a16="http://schemas.microsoft.com/office/drawing/2014/main" id="{7C1F4B82-E77C-487D-A92D-D969277ED8F7}"/>
              </a:ext>
            </a:extLst>
          </p:cNvPr>
          <p:cNvSpPr>
            <a:spLocks xmlns:a="http://schemas.openxmlformats.org/drawingml/2006/main" noGrp="1"/>
          </p:cNvSpPr>
          <p:nvPr/>
        </p:nvSpPr>
        <p:spPr>
          <a:xfrm xmlns:a="http://schemas.openxmlformats.org/drawingml/2006/main">
            <a:off x="3314700" y="4076700"/>
            <a:ext cx="2133600" cy="323850"/>
          </a:xfrm>
          <a:prstGeom xmlns:a="http://schemas.openxmlformats.org/drawingml/2006/main" prst="roundRect">
            <a:avLst>
              <a:gd name="adj" fmla="val 50000"/>
            </a:avLst>
          </a:prstGeom>
          <a:solidFill xmlns:a="http://schemas.openxmlformats.org/drawingml/2006/main">
            <a:srgbClr val="FBE8E5"/>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Pico de pánico</a:t>
            </a:r>
          </a:p>
        </p:txBody>
      </p:sp>
      <p:sp>
        <p:nvSpPr>
          <p:cNvPr id="19" name="">
            <a:extLst xmlns:a="http://schemas.openxmlformats.org/drawingml/2006/main">
              <a:ext uri="{FF2B5EF4-FFF2-40B4-BE49-F238E27FC236}">
                <a16:creationId xmlns:a16="http://schemas.microsoft.com/office/drawing/2014/main" id="{3F7BA0D0-9639-4E42-9B63-A6E5FE535B8F}"/>
              </a:ext>
            </a:extLst>
          </p:cNvPr>
          <p:cNvSpPr>
            <a:spLocks xmlns:a="http://schemas.openxmlformats.org/drawingml/2006/main" noGrp="1"/>
          </p:cNvSpPr>
          <p:nvPr/>
        </p:nvSpPr>
        <p:spPr>
          <a:xfrm xmlns:a="http://schemas.openxmlformats.org/drawingml/2006/main">
            <a:off x="7010400" y="2286000"/>
            <a:ext cx="647700" cy="647700"/>
          </a:xfrm>
          <a:prstGeom xmlns:a="http://schemas.openxmlformats.org/drawingml/2006/main" prst="ellipse">
            <a:avLst/>
          </a:prstGeom>
          <a:solidFill xmlns:a="http://schemas.openxmlformats.org/drawingml/2006/main">
            <a:srgbClr val="00A7A0"/>
          </a:solidFill>
          <a:ln xmlns:a="http://schemas.openxmlformats.org/drawingml/2006/main" w="38100">
            <a:solidFill>
              <a:srgbClr val="FFFFFF"/>
            </a:solidFill>
            <a:prstDash val="solid"/>
          </a:ln>
        </p:spPr>
      </p:sp>
      <p:sp>
        <p:nvSpPr>
          <p:cNvPr id="20" name="">
            <a:extLst xmlns:a="http://schemas.openxmlformats.org/drawingml/2006/main">
              <a:ext uri="{FF2B5EF4-FFF2-40B4-BE49-F238E27FC236}">
                <a16:creationId xmlns:a16="http://schemas.microsoft.com/office/drawing/2014/main" id="{EC08F04F-CDC0-4EE3-9182-E03308EB5CAE}"/>
              </a:ext>
            </a:extLst>
          </p:cNvPr>
          <p:cNvSpPr>
            <a:spLocks xmlns:a="http://schemas.openxmlformats.org/drawingml/2006/main" noGrp="1"/>
          </p:cNvSpPr>
          <p:nvPr/>
        </p:nvSpPr>
        <p:spPr>
          <a:xfrm xmlns:a="http://schemas.openxmlformats.org/drawingml/2006/main">
            <a:off x="7115175" y="23812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3</a:t>
            </a:r>
          </a:p>
        </p:txBody>
      </p:sp>
      <p:sp>
        <p:nvSpPr>
          <p:cNvPr id="21" name="">
            <a:extLst xmlns:a="http://schemas.openxmlformats.org/drawingml/2006/main">
              <a:ext uri="{FF2B5EF4-FFF2-40B4-BE49-F238E27FC236}">
                <a16:creationId xmlns:a16="http://schemas.microsoft.com/office/drawing/2014/main" id="{48C70439-B9A7-4572-900F-9AF329961369}"/>
              </a:ext>
            </a:extLst>
          </p:cNvPr>
          <p:cNvSpPr>
            <a:spLocks xmlns:a="http://schemas.openxmlformats.org/drawingml/2006/main" noGrp="1"/>
          </p:cNvSpPr>
          <p:nvPr/>
        </p:nvSpPr>
        <p:spPr>
          <a:xfrm xmlns:a="http://schemas.openxmlformats.org/drawingml/2006/main">
            <a:off x="6191250" y="3124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Esperar</a:t>
            </a:r>
          </a:p>
        </p:txBody>
      </p:sp>
      <p:sp>
        <p:nvSpPr>
          <p:cNvPr id="22" name="">
            <a:extLst xmlns:a="http://schemas.openxmlformats.org/drawingml/2006/main">
              <a:ext uri="{FF2B5EF4-FFF2-40B4-BE49-F238E27FC236}">
                <a16:creationId xmlns:a16="http://schemas.microsoft.com/office/drawing/2014/main" id="{CDA1DEF4-C614-4062-935E-DBF266B9D5C2}"/>
              </a:ext>
            </a:extLst>
          </p:cNvPr>
          <p:cNvSpPr>
            <a:spLocks xmlns:a="http://schemas.openxmlformats.org/drawingml/2006/main" noGrp="1"/>
          </p:cNvSpPr>
          <p:nvPr/>
        </p:nvSpPr>
        <p:spPr>
          <a:xfrm xmlns:a="http://schemas.openxmlformats.org/drawingml/2006/main">
            <a:off x="6191250" y="34861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48 h sin estado visible</a:t>
            </a:r>
          </a:p>
        </p:txBody>
      </p:sp>
      <p:sp>
        <p:nvSpPr>
          <p:cNvPr id="23" name="">
            <a:extLst xmlns:a="http://schemas.openxmlformats.org/drawingml/2006/main">
              <a:ext uri="{FF2B5EF4-FFF2-40B4-BE49-F238E27FC236}">
                <a16:creationId xmlns:a16="http://schemas.microsoft.com/office/drawing/2014/main" id="{DF03587C-BF89-4ED7-A3C9-EB21F1969755}"/>
              </a:ext>
            </a:extLst>
          </p:cNvPr>
          <p:cNvSpPr>
            <a:spLocks xmlns:a="http://schemas.openxmlformats.org/drawingml/2006/main" noGrp="1"/>
          </p:cNvSpPr>
          <p:nvPr/>
        </p:nvSpPr>
        <p:spPr>
          <a:xfrm xmlns:a="http://schemas.openxmlformats.org/drawingml/2006/main">
            <a:off x="6267450" y="4076700"/>
            <a:ext cx="2133600" cy="323850"/>
          </a:xfrm>
          <a:prstGeom xmlns:a="http://schemas.openxmlformats.org/drawingml/2006/main" prst="roundRect">
            <a:avLst>
              <a:gd name="adj" fmla="val 50000"/>
            </a:avLst>
          </a:prstGeom>
          <a:solidFill xmlns:a="http://schemas.openxmlformats.org/drawingml/2006/main">
            <a:srgbClr val="DDF5F2"/>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00A7A0"/>
                </a:solidFill>
                <a:latin typeface="DejaVu Sans"/>
                <a:ea typeface="DejaVu Sans"/>
                <a:cs typeface="DejaVu Sans"/>
              </a:defRPr>
            </a:pPr>
            <a:r>
              <a:rPr sz="1050" b="1">
                <a:solidFill>
                  <a:srgbClr val="00A7A0"/>
                </a:solidFill>
                <a:latin typeface="DejaVu Sans"/>
                <a:ea typeface="DejaVu Sans"/>
                <a:cs typeface="DejaVu Sans"/>
              </a:rPr>
              <a:t>Reingresos + soporte</a:t>
            </a:r>
          </a:p>
        </p:txBody>
      </p:sp>
      <p:sp>
        <p:nvSpPr>
          <p:cNvPr id="24" name="">
            <a:extLst xmlns:a="http://schemas.openxmlformats.org/drawingml/2006/main">
              <a:ext uri="{FF2B5EF4-FFF2-40B4-BE49-F238E27FC236}">
                <a16:creationId xmlns:a16="http://schemas.microsoft.com/office/drawing/2014/main" id="{78140616-16A6-462C-8150-507F018ECDFE}"/>
              </a:ext>
            </a:extLst>
          </p:cNvPr>
          <p:cNvSpPr>
            <a:spLocks xmlns:a="http://schemas.openxmlformats.org/drawingml/2006/main" noGrp="1"/>
          </p:cNvSpPr>
          <p:nvPr/>
        </p:nvSpPr>
        <p:spPr>
          <a:xfrm xmlns:a="http://schemas.openxmlformats.org/drawingml/2006/main">
            <a:off x="9963150" y="2286000"/>
            <a:ext cx="647700" cy="647700"/>
          </a:xfrm>
          <a:prstGeom xmlns:a="http://schemas.openxmlformats.org/drawingml/2006/main" prst="ellipse">
            <a:avLst/>
          </a:prstGeom>
          <a:solidFill xmlns:a="http://schemas.openxmlformats.org/drawingml/2006/main">
            <a:srgbClr val="173B57"/>
          </a:solidFill>
          <a:ln xmlns:a="http://schemas.openxmlformats.org/drawingml/2006/main" w="38100">
            <a:solidFill>
              <a:srgbClr val="FFFFFF"/>
            </a:solidFill>
            <a:prstDash val="solid"/>
          </a:ln>
        </p:spPr>
      </p:sp>
      <p:sp>
        <p:nvSpPr>
          <p:cNvPr id="25" name="">
            <a:extLst xmlns:a="http://schemas.openxmlformats.org/drawingml/2006/main">
              <a:ext uri="{FF2B5EF4-FFF2-40B4-BE49-F238E27FC236}">
                <a16:creationId xmlns:a16="http://schemas.microsoft.com/office/drawing/2014/main" id="{B26C4547-D1E8-459D-9B73-2210042630E6}"/>
              </a:ext>
            </a:extLst>
          </p:cNvPr>
          <p:cNvSpPr>
            <a:spLocks xmlns:a="http://schemas.openxmlformats.org/drawingml/2006/main" noGrp="1"/>
          </p:cNvSpPr>
          <p:nvPr/>
        </p:nvSpPr>
        <p:spPr>
          <a:xfrm xmlns:a="http://schemas.openxmlformats.org/drawingml/2006/main">
            <a:off x="10067925" y="2381250"/>
            <a:ext cx="43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4</a:t>
            </a:r>
          </a:p>
        </p:txBody>
      </p:sp>
      <p:sp>
        <p:nvSpPr>
          <p:cNvPr id="26" name="">
            <a:extLst xmlns:a="http://schemas.openxmlformats.org/drawingml/2006/main">
              <a:ext uri="{FF2B5EF4-FFF2-40B4-BE49-F238E27FC236}">
                <a16:creationId xmlns:a16="http://schemas.microsoft.com/office/drawing/2014/main" id="{EE36AC9E-D860-492F-8DF2-A9055417776D}"/>
              </a:ext>
            </a:extLst>
          </p:cNvPr>
          <p:cNvSpPr>
            <a:spLocks xmlns:a="http://schemas.openxmlformats.org/drawingml/2006/main" noGrp="1"/>
          </p:cNvSpPr>
          <p:nvPr/>
        </p:nvSpPr>
        <p:spPr>
          <a:xfrm xmlns:a="http://schemas.openxmlformats.org/drawingml/2006/main">
            <a:off x="9144000" y="31242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Después</a:t>
            </a:r>
          </a:p>
        </p:txBody>
      </p:sp>
      <p:sp>
        <p:nvSpPr>
          <p:cNvPr id="27" name="">
            <a:extLst xmlns:a="http://schemas.openxmlformats.org/drawingml/2006/main">
              <a:ext uri="{FF2B5EF4-FFF2-40B4-BE49-F238E27FC236}">
                <a16:creationId xmlns:a16="http://schemas.microsoft.com/office/drawing/2014/main" id="{DF7D9EE3-DB34-4A70-ACC4-6FD6523F068F}"/>
              </a:ext>
            </a:extLst>
          </p:cNvPr>
          <p:cNvSpPr>
            <a:spLocks xmlns:a="http://schemas.openxmlformats.org/drawingml/2006/main" noGrp="1"/>
          </p:cNvSpPr>
          <p:nvPr/>
        </p:nvSpPr>
        <p:spPr>
          <a:xfrm xmlns:a="http://schemas.openxmlformats.org/drawingml/2006/main">
            <a:off x="9144000" y="34861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El dinero llega, la duda queda</a:t>
            </a:r>
          </a:p>
        </p:txBody>
      </p:sp>
      <p:sp>
        <p:nvSpPr>
          <p:cNvPr id="28" name="">
            <a:extLst xmlns:a="http://schemas.openxmlformats.org/drawingml/2006/main">
              <a:ext uri="{FF2B5EF4-FFF2-40B4-BE49-F238E27FC236}">
                <a16:creationId xmlns:a16="http://schemas.microsoft.com/office/drawing/2014/main" id="{C0C27310-A7ED-49F9-9354-D43574B6E137}"/>
              </a:ext>
            </a:extLst>
          </p:cNvPr>
          <p:cNvSpPr>
            <a:spLocks xmlns:a="http://schemas.openxmlformats.org/drawingml/2006/main" noGrp="1"/>
          </p:cNvSpPr>
          <p:nvPr/>
        </p:nvSpPr>
        <p:spPr>
          <a:xfrm xmlns:a="http://schemas.openxmlformats.org/drawingml/2006/main">
            <a:off x="9220200" y="4076700"/>
            <a:ext cx="2133600" cy="323850"/>
          </a:xfrm>
          <a:prstGeom xmlns:a="http://schemas.openxmlformats.org/drawingml/2006/main" prst="roundRect">
            <a:avLst>
              <a:gd name="adj" fmla="val 50000"/>
            </a:avLst>
          </a:prstGeom>
          <a:solidFill xmlns:a="http://schemas.openxmlformats.org/drawingml/2006/main">
            <a:srgbClr val="E7EEF3"/>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73B57"/>
                </a:solidFill>
                <a:latin typeface="DejaVu Sans"/>
                <a:ea typeface="DejaVu Sans"/>
                <a:cs typeface="DejaVu Sans"/>
              </a:defRPr>
            </a:pPr>
            <a:r>
              <a:rPr sz="1050" b="1">
                <a:solidFill>
                  <a:srgbClr val="173B57"/>
                </a:solidFill>
                <a:latin typeface="DejaVu Sans"/>
                <a:ea typeface="DejaVu Sans"/>
                <a:cs typeface="DejaVu Sans"/>
              </a:rPr>
              <a:t>Pausa o reduce aportes</a:t>
            </a:r>
          </a:p>
        </p:txBody>
      </p:sp>
      <p:sp>
        <p:nvSpPr>
          <p:cNvPr id="29" name="">
            <a:extLst xmlns:a="http://schemas.openxmlformats.org/drawingml/2006/main">
              <a:ext uri="{FF2B5EF4-FFF2-40B4-BE49-F238E27FC236}">
                <a16:creationId xmlns:a16="http://schemas.microsoft.com/office/drawing/2014/main" id="{E9C195B8-343C-4BBE-86A1-BAFF6ECFBAE8}"/>
              </a:ext>
            </a:extLst>
          </p:cNvPr>
          <p:cNvSpPr>
            <a:spLocks xmlns:a="http://schemas.openxmlformats.org/drawingml/2006/main" noGrp="1"/>
          </p:cNvSpPr>
          <p:nvPr/>
        </p:nvSpPr>
        <p:spPr>
          <a:xfrm xmlns:a="http://schemas.openxmlformats.org/drawingml/2006/main">
            <a:off x="1619250" y="4905375"/>
            <a:ext cx="8953500" cy="857250"/>
          </a:xfrm>
          <a:prstGeom xmlns:a="http://schemas.openxmlformats.org/drawingml/2006/main" prst="roundRect">
            <a:avLst>
              <a:gd name="adj" fmla="val 20000"/>
            </a:avLst>
          </a:prstGeom>
          <a:solidFill xmlns:a="http://schemas.openxmlformats.org/drawingml/2006/main">
            <a:srgbClr val="F4F7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21BC6FA-69F4-435F-ABFC-0D62B10E38B3}"/>
              </a:ext>
            </a:extLst>
          </p:cNvPr>
          <p:cNvSpPr>
            <a:spLocks xmlns:a="http://schemas.openxmlformats.org/drawingml/2006/main" noGrp="1"/>
          </p:cNvSpPr>
          <p:nvPr/>
        </p:nvSpPr>
        <p:spPr>
          <a:xfrm xmlns:a="http://schemas.openxmlformats.org/drawingml/2006/main">
            <a:off x="2000250" y="50482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240"/>
          </a:bodyPr>
          <a:lstStyle xmlns:a="http://schemas.openxmlformats.org/drawingml/2006/main"/>
          <a:p xmlns:a="http://schemas.openxmlformats.org/drawingml/2006/main">
            <a:pPr algn="ctr">
              <a:lnSpc>
                <a:spcPct val="105000"/>
              </a:lnSpc>
              <a:buNone/>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“No me molesta tanto esperar; me molesta no saber qué está pasando.”</a:t>
            </a:r>
          </a:p>
        </p:txBody>
      </p:sp>
      <p:sp>
        <p:nvSpPr>
          <p:cNvPr id="31" name="">
            <a:extLst xmlns:a="http://schemas.openxmlformats.org/drawingml/2006/main">
              <a:ext uri="{FF2B5EF4-FFF2-40B4-BE49-F238E27FC236}">
                <a16:creationId xmlns:a16="http://schemas.microsoft.com/office/drawing/2014/main" id="{8AD60B5F-E5E7-4FC9-9A76-323D7022B4EA}"/>
              </a:ext>
            </a:extLst>
          </p:cNvPr>
          <p:cNvSpPr>
            <a:spLocks xmlns:a="http://schemas.openxmlformats.org/drawingml/2006/main" noGrp="1"/>
          </p:cNvSpPr>
          <p:nvPr/>
        </p:nvSpPr>
        <p:spPr>
          <a:xfrm xmlns:a="http://schemas.openxmlformats.org/drawingml/2006/main">
            <a:off x="4095750" y="54102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0">
                <a:solidFill>
                  <a:srgbClr val="5F6F7C"/>
                </a:solidFill>
                <a:latin typeface="DejaVu Sans"/>
                <a:ea typeface="DejaVu Sans"/>
                <a:cs typeface="DejaVu Sans"/>
              </a:defRPr>
            </a:pPr>
            <a:r>
              <a:rPr sz="975" b="0">
                <a:solidFill>
                  <a:srgbClr val="5F6F7C"/>
                </a:solidFill>
                <a:latin typeface="DejaVu Sans"/>
                <a:ea typeface="DejaVu Sans"/>
                <a:cs typeface="DejaVu Sans"/>
              </a:rPr>
              <a:t>Diego · entrevista sintética</a:t>
            </a:r>
          </a:p>
        </p:txBody>
      </p:sp>
      <p:sp>
        <p:nvSpPr>
          <p:cNvPr id="32" name="">
            <a:extLst xmlns:a="http://schemas.openxmlformats.org/drawingml/2006/main">
              <a:ext uri="{FF2B5EF4-FFF2-40B4-BE49-F238E27FC236}">
                <a16:creationId xmlns:a16="http://schemas.microsoft.com/office/drawing/2014/main" id="{2729CDD5-9BB5-4D72-9DAA-B57450E044F3}"/>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Diagnóstico de Retiros e informes de entrevistas sintéticas; validar con entrevistas reales y analytics.</a:t>
            </a:r>
          </a:p>
        </p:txBody>
      </p:sp>
    </p:spTree>
    <p:extLst>
      <p:ext uri="{BB962C8B-B14F-4D97-AF65-F5344CB8AC3E}">
        <p14:creationId xmlns:p14="http://schemas.microsoft.com/office/powerpoint/2010/main" val="1954071712"/>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D3A10A-564F-49FB-9311-AE42B4C4416E}"/>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USUARIO</a:t>
            </a:r>
          </a:p>
        </p:txBody>
      </p:sp>
      <p:sp>
        <p:nvSpPr>
          <p:cNvPr id="2" name="">
            <a:extLst xmlns:a="http://schemas.openxmlformats.org/drawingml/2006/main">
              <a:ext uri="{FF2B5EF4-FFF2-40B4-BE49-F238E27FC236}">
                <a16:creationId xmlns:a16="http://schemas.microsoft.com/office/drawing/2014/main" id="{21ADBC31-86E7-4775-A2A7-C05B05C31A1A}"/>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421"/>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El usuario no exige magia: exige control y una explicación confiable</a:t>
            </a:r>
          </a:p>
        </p:txBody>
      </p:sp>
      <p:sp>
        <p:nvSpPr>
          <p:cNvPr id="3" name="">
            <a:extLst xmlns:a="http://schemas.openxmlformats.org/drawingml/2006/main">
              <a:ext uri="{FF2B5EF4-FFF2-40B4-BE49-F238E27FC236}">
                <a16:creationId xmlns:a16="http://schemas.microsoft.com/office/drawing/2014/main" id="{9ACAD522-DE47-48D2-85D2-1BE2ED606879}"/>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EC03C141-4E60-4E81-8964-A72C75F81C6C}"/>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4D88D972-554D-46F1-BA7B-E03080175DE1}"/>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CRISTIAN</a:t>
            </a:r>
          </a:p>
        </p:txBody>
      </p:sp>
      <p:sp>
        <p:nvSpPr>
          <p:cNvPr id="6" name="">
            <a:extLst xmlns:a="http://schemas.openxmlformats.org/drawingml/2006/main">
              <a:ext uri="{FF2B5EF4-FFF2-40B4-BE49-F238E27FC236}">
                <a16:creationId xmlns:a16="http://schemas.microsoft.com/office/drawing/2014/main" id="{6E23C3D5-AD69-49A5-9D84-F1A1146BCAB3}"/>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04</a:t>
            </a:r>
          </a:p>
        </p:txBody>
      </p:sp>
      <p:sp>
        <p:nvSpPr>
          <p:cNvPr id="7" name="">
            <a:extLst xmlns:a="http://schemas.openxmlformats.org/drawingml/2006/main">
              <a:ext uri="{FF2B5EF4-FFF2-40B4-BE49-F238E27FC236}">
                <a16:creationId xmlns:a16="http://schemas.microsoft.com/office/drawing/2014/main" id="{CB7149A0-C930-4788-BEF7-44BC31EA5CE0}"/>
              </a:ext>
            </a:extLst>
          </p:cNvPr>
          <p:cNvSpPr>
            <a:spLocks xmlns:a="http://schemas.openxmlformats.org/drawingml/2006/main" noGrp="1"/>
          </p:cNvSpPr>
          <p:nvPr/>
        </p:nvSpPr>
        <p:spPr>
          <a:xfrm xmlns:a="http://schemas.openxmlformats.org/drawingml/2006/main">
            <a:off x="685800" y="12573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Mapa de empatía consolidado · segmento Sub-30 en crisis de retiro</a:t>
            </a:r>
          </a:p>
        </p:txBody>
      </p:sp>
      <p:sp>
        <p:nvSpPr>
          <p:cNvPr id="8" name="">
            <a:extLst xmlns:a="http://schemas.openxmlformats.org/drawingml/2006/main">
              <a:ext uri="{FF2B5EF4-FFF2-40B4-BE49-F238E27FC236}">
                <a16:creationId xmlns:a16="http://schemas.microsoft.com/office/drawing/2014/main" id="{A253AE5C-D2D5-4B73-82D3-32585FA983AC}"/>
              </a:ext>
            </a:extLst>
          </p:cNvPr>
          <p:cNvSpPr>
            <a:spLocks xmlns:a="http://schemas.openxmlformats.org/drawingml/2006/main" noGrp="1"/>
          </p:cNvSpPr>
          <p:nvPr/>
        </p:nvSpPr>
        <p:spPr>
          <a:xfrm xmlns:a="http://schemas.openxmlformats.org/drawingml/2006/main">
            <a:off x="9429750" y="1257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00" b="1">
                <a:solidFill>
                  <a:srgbClr val="E86A5B"/>
                </a:solidFill>
                <a:latin typeface="DejaVu Sans"/>
                <a:ea typeface="DejaVu Sans"/>
                <a:cs typeface="DejaVu Sans"/>
              </a:defRPr>
            </a:pPr>
            <a:r>
              <a:rPr sz="900" b="1">
                <a:solidFill>
                  <a:srgbClr val="E86A5B"/>
                </a:solidFill>
                <a:latin typeface="DejaVu Sans"/>
                <a:ea typeface="DejaVu Sans"/>
                <a:cs typeface="DejaVu Sans"/>
              </a:rPr>
              <a:t>EVIDENCIA SINTÉTICA</a:t>
            </a:r>
          </a:p>
        </p:txBody>
      </p:sp>
      <p:sp>
        <p:nvSpPr>
          <p:cNvPr id="9" name="">
            <a:extLst xmlns:a="http://schemas.openxmlformats.org/drawingml/2006/main">
              <a:ext uri="{FF2B5EF4-FFF2-40B4-BE49-F238E27FC236}">
                <a16:creationId xmlns:a16="http://schemas.microsoft.com/office/drawing/2014/main" id="{1085A2D0-8BC0-4DDB-8B74-901E4675DC96}"/>
              </a:ext>
            </a:extLst>
          </p:cNvPr>
          <p:cNvSpPr>
            <a:spLocks xmlns:a="http://schemas.openxmlformats.org/drawingml/2006/main" noGrp="1"/>
          </p:cNvSpPr>
          <p:nvPr/>
        </p:nvSpPr>
        <p:spPr>
          <a:xfrm xmlns:a="http://schemas.openxmlformats.org/drawingml/2006/main">
            <a:off x="685800" y="1695450"/>
            <a:ext cx="3352800" cy="1809750"/>
          </a:xfrm>
          <a:prstGeom xmlns:a="http://schemas.openxmlformats.org/drawingml/2006/main" prst="roundRect">
            <a:avLst>
              <a:gd name="adj" fmla="val 9474"/>
            </a:avLst>
          </a:prstGeom>
          <a:solidFill xmlns:a="http://schemas.openxmlformats.org/drawingml/2006/main">
            <a:srgbClr val="FBE8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8313D5-F481-4CF1-A521-86F3A6B3F8D0}"/>
              </a:ext>
            </a:extLst>
          </p:cNvPr>
          <p:cNvSpPr>
            <a:spLocks xmlns:a="http://schemas.openxmlformats.org/drawingml/2006/main" noGrp="1"/>
          </p:cNvSpPr>
          <p:nvPr/>
        </p:nvSpPr>
        <p:spPr>
          <a:xfrm xmlns:a="http://schemas.openxmlformats.org/drawingml/2006/main">
            <a:off x="685800" y="1695450"/>
            <a:ext cx="95250" cy="1809750"/>
          </a:xfrm>
          <a:prstGeom xmlns:a="http://schemas.openxmlformats.org/drawingml/2006/main" prst="roundRect">
            <a:avLst>
              <a:gd name="adj" fmla="val 50000"/>
            </a:avLst>
          </a:prstGeom>
          <a:solidFill xmlns:a="http://schemas.openxmlformats.org/drawingml/2006/main">
            <a:srgbClr val="E86A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3C6B59-2E2E-47B3-B640-9298ABEFEDB0}"/>
              </a:ext>
            </a:extLst>
          </p:cNvPr>
          <p:cNvSpPr>
            <a:spLocks xmlns:a="http://schemas.openxmlformats.org/drawingml/2006/main" noGrp="1"/>
          </p:cNvSpPr>
          <p:nvPr/>
        </p:nvSpPr>
        <p:spPr>
          <a:xfrm xmlns:a="http://schemas.openxmlformats.org/drawingml/2006/main">
            <a:off x="952500" y="19050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E86A5B"/>
                </a:solidFill>
                <a:latin typeface="DejaVu Sans"/>
                <a:ea typeface="DejaVu Sans"/>
                <a:cs typeface="DejaVu Sans"/>
              </a:defRPr>
            </a:pPr>
            <a:r>
              <a:rPr sz="1125" b="1">
                <a:solidFill>
                  <a:srgbClr val="E86A5B"/>
                </a:solidFill>
                <a:latin typeface="DejaVu Sans"/>
                <a:ea typeface="DejaVu Sans"/>
                <a:cs typeface="DejaVu Sans"/>
              </a:rPr>
              <a:t>PIENSA Y SIENTE</a:t>
            </a:r>
          </a:p>
        </p:txBody>
      </p:sp>
      <p:sp>
        <p:nvSpPr>
          <p:cNvPr id="12" name="">
            <a:extLst xmlns:a="http://schemas.openxmlformats.org/drawingml/2006/main">
              <a:ext uri="{FF2B5EF4-FFF2-40B4-BE49-F238E27FC236}">
                <a16:creationId xmlns:a16="http://schemas.microsoft.com/office/drawing/2014/main" id="{9918508A-77D1-4E51-B514-639C44CC1D69}"/>
              </a:ext>
            </a:extLst>
          </p:cNvPr>
          <p:cNvSpPr>
            <a:spLocks xmlns:a="http://schemas.openxmlformats.org/drawingml/2006/main" noGrp="1"/>
          </p:cNvSpPr>
          <p:nvPr/>
        </p:nvSpPr>
        <p:spPr>
          <a:xfrm xmlns:a="http://schemas.openxmlformats.org/drawingml/2006/main">
            <a:off x="952500" y="22860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“¿Dónde está mi plata?”</a:t>
            </a:r>
          </a:p>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Teme fraude, error o una demora indefinida.</a:t>
            </a:r>
          </a:p>
        </p:txBody>
      </p:sp>
      <p:sp>
        <p:nvSpPr>
          <p:cNvPr id="13" name="">
            <a:extLst xmlns:a="http://schemas.openxmlformats.org/drawingml/2006/main">
              <a:ext uri="{FF2B5EF4-FFF2-40B4-BE49-F238E27FC236}">
                <a16:creationId xmlns:a16="http://schemas.microsoft.com/office/drawing/2014/main" id="{F9D5E304-29C4-411E-81A1-3351C09CBF2B}"/>
              </a:ext>
            </a:extLst>
          </p:cNvPr>
          <p:cNvSpPr>
            <a:spLocks xmlns:a="http://schemas.openxmlformats.org/drawingml/2006/main" noGrp="1"/>
          </p:cNvSpPr>
          <p:nvPr/>
        </p:nvSpPr>
        <p:spPr>
          <a:xfrm xmlns:a="http://schemas.openxmlformats.org/drawingml/2006/main">
            <a:off x="4343400" y="1695450"/>
            <a:ext cx="3352800" cy="1809750"/>
          </a:xfrm>
          <a:prstGeom xmlns:a="http://schemas.openxmlformats.org/drawingml/2006/main" prst="roundRect">
            <a:avLst>
              <a:gd name="adj" fmla="val 9474"/>
            </a:avLst>
          </a:prstGeom>
          <a:solidFill xmlns:a="http://schemas.openxmlformats.org/drawingml/2006/main">
            <a:srgbClr val="DDF5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166725-F6AB-4DE7-BD0F-CC2AAAB5F839}"/>
              </a:ext>
            </a:extLst>
          </p:cNvPr>
          <p:cNvSpPr>
            <a:spLocks xmlns:a="http://schemas.openxmlformats.org/drawingml/2006/main" noGrp="1"/>
          </p:cNvSpPr>
          <p:nvPr/>
        </p:nvSpPr>
        <p:spPr>
          <a:xfrm xmlns:a="http://schemas.openxmlformats.org/drawingml/2006/main">
            <a:off x="4343400" y="1695450"/>
            <a:ext cx="95250" cy="1809750"/>
          </a:xfrm>
          <a:prstGeom xmlns:a="http://schemas.openxmlformats.org/drawingml/2006/main" prst="roundRect">
            <a:avLst>
              <a:gd name="adj" fmla="val 50000"/>
            </a:avLst>
          </a:prstGeom>
          <a:solidFill xmlns:a="http://schemas.openxmlformats.org/drawingml/2006/main">
            <a:srgbClr val="007F7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B4655E-4E69-4AE8-AAB5-E100D2E6B232}"/>
              </a:ext>
            </a:extLst>
          </p:cNvPr>
          <p:cNvSpPr>
            <a:spLocks xmlns:a="http://schemas.openxmlformats.org/drawingml/2006/main" noGrp="1"/>
          </p:cNvSpPr>
          <p:nvPr/>
        </p:nvSpPr>
        <p:spPr>
          <a:xfrm xmlns:a="http://schemas.openxmlformats.org/drawingml/2006/main">
            <a:off x="4610100" y="19050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007F79"/>
                </a:solidFill>
                <a:latin typeface="DejaVu Sans"/>
                <a:ea typeface="DejaVu Sans"/>
                <a:cs typeface="DejaVu Sans"/>
              </a:defRPr>
            </a:pPr>
            <a:r>
              <a:rPr sz="1125" b="1">
                <a:solidFill>
                  <a:srgbClr val="007F79"/>
                </a:solidFill>
                <a:latin typeface="DejaVu Sans"/>
                <a:ea typeface="DejaVu Sans"/>
                <a:cs typeface="DejaVu Sans"/>
              </a:rPr>
              <a:t>VE</a:t>
            </a:r>
          </a:p>
        </p:txBody>
      </p:sp>
      <p:sp>
        <p:nvSpPr>
          <p:cNvPr id="16" name="">
            <a:extLst xmlns:a="http://schemas.openxmlformats.org/drawingml/2006/main">
              <a:ext uri="{FF2B5EF4-FFF2-40B4-BE49-F238E27FC236}">
                <a16:creationId xmlns:a16="http://schemas.microsoft.com/office/drawing/2014/main" id="{73D7E140-58CB-409A-B73E-E8BDEA8A69BC}"/>
              </a:ext>
            </a:extLst>
          </p:cNvPr>
          <p:cNvSpPr>
            <a:spLocks xmlns:a="http://schemas.openxmlformats.org/drawingml/2006/main" noGrp="1"/>
          </p:cNvSpPr>
          <p:nvPr/>
        </p:nvSpPr>
        <p:spPr>
          <a:xfrm xmlns:a="http://schemas.openxmlformats.org/drawingml/2006/main">
            <a:off x="4610100" y="22860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Saldo $0, validaciones largas y jerga.</a:t>
            </a:r>
          </a:p>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Compara con fintechs que muestran estados simples.</a:t>
            </a:r>
          </a:p>
        </p:txBody>
      </p:sp>
      <p:sp>
        <p:nvSpPr>
          <p:cNvPr id="17" name="">
            <a:extLst xmlns:a="http://schemas.openxmlformats.org/drawingml/2006/main">
              <a:ext uri="{FF2B5EF4-FFF2-40B4-BE49-F238E27FC236}">
                <a16:creationId xmlns:a16="http://schemas.microsoft.com/office/drawing/2014/main" id="{5B50DD85-6290-4476-916F-D055ED656551}"/>
              </a:ext>
            </a:extLst>
          </p:cNvPr>
          <p:cNvSpPr>
            <a:spLocks xmlns:a="http://schemas.openxmlformats.org/drawingml/2006/main" noGrp="1"/>
          </p:cNvSpPr>
          <p:nvPr/>
        </p:nvSpPr>
        <p:spPr>
          <a:xfrm xmlns:a="http://schemas.openxmlformats.org/drawingml/2006/main">
            <a:off x="8001000" y="1695450"/>
            <a:ext cx="3352800" cy="1809750"/>
          </a:xfrm>
          <a:prstGeom xmlns:a="http://schemas.openxmlformats.org/drawingml/2006/main" prst="roundRect">
            <a:avLst>
              <a:gd name="adj" fmla="val 9474"/>
            </a:avLst>
          </a:prstGeom>
          <a:solidFill xmlns:a="http://schemas.openxmlformats.org/drawingml/2006/main">
            <a:srgbClr val="FFF2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9CEDDF-2959-4DC0-8F8D-4F8BCAA20A01}"/>
              </a:ext>
            </a:extLst>
          </p:cNvPr>
          <p:cNvSpPr>
            <a:spLocks xmlns:a="http://schemas.openxmlformats.org/drawingml/2006/main" noGrp="1"/>
          </p:cNvSpPr>
          <p:nvPr/>
        </p:nvSpPr>
        <p:spPr>
          <a:xfrm xmlns:a="http://schemas.openxmlformats.org/drawingml/2006/main">
            <a:off x="8001000" y="1695450"/>
            <a:ext cx="95250" cy="1809750"/>
          </a:xfrm>
          <a:prstGeom xmlns:a="http://schemas.openxmlformats.org/drawingml/2006/main" prst="roundRect">
            <a:avLst>
              <a:gd name="adj" fmla="val 50000"/>
            </a:avLst>
          </a:prstGeom>
          <a:solidFill xmlns:a="http://schemas.openxmlformats.org/drawingml/2006/main">
            <a:srgbClr val="D99B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8074DF-21C4-4EEA-A92F-C29246EE38B8}"/>
              </a:ext>
            </a:extLst>
          </p:cNvPr>
          <p:cNvSpPr>
            <a:spLocks xmlns:a="http://schemas.openxmlformats.org/drawingml/2006/main" noGrp="1"/>
          </p:cNvSpPr>
          <p:nvPr/>
        </p:nvSpPr>
        <p:spPr>
          <a:xfrm xmlns:a="http://schemas.openxmlformats.org/drawingml/2006/main">
            <a:off x="8267700" y="19050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D99B35"/>
                </a:solidFill>
                <a:latin typeface="DejaVu Sans"/>
                <a:ea typeface="DejaVu Sans"/>
                <a:cs typeface="DejaVu Sans"/>
              </a:defRPr>
            </a:pPr>
            <a:r>
              <a:rPr sz="1125" b="1">
                <a:solidFill>
                  <a:srgbClr val="D99B35"/>
                </a:solidFill>
                <a:latin typeface="DejaVu Sans"/>
                <a:ea typeface="DejaVu Sans"/>
                <a:cs typeface="DejaVu Sans"/>
              </a:rPr>
              <a:t>ESCUCHA</a:t>
            </a:r>
          </a:p>
        </p:txBody>
      </p:sp>
      <p:sp>
        <p:nvSpPr>
          <p:cNvPr id="20" name="">
            <a:extLst xmlns:a="http://schemas.openxmlformats.org/drawingml/2006/main">
              <a:ext uri="{FF2B5EF4-FFF2-40B4-BE49-F238E27FC236}">
                <a16:creationId xmlns:a16="http://schemas.microsoft.com/office/drawing/2014/main" id="{84EEA17B-F0CF-484E-8CDD-FAD4A8CA52B1}"/>
              </a:ext>
            </a:extLst>
          </p:cNvPr>
          <p:cNvSpPr>
            <a:spLocks xmlns:a="http://schemas.openxmlformats.org/drawingml/2006/main" noGrp="1"/>
          </p:cNvSpPr>
          <p:nvPr/>
        </p:nvSpPr>
        <p:spPr>
          <a:xfrm xmlns:a="http://schemas.openxmlformats.org/drawingml/2006/main">
            <a:off x="8267700" y="22860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Pares dicen que “es un cacho retirar”.</a:t>
            </a:r>
          </a:p>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La plataforma guarda silencio durante la espera.</a:t>
            </a:r>
          </a:p>
        </p:txBody>
      </p:sp>
      <p:sp>
        <p:nvSpPr>
          <p:cNvPr id="21" name="">
            <a:extLst xmlns:a="http://schemas.openxmlformats.org/drawingml/2006/main">
              <a:ext uri="{FF2B5EF4-FFF2-40B4-BE49-F238E27FC236}">
                <a16:creationId xmlns:a16="http://schemas.microsoft.com/office/drawing/2014/main" id="{984FFF57-ACB7-4B48-B66E-03C8882D0C8A}"/>
              </a:ext>
            </a:extLst>
          </p:cNvPr>
          <p:cNvSpPr>
            <a:spLocks xmlns:a="http://schemas.openxmlformats.org/drawingml/2006/main" noGrp="1"/>
          </p:cNvSpPr>
          <p:nvPr/>
        </p:nvSpPr>
        <p:spPr>
          <a:xfrm xmlns:a="http://schemas.openxmlformats.org/drawingml/2006/main">
            <a:off x="685800" y="3905250"/>
            <a:ext cx="3352800" cy="1809750"/>
          </a:xfrm>
          <a:prstGeom xmlns:a="http://schemas.openxmlformats.org/drawingml/2006/main" prst="roundRect">
            <a:avLst>
              <a:gd name="adj" fmla="val 9474"/>
            </a:avLst>
          </a:prstGeom>
          <a:solidFill xmlns:a="http://schemas.openxmlformats.org/drawingml/2006/main">
            <a:srgbClr val="E7EEF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4CE5C9D-28E6-41F1-AFBB-C30E06153603}"/>
              </a:ext>
            </a:extLst>
          </p:cNvPr>
          <p:cNvSpPr>
            <a:spLocks xmlns:a="http://schemas.openxmlformats.org/drawingml/2006/main" noGrp="1"/>
          </p:cNvSpPr>
          <p:nvPr/>
        </p:nvSpPr>
        <p:spPr>
          <a:xfrm xmlns:a="http://schemas.openxmlformats.org/drawingml/2006/main">
            <a:off x="685800" y="3905250"/>
            <a:ext cx="95250" cy="18097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39349FF-7C18-435C-9099-E52BD4997922}"/>
              </a:ext>
            </a:extLst>
          </p:cNvPr>
          <p:cNvSpPr>
            <a:spLocks xmlns:a="http://schemas.openxmlformats.org/drawingml/2006/main" noGrp="1"/>
          </p:cNvSpPr>
          <p:nvPr/>
        </p:nvSpPr>
        <p:spPr>
          <a:xfrm xmlns:a="http://schemas.openxmlformats.org/drawingml/2006/main">
            <a:off x="952500" y="41148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173B57"/>
                </a:solidFill>
                <a:latin typeface="DejaVu Sans"/>
                <a:ea typeface="DejaVu Sans"/>
                <a:cs typeface="DejaVu Sans"/>
              </a:defRPr>
            </a:pPr>
            <a:r>
              <a:rPr sz="1125" b="1">
                <a:solidFill>
                  <a:srgbClr val="173B57"/>
                </a:solidFill>
                <a:latin typeface="DejaVu Sans"/>
                <a:ea typeface="DejaVu Sans"/>
                <a:cs typeface="DejaVu Sans"/>
              </a:rPr>
              <a:t>DICE Y HACE</a:t>
            </a:r>
          </a:p>
        </p:txBody>
      </p:sp>
      <p:sp>
        <p:nvSpPr>
          <p:cNvPr id="24" name="">
            <a:extLst xmlns:a="http://schemas.openxmlformats.org/drawingml/2006/main">
              <a:ext uri="{FF2B5EF4-FFF2-40B4-BE49-F238E27FC236}">
                <a16:creationId xmlns:a16="http://schemas.microsoft.com/office/drawing/2014/main" id="{A694E32C-E779-449E-A749-267631C5566A}"/>
              </a:ext>
            </a:extLst>
          </p:cNvPr>
          <p:cNvSpPr>
            <a:spLocks xmlns:a="http://schemas.openxmlformats.org/drawingml/2006/main" noGrp="1"/>
          </p:cNvSpPr>
          <p:nvPr/>
        </p:nvSpPr>
        <p:spPr>
          <a:xfrm xmlns:a="http://schemas.openxmlformats.org/drawingml/2006/main">
            <a:off x="952500" y="44958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Reintenta, captura, busca en Google, contacta soporte y evalúa retirar todo.</a:t>
            </a:r>
          </a:p>
        </p:txBody>
      </p:sp>
      <p:sp>
        <p:nvSpPr>
          <p:cNvPr id="25" name="">
            <a:extLst xmlns:a="http://schemas.openxmlformats.org/drawingml/2006/main">
              <a:ext uri="{FF2B5EF4-FFF2-40B4-BE49-F238E27FC236}">
                <a16:creationId xmlns:a16="http://schemas.microsoft.com/office/drawing/2014/main" id="{7C886017-7DB6-492F-8FED-31D81316ED84}"/>
              </a:ext>
            </a:extLst>
          </p:cNvPr>
          <p:cNvSpPr>
            <a:spLocks xmlns:a="http://schemas.openxmlformats.org/drawingml/2006/main" noGrp="1"/>
          </p:cNvSpPr>
          <p:nvPr/>
        </p:nvSpPr>
        <p:spPr>
          <a:xfrm xmlns:a="http://schemas.openxmlformats.org/drawingml/2006/main">
            <a:off x="4343400" y="3905250"/>
            <a:ext cx="3352800" cy="1809750"/>
          </a:xfrm>
          <a:prstGeom xmlns:a="http://schemas.openxmlformats.org/drawingml/2006/main" prst="roundRect">
            <a:avLst>
              <a:gd name="adj" fmla="val 9474"/>
            </a:avLst>
          </a:prstGeom>
          <a:solidFill xmlns:a="http://schemas.openxmlformats.org/drawingml/2006/main">
            <a:srgbClr val="FBE8E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23F6E77-3C6F-4FBA-BEF9-4C81C55EB424}"/>
              </a:ext>
            </a:extLst>
          </p:cNvPr>
          <p:cNvSpPr>
            <a:spLocks xmlns:a="http://schemas.openxmlformats.org/drawingml/2006/main" noGrp="1"/>
          </p:cNvSpPr>
          <p:nvPr/>
        </p:nvSpPr>
        <p:spPr>
          <a:xfrm xmlns:a="http://schemas.openxmlformats.org/drawingml/2006/main">
            <a:off x="4343400" y="3905250"/>
            <a:ext cx="95250" cy="1809750"/>
          </a:xfrm>
          <a:prstGeom xmlns:a="http://schemas.openxmlformats.org/drawingml/2006/main" prst="roundRect">
            <a:avLst>
              <a:gd name="adj" fmla="val 50000"/>
            </a:avLst>
          </a:prstGeom>
          <a:solidFill xmlns:a="http://schemas.openxmlformats.org/drawingml/2006/main">
            <a:srgbClr val="E86A5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3E8A4D-5255-4B74-957A-794A2DA0D64D}"/>
              </a:ext>
            </a:extLst>
          </p:cNvPr>
          <p:cNvSpPr>
            <a:spLocks xmlns:a="http://schemas.openxmlformats.org/drawingml/2006/main" noGrp="1"/>
          </p:cNvSpPr>
          <p:nvPr/>
        </p:nvSpPr>
        <p:spPr>
          <a:xfrm xmlns:a="http://schemas.openxmlformats.org/drawingml/2006/main">
            <a:off x="4610100" y="41148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E86A5B"/>
                </a:solidFill>
                <a:latin typeface="DejaVu Sans"/>
                <a:ea typeface="DejaVu Sans"/>
                <a:cs typeface="DejaVu Sans"/>
              </a:defRPr>
            </a:pPr>
            <a:r>
              <a:rPr sz="1125" b="1">
                <a:solidFill>
                  <a:srgbClr val="E86A5B"/>
                </a:solidFill>
                <a:latin typeface="DejaVu Sans"/>
                <a:ea typeface="DejaVu Sans"/>
                <a:cs typeface="DejaVu Sans"/>
              </a:rPr>
              <a:t>DOLORES / ESFUERZOS</a:t>
            </a:r>
          </a:p>
        </p:txBody>
      </p:sp>
      <p:sp>
        <p:nvSpPr>
          <p:cNvPr id="28" name="">
            <a:extLst xmlns:a="http://schemas.openxmlformats.org/drawingml/2006/main">
              <a:ext uri="{FF2B5EF4-FFF2-40B4-BE49-F238E27FC236}">
                <a16:creationId xmlns:a16="http://schemas.microsoft.com/office/drawing/2014/main" id="{0FDE6A98-A06E-46CA-8021-11DB9AE961D5}"/>
              </a:ext>
            </a:extLst>
          </p:cNvPr>
          <p:cNvSpPr>
            <a:spLocks xmlns:a="http://schemas.openxmlformats.org/drawingml/2006/main" noGrp="1"/>
          </p:cNvSpPr>
          <p:nvPr/>
        </p:nvSpPr>
        <p:spPr>
          <a:xfrm xmlns:a="http://schemas.openxmlformats.org/drawingml/2006/main">
            <a:off x="4610100" y="44958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Clave + SMS + cédula; privacidad incierta; saldo sin contexto; lenguaje legal.</a:t>
            </a:r>
          </a:p>
        </p:txBody>
      </p:sp>
      <p:sp>
        <p:nvSpPr>
          <p:cNvPr id="29" name="">
            <a:extLst xmlns:a="http://schemas.openxmlformats.org/drawingml/2006/main">
              <a:ext uri="{FF2B5EF4-FFF2-40B4-BE49-F238E27FC236}">
                <a16:creationId xmlns:a16="http://schemas.microsoft.com/office/drawing/2014/main" id="{264805C4-AB19-484C-8A47-921560C37FEF}"/>
              </a:ext>
            </a:extLst>
          </p:cNvPr>
          <p:cNvSpPr>
            <a:spLocks xmlns:a="http://schemas.openxmlformats.org/drawingml/2006/main" noGrp="1"/>
          </p:cNvSpPr>
          <p:nvPr/>
        </p:nvSpPr>
        <p:spPr>
          <a:xfrm xmlns:a="http://schemas.openxmlformats.org/drawingml/2006/main">
            <a:off x="8001000" y="3905250"/>
            <a:ext cx="3352800" cy="1809750"/>
          </a:xfrm>
          <a:prstGeom xmlns:a="http://schemas.openxmlformats.org/drawingml/2006/main" prst="roundRect">
            <a:avLst>
              <a:gd name="adj" fmla="val 9474"/>
            </a:avLst>
          </a:prstGeom>
          <a:solidFill xmlns:a="http://schemas.openxmlformats.org/drawingml/2006/main">
            <a:srgbClr val="E4F3E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7DE6580-A05E-4741-ACE5-13701E068CE9}"/>
              </a:ext>
            </a:extLst>
          </p:cNvPr>
          <p:cNvSpPr>
            <a:spLocks xmlns:a="http://schemas.openxmlformats.org/drawingml/2006/main" noGrp="1"/>
          </p:cNvSpPr>
          <p:nvPr/>
        </p:nvSpPr>
        <p:spPr>
          <a:xfrm xmlns:a="http://schemas.openxmlformats.org/drawingml/2006/main">
            <a:off x="8001000" y="3905250"/>
            <a:ext cx="95250" cy="1809750"/>
          </a:xfrm>
          <a:prstGeom xmlns:a="http://schemas.openxmlformats.org/drawingml/2006/main" prst="roundRect">
            <a:avLst>
              <a:gd name="adj" fmla="val 50000"/>
            </a:avLst>
          </a:prstGeom>
          <a:solidFill xmlns:a="http://schemas.openxmlformats.org/drawingml/2006/main">
            <a:srgbClr val="2D8A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01011CD-CFCD-4DA9-990A-B2FE31E3AA08}"/>
              </a:ext>
            </a:extLst>
          </p:cNvPr>
          <p:cNvSpPr>
            <a:spLocks xmlns:a="http://schemas.openxmlformats.org/drawingml/2006/main" noGrp="1"/>
          </p:cNvSpPr>
          <p:nvPr/>
        </p:nvSpPr>
        <p:spPr>
          <a:xfrm xmlns:a="http://schemas.openxmlformats.org/drawingml/2006/main">
            <a:off x="8267700" y="41148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1">
                <a:solidFill>
                  <a:srgbClr val="2D8A6E"/>
                </a:solidFill>
                <a:latin typeface="DejaVu Sans"/>
                <a:ea typeface="DejaVu Sans"/>
                <a:cs typeface="DejaVu Sans"/>
              </a:defRPr>
            </a:pPr>
            <a:r>
              <a:rPr sz="1125" b="1">
                <a:solidFill>
                  <a:srgbClr val="2D8A6E"/>
                </a:solidFill>
                <a:latin typeface="DejaVu Sans"/>
                <a:ea typeface="DejaVu Sans"/>
                <a:cs typeface="DejaVu Sans"/>
              </a:rPr>
              <a:t>GANANCIAS ESPERADAS</a:t>
            </a:r>
          </a:p>
        </p:txBody>
      </p:sp>
      <p:sp>
        <p:nvSpPr>
          <p:cNvPr id="32" name="">
            <a:extLst xmlns:a="http://schemas.openxmlformats.org/drawingml/2006/main">
              <a:ext uri="{FF2B5EF4-FFF2-40B4-BE49-F238E27FC236}">
                <a16:creationId xmlns:a16="http://schemas.microsoft.com/office/drawing/2014/main" id="{CF888E09-8768-46AC-B685-81B0813F7734}"/>
              </a:ext>
            </a:extLst>
          </p:cNvPr>
          <p:cNvSpPr>
            <a:spLocks xmlns:a="http://schemas.openxmlformats.org/drawingml/2006/main" noGrp="1"/>
          </p:cNvSpPr>
          <p:nvPr/>
        </p:nvSpPr>
        <p:spPr>
          <a:xfrm xmlns:a="http://schemas.openxmlformats.org/drawingml/2006/main">
            <a:off x="8267700" y="4495800"/>
            <a:ext cx="28384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350" b="0">
                <a:solidFill>
                  <a:srgbClr val="1B2733"/>
                </a:solidFill>
                <a:latin typeface="DejaVu Sans"/>
                <a:ea typeface="DejaVu Sans"/>
                <a:cs typeface="DejaVu Sans"/>
              </a:defRPr>
            </a:pPr>
            <a:r>
              <a:rPr sz="1350" b="0">
                <a:solidFill>
                  <a:srgbClr val="1B2733"/>
                </a:solidFill>
                <a:latin typeface="DejaVu Sans"/>
                <a:ea typeface="DejaVu Sans"/>
                <a:cs typeface="DejaVu Sans"/>
              </a:rPr>
              <a:t>Saber monto, estado, fecha máxima y próximo paso; recibir una confirmación útil.</a:t>
            </a:r>
          </a:p>
        </p:txBody>
      </p:sp>
      <p:sp>
        <p:nvSpPr>
          <p:cNvPr id="33" name="">
            <a:extLst xmlns:a="http://schemas.openxmlformats.org/drawingml/2006/main">
              <a:ext uri="{FF2B5EF4-FFF2-40B4-BE49-F238E27FC236}">
                <a16:creationId xmlns:a16="http://schemas.microsoft.com/office/drawing/2014/main" id="{F77B9184-E7DB-4050-ACAD-17E81F74ED27}"/>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seis entrevistas sintéticas. Uso: ampliar hipótesis; no reemplaza evidencia con usuarios reales.</a:t>
            </a:r>
          </a:p>
        </p:txBody>
      </p:sp>
    </p:spTree>
    <p:extLst>
      <p:ext uri="{BB962C8B-B14F-4D97-AF65-F5344CB8AC3E}">
        <p14:creationId xmlns:p14="http://schemas.microsoft.com/office/powerpoint/2010/main" val="5339388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A07080-3F19-4CAB-A580-31C488309DA6}"/>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USUARIO Y MEDICIÓN</a:t>
            </a:r>
          </a:p>
        </p:txBody>
      </p:sp>
      <p:sp>
        <p:nvSpPr>
          <p:cNvPr id="2" name="">
            <a:extLst xmlns:a="http://schemas.openxmlformats.org/drawingml/2006/main">
              <a:ext uri="{FF2B5EF4-FFF2-40B4-BE49-F238E27FC236}">
                <a16:creationId xmlns:a16="http://schemas.microsoft.com/office/drawing/2014/main" id="{ADAD50E4-3790-4BBE-93D3-8A4D8E467CC4}"/>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354"/>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La métrica norte mide la confianza que sobrevive al retiro</a:t>
            </a:r>
          </a:p>
        </p:txBody>
      </p:sp>
      <p:sp>
        <p:nvSpPr>
          <p:cNvPr id="3" name="">
            <a:extLst xmlns:a="http://schemas.openxmlformats.org/drawingml/2006/main">
              <a:ext uri="{FF2B5EF4-FFF2-40B4-BE49-F238E27FC236}">
                <a16:creationId xmlns:a16="http://schemas.microsoft.com/office/drawing/2014/main" id="{36EE796D-CE05-4F6E-87E4-7F87C443C399}"/>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90409F0E-A857-4429-86AC-16DE08326FEE}"/>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DDE8E2A0-01FE-4D4D-AB9A-3115FF2E5095}"/>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CRISTIAN</a:t>
            </a:r>
          </a:p>
        </p:txBody>
      </p:sp>
      <p:sp>
        <p:nvSpPr>
          <p:cNvPr id="6" name="">
            <a:extLst xmlns:a="http://schemas.openxmlformats.org/drawingml/2006/main">
              <a:ext uri="{FF2B5EF4-FFF2-40B4-BE49-F238E27FC236}">
                <a16:creationId xmlns:a16="http://schemas.microsoft.com/office/drawing/2014/main" id="{77AA1C7E-AF6F-4808-9779-EC793F747825}"/>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05</a:t>
            </a:r>
          </a:p>
        </p:txBody>
      </p:sp>
      <p:sp>
        <p:nvSpPr>
          <p:cNvPr id="7" name="">
            <a:extLst xmlns:a="http://schemas.openxmlformats.org/drawingml/2006/main">
              <a:ext uri="{FF2B5EF4-FFF2-40B4-BE49-F238E27FC236}">
                <a16:creationId xmlns:a16="http://schemas.microsoft.com/office/drawing/2014/main" id="{79C2A861-6549-41C5-8989-736001FD6EBE}"/>
              </a:ext>
            </a:extLst>
          </p:cNvPr>
          <p:cNvSpPr>
            <a:spLocks xmlns:a="http://schemas.openxmlformats.org/drawingml/2006/main" noGrp="1"/>
          </p:cNvSpPr>
          <p:nvPr/>
        </p:nvSpPr>
        <p:spPr>
          <a:xfrm xmlns:a="http://schemas.openxmlformats.org/drawingml/2006/main">
            <a:off x="685800" y="1562100"/>
            <a:ext cx="4953000" cy="3143250"/>
          </a:xfrm>
          <a:prstGeom xmlns:a="http://schemas.openxmlformats.org/drawingml/2006/main" prst="roundRect">
            <a:avLst>
              <a:gd name="adj" fmla="val 6667"/>
            </a:avLst>
          </a:prstGeom>
          <a:solidFill xmlns:a="http://schemas.openxmlformats.org/drawingml/2006/main">
            <a:srgbClr val="102A4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5F6F13-D422-41D5-87D4-0F63FD45DEFA}"/>
              </a:ext>
            </a:extLst>
          </p:cNvPr>
          <p:cNvSpPr>
            <a:spLocks xmlns:a="http://schemas.openxmlformats.org/drawingml/2006/main" noGrp="1"/>
          </p:cNvSpPr>
          <p:nvPr/>
        </p:nvSpPr>
        <p:spPr>
          <a:xfrm xmlns:a="http://schemas.openxmlformats.org/drawingml/2006/main">
            <a:off x="1028700" y="1847850"/>
            <a:ext cx="4191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900" b="1">
                <a:solidFill>
                  <a:srgbClr val="71D8D0"/>
                </a:solidFill>
                <a:latin typeface="DejaVu Sans"/>
                <a:ea typeface="DejaVu Sans"/>
                <a:cs typeface="DejaVu Sans"/>
              </a:defRPr>
            </a:pPr>
            <a:r>
              <a:rPr sz="3900" b="1">
                <a:solidFill>
                  <a:srgbClr val="71D8D0"/>
                </a:solidFill>
                <a:latin typeface="DejaVu Sans"/>
                <a:ea typeface="DejaVu Sans"/>
                <a:cs typeface="DejaVu Sans"/>
              </a:rPr>
              <a:t>TCI–30</a:t>
            </a:r>
          </a:p>
        </p:txBody>
      </p:sp>
      <p:sp>
        <p:nvSpPr>
          <p:cNvPr id="9" name="">
            <a:extLst xmlns:a="http://schemas.openxmlformats.org/drawingml/2006/main">
              <a:ext uri="{FF2B5EF4-FFF2-40B4-BE49-F238E27FC236}">
                <a16:creationId xmlns:a16="http://schemas.microsoft.com/office/drawing/2014/main" id="{BF251E3C-BAA3-4C75-8252-DB1528593F0E}"/>
              </a:ext>
            </a:extLst>
          </p:cNvPr>
          <p:cNvSpPr>
            <a:spLocks xmlns:a="http://schemas.openxmlformats.org/drawingml/2006/main" noGrp="1"/>
          </p:cNvSpPr>
          <p:nvPr/>
        </p:nvSpPr>
        <p:spPr>
          <a:xfrm xmlns:a="http://schemas.openxmlformats.org/drawingml/2006/main">
            <a:off x="1028700" y="266700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60"/>
          </a:bodyPr>
          <a:lstStyle xmlns:a="http://schemas.openxmlformats.org/drawingml/2006/main"/>
          <a:p xmlns:a="http://schemas.openxmlformats.org/drawingml/2006/main">
            <a:pPr algn="l">
              <a:lnSpc>
                <a:spcPct val="10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Tasa de Continuidad de Inversión</a:t>
            </a:r>
          </a:p>
          <a:p xmlns:a="http://schemas.openxmlformats.org/drawingml/2006/main">
            <a:pPr algn="l">
              <a:lnSpc>
                <a:spcPct val="102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Post-Retiro a 30 días</a:t>
            </a:r>
          </a:p>
        </p:txBody>
      </p:sp>
      <p:sp>
        <p:nvSpPr>
          <p:cNvPr id="10" name="">
            <a:extLst xmlns:a="http://schemas.openxmlformats.org/drawingml/2006/main">
              <a:ext uri="{FF2B5EF4-FFF2-40B4-BE49-F238E27FC236}">
                <a16:creationId xmlns:a16="http://schemas.microsoft.com/office/drawing/2014/main" id="{963B376F-59CD-447A-89CD-89791876A818}"/>
              </a:ext>
            </a:extLst>
          </p:cNvPr>
          <p:cNvSpPr>
            <a:spLocks xmlns:a="http://schemas.openxmlformats.org/drawingml/2006/main" noGrp="1"/>
          </p:cNvSpPr>
          <p:nvPr/>
        </p:nvSpPr>
        <p:spPr>
          <a:xfrm xmlns:a="http://schemas.openxmlformats.org/drawingml/2006/main">
            <a:off x="1028700" y="3524250"/>
            <a:ext cx="3924300" cy="0"/>
          </a:xfrm>
          <a:prstGeom xmlns:a="http://schemas.openxmlformats.org/drawingml/2006/main" prst="line">
            <a:avLst/>
          </a:prstGeom>
          <a:noFill xmlns:a="http://schemas.openxmlformats.org/drawingml/2006/main"/>
          <a:ln xmlns:a="http://schemas.openxmlformats.org/drawingml/2006/main" w="9525">
            <a:solidFill>
              <a:srgbClr val="36556B"/>
            </a:solidFill>
            <a:prstDash val="solid"/>
          </a:ln>
        </p:spPr>
      </p:sp>
      <p:sp>
        <p:nvSpPr>
          <p:cNvPr id="11" name="">
            <a:extLst xmlns:a="http://schemas.openxmlformats.org/drawingml/2006/main">
              <a:ext uri="{FF2B5EF4-FFF2-40B4-BE49-F238E27FC236}">
                <a16:creationId xmlns:a16="http://schemas.microsoft.com/office/drawing/2014/main" id="{C92CD3D3-8B2E-4308-A6C3-50235FC07AEA}"/>
              </a:ext>
            </a:extLst>
          </p:cNvPr>
          <p:cNvSpPr>
            <a:spLocks xmlns:a="http://schemas.openxmlformats.org/drawingml/2006/main" noGrp="1"/>
          </p:cNvSpPr>
          <p:nvPr/>
        </p:nvSpPr>
        <p:spPr>
          <a:xfrm xmlns:a="http://schemas.openxmlformats.org/drawingml/2006/main">
            <a:off x="1028700" y="3714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Usuarios que continúan invirtiendo al día 30</a:t>
            </a:r>
          </a:p>
        </p:txBody>
      </p:sp>
      <p:sp>
        <p:nvSpPr>
          <p:cNvPr id="12" name="">
            <a:extLst xmlns:a="http://schemas.openxmlformats.org/drawingml/2006/main">
              <a:ext uri="{FF2B5EF4-FFF2-40B4-BE49-F238E27FC236}">
                <a16:creationId xmlns:a16="http://schemas.microsoft.com/office/drawing/2014/main" id="{DA57A6E1-470A-4A5E-9DFD-6ED4FFCD5292}"/>
              </a:ext>
            </a:extLst>
          </p:cNvPr>
          <p:cNvSpPr>
            <a:spLocks xmlns:a="http://schemas.openxmlformats.org/drawingml/2006/main" noGrp="1"/>
          </p:cNvSpPr>
          <p:nvPr/>
        </p:nvSpPr>
        <p:spPr>
          <a:xfrm xmlns:a="http://schemas.openxmlformats.org/drawingml/2006/main">
            <a:off x="1524000" y="4114800"/>
            <a:ext cx="295275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3" name="">
            <a:extLst xmlns:a="http://schemas.openxmlformats.org/drawingml/2006/main">
              <a:ext uri="{FF2B5EF4-FFF2-40B4-BE49-F238E27FC236}">
                <a16:creationId xmlns:a16="http://schemas.microsoft.com/office/drawing/2014/main" id="{4AF5A9ED-E16B-4814-BFB8-184660E0130D}"/>
              </a:ext>
            </a:extLst>
          </p:cNvPr>
          <p:cNvSpPr>
            <a:spLocks xmlns:a="http://schemas.openxmlformats.org/drawingml/2006/main" noGrp="1"/>
          </p:cNvSpPr>
          <p:nvPr/>
        </p:nvSpPr>
        <p:spPr>
          <a:xfrm xmlns:a="http://schemas.openxmlformats.org/drawingml/2006/main">
            <a:off x="1028700" y="423862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0">
                <a:solidFill>
                  <a:srgbClr val="B7CBD9"/>
                </a:solidFill>
                <a:latin typeface="DejaVu Sans"/>
                <a:ea typeface="DejaVu Sans"/>
                <a:cs typeface="DejaVu Sans"/>
              </a:defRPr>
            </a:pPr>
            <a:r>
              <a:rPr sz="1050" b="0">
                <a:solidFill>
                  <a:srgbClr val="B7CBD9"/>
                </a:solidFill>
                <a:latin typeface="DejaVu Sans"/>
                <a:ea typeface="DejaVu Sans"/>
                <a:cs typeface="DejaVu Sans"/>
              </a:rPr>
              <a:t>Usuarios que completaron un retiro y cumplieron 30 días</a:t>
            </a:r>
          </a:p>
        </p:txBody>
      </p:sp>
      <p:sp>
        <p:nvSpPr>
          <p:cNvPr id="14" name="">
            <a:extLst xmlns:a="http://schemas.openxmlformats.org/drawingml/2006/main">
              <a:ext uri="{FF2B5EF4-FFF2-40B4-BE49-F238E27FC236}">
                <a16:creationId xmlns:a16="http://schemas.microsoft.com/office/drawing/2014/main" id="{617AF1B6-24B7-4B24-A9CE-0D2EE11AFC74}"/>
              </a:ext>
            </a:extLst>
          </p:cNvPr>
          <p:cNvSpPr>
            <a:spLocks xmlns:a="http://schemas.openxmlformats.org/drawingml/2006/main" noGrp="1"/>
          </p:cNvSpPr>
          <p:nvPr/>
        </p:nvSpPr>
        <p:spPr>
          <a:xfrm xmlns:a="http://schemas.openxmlformats.org/drawingml/2006/main">
            <a:off x="6096000" y="1638300"/>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2812"/>
          </a:bodyPr>
          <a:lstStyle xmlns:a="http://schemas.openxmlformats.org/drawingml/2006/main"/>
          <a:p xmlns:a="http://schemas.openxmlformats.org/drawingml/2006/main">
            <a:pPr algn="l">
              <a:lnSpc>
                <a:spcPct val="10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Continuidad significa relación activa, no sólo cuenta abierta:</a:t>
            </a:r>
          </a:p>
        </p:txBody>
      </p:sp>
      <p:sp>
        <p:nvSpPr>
          <p:cNvPr id="15" name="">
            <a:extLst xmlns:a="http://schemas.openxmlformats.org/drawingml/2006/main">
              <a:ext uri="{FF2B5EF4-FFF2-40B4-BE49-F238E27FC236}">
                <a16:creationId xmlns:a16="http://schemas.microsoft.com/office/drawing/2014/main" id="{B64E3E5D-7382-4DCA-A687-30C7D069E292}"/>
              </a:ext>
            </a:extLst>
          </p:cNvPr>
          <p:cNvSpPr>
            <a:spLocks xmlns:a="http://schemas.openxmlformats.org/drawingml/2006/main" noGrp="1"/>
          </p:cNvSpPr>
          <p:nvPr/>
        </p:nvSpPr>
        <p:spPr>
          <a:xfrm xmlns:a="http://schemas.openxmlformats.org/drawingml/2006/main">
            <a:off x="6172200" y="2105025"/>
            <a:ext cx="323850" cy="323850"/>
          </a:xfrm>
          <a:prstGeom xmlns:a="http://schemas.openxmlformats.org/drawingml/2006/main" prst="ellipse">
            <a:avLst/>
          </a:prstGeom>
          <a:solidFill xmlns:a="http://schemas.openxmlformats.org/drawingml/2006/main">
            <a:srgbClr val="00A7A0"/>
          </a:solidFill>
          <a:ln xmlns:a="http://schemas.openxmlformats.org/drawingml/2006/main" w="9525">
            <a:solidFill>
              <a:srgbClr val="00A7A0"/>
            </a:solidFill>
            <a:prstDash val="solid"/>
          </a:ln>
        </p:spPr>
      </p:sp>
      <p:sp>
        <p:nvSpPr>
          <p:cNvPr id="16" name="">
            <a:extLst xmlns:a="http://schemas.openxmlformats.org/drawingml/2006/main">
              <a:ext uri="{FF2B5EF4-FFF2-40B4-BE49-F238E27FC236}">
                <a16:creationId xmlns:a16="http://schemas.microsoft.com/office/drawing/2014/main" id="{6EE85355-C1C3-48CB-83E9-617191C1AF3B}"/>
              </a:ext>
            </a:extLst>
          </p:cNvPr>
          <p:cNvSpPr>
            <a:spLocks xmlns:a="http://schemas.openxmlformats.org/drawingml/2006/main" noGrp="1"/>
          </p:cNvSpPr>
          <p:nvPr/>
        </p:nvSpPr>
        <p:spPr>
          <a:xfrm xmlns:a="http://schemas.openxmlformats.org/drawingml/2006/main">
            <a:off x="6181725" y="21145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79E36463-7763-47BA-A204-D597AD7D7BF7}"/>
              </a:ext>
            </a:extLst>
          </p:cNvPr>
          <p:cNvSpPr>
            <a:spLocks xmlns:a="http://schemas.openxmlformats.org/drawingml/2006/main" noGrp="1"/>
          </p:cNvSpPr>
          <p:nvPr/>
        </p:nvSpPr>
        <p:spPr>
          <a:xfrm xmlns:a="http://schemas.openxmlformats.org/drawingml/2006/main">
            <a:off x="6667500" y="209550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Mantiene saldo invertido o realiza un nuevo aporte.</a:t>
            </a:r>
          </a:p>
        </p:txBody>
      </p:sp>
      <p:sp>
        <p:nvSpPr>
          <p:cNvPr id="18" name="">
            <a:extLst xmlns:a="http://schemas.openxmlformats.org/drawingml/2006/main">
              <a:ext uri="{FF2B5EF4-FFF2-40B4-BE49-F238E27FC236}">
                <a16:creationId xmlns:a16="http://schemas.microsoft.com/office/drawing/2014/main" id="{BC55ACE4-AB01-40A2-876C-830B7AECF1D7}"/>
              </a:ext>
            </a:extLst>
          </p:cNvPr>
          <p:cNvSpPr>
            <a:spLocks xmlns:a="http://schemas.openxmlformats.org/drawingml/2006/main" noGrp="1"/>
          </p:cNvSpPr>
          <p:nvPr/>
        </p:nvSpPr>
        <p:spPr>
          <a:xfrm xmlns:a="http://schemas.openxmlformats.org/drawingml/2006/main">
            <a:off x="6172200" y="2657475"/>
            <a:ext cx="323850" cy="323850"/>
          </a:xfrm>
          <a:prstGeom xmlns:a="http://schemas.openxmlformats.org/drawingml/2006/main" prst="ellipse">
            <a:avLst/>
          </a:prstGeom>
          <a:solidFill xmlns:a="http://schemas.openxmlformats.org/drawingml/2006/main">
            <a:srgbClr val="00A7A0"/>
          </a:solidFill>
          <a:ln xmlns:a="http://schemas.openxmlformats.org/drawingml/2006/main" w="9525">
            <a:solidFill>
              <a:srgbClr val="00A7A0"/>
            </a:solidFill>
            <a:prstDash val="solid"/>
          </a:ln>
        </p:spPr>
      </p:sp>
      <p:sp>
        <p:nvSpPr>
          <p:cNvPr id="19" name="">
            <a:extLst xmlns:a="http://schemas.openxmlformats.org/drawingml/2006/main">
              <a:ext uri="{FF2B5EF4-FFF2-40B4-BE49-F238E27FC236}">
                <a16:creationId xmlns:a16="http://schemas.microsoft.com/office/drawing/2014/main" id="{890D5ACA-5FBF-44DC-B8EE-C43AF900EB99}"/>
              </a:ext>
            </a:extLst>
          </p:cNvPr>
          <p:cNvSpPr>
            <a:spLocks xmlns:a="http://schemas.openxmlformats.org/drawingml/2006/main" noGrp="1"/>
          </p:cNvSpPr>
          <p:nvPr/>
        </p:nvSpPr>
        <p:spPr>
          <a:xfrm xmlns:a="http://schemas.openxmlformats.org/drawingml/2006/main">
            <a:off x="6181725" y="26670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3E4E8A8F-652C-4E49-B34E-A79130F9D1DD}"/>
              </a:ext>
            </a:extLst>
          </p:cNvPr>
          <p:cNvSpPr>
            <a:spLocks xmlns:a="http://schemas.openxmlformats.org/drawingml/2006/main" noGrp="1"/>
          </p:cNvSpPr>
          <p:nvPr/>
        </p:nvSpPr>
        <p:spPr>
          <a:xfrm xmlns:a="http://schemas.openxmlformats.org/drawingml/2006/main">
            <a:off x="6667500" y="26479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Conserva activo su plan de ahorro, si lo tenía.</a:t>
            </a:r>
          </a:p>
        </p:txBody>
      </p:sp>
      <p:sp>
        <p:nvSpPr>
          <p:cNvPr id="21" name="">
            <a:extLst xmlns:a="http://schemas.openxmlformats.org/drawingml/2006/main">
              <a:ext uri="{FF2B5EF4-FFF2-40B4-BE49-F238E27FC236}">
                <a16:creationId xmlns:a16="http://schemas.microsoft.com/office/drawing/2014/main" id="{866D085A-D554-4583-A39B-B0990A502315}"/>
              </a:ext>
            </a:extLst>
          </p:cNvPr>
          <p:cNvSpPr>
            <a:spLocks xmlns:a="http://schemas.openxmlformats.org/drawingml/2006/main" noGrp="1"/>
          </p:cNvSpPr>
          <p:nvPr/>
        </p:nvSpPr>
        <p:spPr>
          <a:xfrm xmlns:a="http://schemas.openxmlformats.org/drawingml/2006/main">
            <a:off x="6172200" y="3209925"/>
            <a:ext cx="323850" cy="323850"/>
          </a:xfrm>
          <a:prstGeom xmlns:a="http://schemas.openxmlformats.org/drawingml/2006/main" prst="ellipse">
            <a:avLst/>
          </a:prstGeom>
          <a:solidFill xmlns:a="http://schemas.openxmlformats.org/drawingml/2006/main">
            <a:srgbClr val="F4F7F8"/>
          </a:solidFill>
          <a:ln xmlns:a="http://schemas.openxmlformats.org/drawingml/2006/main" w="9525">
            <a:solidFill>
              <a:srgbClr val="D9E2E8"/>
            </a:solidFill>
            <a:prstDash val="solid"/>
          </a:ln>
        </p:spPr>
      </p:sp>
      <p:sp>
        <p:nvSpPr>
          <p:cNvPr id="22" name="">
            <a:extLst xmlns:a="http://schemas.openxmlformats.org/drawingml/2006/main">
              <a:ext uri="{FF2B5EF4-FFF2-40B4-BE49-F238E27FC236}">
                <a16:creationId xmlns:a16="http://schemas.microsoft.com/office/drawing/2014/main" id="{E9D36192-A47A-4852-8D0E-E7549D3F108E}"/>
              </a:ext>
            </a:extLst>
          </p:cNvPr>
          <p:cNvSpPr>
            <a:spLocks xmlns:a="http://schemas.openxmlformats.org/drawingml/2006/main" noGrp="1"/>
          </p:cNvSpPr>
          <p:nvPr/>
        </p:nvSpPr>
        <p:spPr>
          <a:xfrm xmlns:a="http://schemas.openxmlformats.org/drawingml/2006/main">
            <a:off x="6181725" y="3219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5F6F7C"/>
                </a:solidFill>
                <a:latin typeface="DejaVu Sans"/>
                <a:ea typeface="DejaVu Sans"/>
                <a:cs typeface="DejaVu Sans"/>
              </a:defRPr>
            </a:pPr>
            <a:r>
              <a:rPr sz="1350" b="1">
                <a:solidFill>
                  <a:srgbClr val="5F6F7C"/>
                </a:solidFill>
                <a:latin typeface="DejaVu Sans"/>
                <a:ea typeface="DejaVu Sans"/>
                <a:cs typeface="DejaVu Sans"/>
              </a:rPr>
              <a:t>—</a:t>
            </a:r>
          </a:p>
        </p:txBody>
      </p:sp>
      <p:sp>
        <p:nvSpPr>
          <p:cNvPr id="23" name="">
            <a:extLst xmlns:a="http://schemas.openxmlformats.org/drawingml/2006/main">
              <a:ext uri="{FF2B5EF4-FFF2-40B4-BE49-F238E27FC236}">
                <a16:creationId xmlns:a16="http://schemas.microsoft.com/office/drawing/2014/main" id="{49BBF917-2161-458B-9C43-A6F958B33FD3}"/>
              </a:ext>
            </a:extLst>
          </p:cNvPr>
          <p:cNvSpPr>
            <a:spLocks xmlns:a="http://schemas.openxmlformats.org/drawingml/2006/main" noGrp="1"/>
          </p:cNvSpPr>
          <p:nvPr/>
        </p:nvSpPr>
        <p:spPr>
          <a:xfrm xmlns:a="http://schemas.openxmlformats.org/drawingml/2006/main">
            <a:off x="6667500" y="320040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No retira posteriormente todo su capital.</a:t>
            </a:r>
          </a:p>
        </p:txBody>
      </p:sp>
      <p:sp>
        <p:nvSpPr>
          <p:cNvPr id="24" name="">
            <a:extLst xmlns:a="http://schemas.openxmlformats.org/drawingml/2006/main">
              <a:ext uri="{FF2B5EF4-FFF2-40B4-BE49-F238E27FC236}">
                <a16:creationId xmlns:a16="http://schemas.microsoft.com/office/drawing/2014/main" id="{F4384EFD-AB72-40A3-92E5-AB23185DF5DA}"/>
              </a:ext>
            </a:extLst>
          </p:cNvPr>
          <p:cNvSpPr>
            <a:spLocks xmlns:a="http://schemas.openxmlformats.org/drawingml/2006/main" noGrp="1"/>
          </p:cNvSpPr>
          <p:nvPr/>
        </p:nvSpPr>
        <p:spPr>
          <a:xfrm xmlns:a="http://schemas.openxmlformats.org/drawingml/2006/main">
            <a:off x="6172200" y="3762375"/>
            <a:ext cx="323850" cy="323850"/>
          </a:xfrm>
          <a:prstGeom xmlns:a="http://schemas.openxmlformats.org/drawingml/2006/main" prst="ellipse">
            <a:avLst/>
          </a:prstGeom>
          <a:solidFill xmlns:a="http://schemas.openxmlformats.org/drawingml/2006/main">
            <a:srgbClr val="F4F7F8"/>
          </a:solidFill>
          <a:ln xmlns:a="http://schemas.openxmlformats.org/drawingml/2006/main" w="9525">
            <a:solidFill>
              <a:srgbClr val="D9E2E8"/>
            </a:solidFill>
            <a:prstDash val="solid"/>
          </a:ln>
        </p:spPr>
      </p:sp>
      <p:sp>
        <p:nvSpPr>
          <p:cNvPr id="25" name="">
            <a:extLst xmlns:a="http://schemas.openxmlformats.org/drawingml/2006/main">
              <a:ext uri="{FF2B5EF4-FFF2-40B4-BE49-F238E27FC236}">
                <a16:creationId xmlns:a16="http://schemas.microsoft.com/office/drawing/2014/main" id="{D21C1178-BC58-4442-B520-AA56D7A13E97}"/>
              </a:ext>
            </a:extLst>
          </p:cNvPr>
          <p:cNvSpPr>
            <a:spLocks xmlns:a="http://schemas.openxmlformats.org/drawingml/2006/main" noGrp="1"/>
          </p:cNvSpPr>
          <p:nvPr/>
        </p:nvSpPr>
        <p:spPr>
          <a:xfrm xmlns:a="http://schemas.openxmlformats.org/drawingml/2006/main">
            <a:off x="6181725" y="37719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5F6F7C"/>
                </a:solidFill>
                <a:latin typeface="DejaVu Sans"/>
                <a:ea typeface="DejaVu Sans"/>
                <a:cs typeface="DejaVu Sans"/>
              </a:defRPr>
            </a:pPr>
            <a:r>
              <a:rPr sz="1350" b="1">
                <a:solidFill>
                  <a:srgbClr val="5F6F7C"/>
                </a:solidFill>
                <a:latin typeface="DejaVu Sans"/>
                <a:ea typeface="DejaVu Sans"/>
                <a:cs typeface="DejaVu Sans"/>
              </a:rPr>
              <a:t>—</a:t>
            </a:r>
          </a:p>
        </p:txBody>
      </p:sp>
      <p:sp>
        <p:nvSpPr>
          <p:cNvPr id="26" name="">
            <a:extLst xmlns:a="http://schemas.openxmlformats.org/drawingml/2006/main">
              <a:ext uri="{FF2B5EF4-FFF2-40B4-BE49-F238E27FC236}">
                <a16:creationId xmlns:a16="http://schemas.microsoft.com/office/drawing/2014/main" id="{5CF1D113-79D6-416B-997B-F29FEDF3281D}"/>
              </a:ext>
            </a:extLst>
          </p:cNvPr>
          <p:cNvSpPr>
            <a:spLocks xmlns:a="http://schemas.openxmlformats.org/drawingml/2006/main" noGrp="1"/>
          </p:cNvSpPr>
          <p:nvPr/>
        </p:nvSpPr>
        <p:spPr>
          <a:xfrm xmlns:a="http://schemas.openxmlformats.org/drawingml/2006/main">
            <a:off x="6667500" y="37528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No pausa o cancela su aporte automático.</a:t>
            </a:r>
          </a:p>
        </p:txBody>
      </p:sp>
      <p:sp>
        <p:nvSpPr>
          <p:cNvPr id="27" name="">
            <a:extLst xmlns:a="http://schemas.openxmlformats.org/drawingml/2006/main">
              <a:ext uri="{FF2B5EF4-FFF2-40B4-BE49-F238E27FC236}">
                <a16:creationId xmlns:a16="http://schemas.microsoft.com/office/drawing/2014/main" id="{3E8850C3-F325-4BCD-AF2E-9A22272FAE14}"/>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oundRect">
            <a:avLst>
              <a:gd name="adj" fmla="val 16071"/>
            </a:avLst>
          </a:prstGeom>
          <a:solidFill xmlns:a="http://schemas.openxmlformats.org/drawingml/2006/main">
            <a:srgbClr val="F4F7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7AF2530-A40D-440F-A545-504174B3C390}"/>
              </a:ext>
            </a:extLst>
          </p:cNvPr>
          <p:cNvSpPr>
            <a:spLocks xmlns:a="http://schemas.openxmlformats.org/drawingml/2006/main" noGrp="1"/>
          </p:cNvSpPr>
          <p:nvPr/>
        </p:nvSpPr>
        <p:spPr>
          <a:xfrm xmlns:a="http://schemas.openxmlformats.org/drawingml/2006/main">
            <a:off x="914400" y="51816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E86A5B"/>
                </a:solidFill>
                <a:latin typeface="DejaVu Sans"/>
                <a:ea typeface="DejaVu Sans"/>
                <a:cs typeface="DejaVu Sans"/>
              </a:defRPr>
            </a:pPr>
            <a:r>
              <a:rPr sz="1200" b="1">
                <a:solidFill>
                  <a:srgbClr val="E86A5B"/>
                </a:solidFill>
                <a:latin typeface="DejaVu Sans"/>
                <a:ea typeface="DejaVu Sans"/>
                <a:cs typeface="DejaVu Sans"/>
              </a:rPr>
              <a:t>Guardrails</a:t>
            </a:r>
          </a:p>
        </p:txBody>
      </p:sp>
      <p:sp>
        <p:nvSpPr>
          <p:cNvPr id="29" name="">
            <a:extLst xmlns:a="http://schemas.openxmlformats.org/drawingml/2006/main">
              <a:ext uri="{FF2B5EF4-FFF2-40B4-BE49-F238E27FC236}">
                <a16:creationId xmlns:a16="http://schemas.microsoft.com/office/drawing/2014/main" id="{E48122C3-24ED-4E1B-9F93-D6723F6AE4E3}"/>
              </a:ext>
            </a:extLst>
          </p:cNvPr>
          <p:cNvSpPr>
            <a:spLocks xmlns:a="http://schemas.openxmlformats.org/drawingml/2006/main" noGrp="1"/>
          </p:cNvSpPr>
          <p:nvPr/>
        </p:nvSpPr>
        <p:spPr>
          <a:xfrm xmlns:a="http://schemas.openxmlformats.org/drawingml/2006/main">
            <a:off x="2286000" y="51435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573"/>
          </a:bodyPr>
          <a:lstStyle xmlns:a="http://schemas.openxmlformats.org/drawingml/2006/main"/>
          <a:p xmlns:a="http://schemas.openxmlformats.org/drawingml/2006/main">
            <a:pPr algn="l">
              <a:lnSpc>
                <a:spcPct val="105000"/>
              </a:lnSpc>
              <a:buNone/>
              <a:defRPr sz="1275" b="1">
                <a:solidFill>
                  <a:srgbClr val="102A43"/>
                </a:solidFill>
                <a:latin typeface="DejaVu Sans"/>
                <a:ea typeface="DejaVu Sans"/>
                <a:cs typeface="DejaVu Sans"/>
              </a:defRPr>
            </a:pPr>
            <a:r>
              <a:rPr sz="1275" b="1">
                <a:solidFill>
                  <a:srgbClr val="102A43"/>
                </a:solidFill>
                <a:latin typeface="DejaVu Sans"/>
                <a:ea typeface="DejaVu Sans"/>
                <a:cs typeface="DejaVu Sans"/>
              </a:rPr>
              <a:t>Fraude no supera la línea base</a:t>
            </a:r>
          </a:p>
        </p:txBody>
      </p:sp>
      <p:sp>
        <p:nvSpPr>
          <p:cNvPr id="30" name="">
            <a:extLst xmlns:a="http://schemas.openxmlformats.org/drawingml/2006/main">
              <a:ext uri="{FF2B5EF4-FFF2-40B4-BE49-F238E27FC236}">
                <a16:creationId xmlns:a16="http://schemas.microsoft.com/office/drawing/2014/main" id="{5FE54B85-0224-434C-B282-3062F875B20A}"/>
              </a:ext>
            </a:extLst>
          </p:cNvPr>
          <p:cNvSpPr>
            <a:spLocks xmlns:a="http://schemas.openxmlformats.org/drawingml/2006/main" noGrp="1"/>
          </p:cNvSpPr>
          <p:nvPr/>
        </p:nvSpPr>
        <p:spPr>
          <a:xfrm xmlns:a="http://schemas.openxmlformats.org/drawingml/2006/main">
            <a:off x="4895850" y="514350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415"/>
          </a:bodyPr>
          <a:lstStyle xmlns:a="http://schemas.openxmlformats.org/drawingml/2006/main"/>
          <a:p xmlns:a="http://schemas.openxmlformats.org/drawingml/2006/main">
            <a:pPr algn="l">
              <a:lnSpc>
                <a:spcPct val="105000"/>
              </a:lnSpc>
              <a:buNone/>
              <a:defRPr sz="1275" b="1">
                <a:solidFill>
                  <a:srgbClr val="102A43"/>
                </a:solidFill>
                <a:latin typeface="DejaVu Sans"/>
                <a:ea typeface="DejaVu Sans"/>
                <a:cs typeface="DejaVu Sans"/>
              </a:defRPr>
            </a:pPr>
            <a:r>
              <a:rPr sz="1275" b="1">
                <a:solidFill>
                  <a:srgbClr val="102A43"/>
                </a:solidFill>
                <a:latin typeface="DejaVu Sans"/>
                <a:ea typeface="DejaVu Sans"/>
                <a:cs typeface="DejaVu Sans"/>
              </a:rPr>
              <a:t>100% dentro del plazo aplicable</a:t>
            </a:r>
          </a:p>
        </p:txBody>
      </p:sp>
      <p:sp>
        <p:nvSpPr>
          <p:cNvPr id="31" name="">
            <a:extLst xmlns:a="http://schemas.openxmlformats.org/drawingml/2006/main">
              <a:ext uri="{FF2B5EF4-FFF2-40B4-BE49-F238E27FC236}">
                <a16:creationId xmlns:a16="http://schemas.microsoft.com/office/drawing/2014/main" id="{F86AFFE6-590D-4111-BA1D-689B1B436B56}"/>
              </a:ext>
            </a:extLst>
          </p:cNvPr>
          <p:cNvSpPr>
            <a:spLocks xmlns:a="http://schemas.openxmlformats.org/drawingml/2006/main" noGrp="1"/>
          </p:cNvSpPr>
          <p:nvPr/>
        </p:nvSpPr>
        <p:spPr>
          <a:xfrm xmlns:a="http://schemas.openxmlformats.org/drawingml/2006/main">
            <a:off x="7886700" y="510540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Primero: calcular línea base comparable. Luego: fijar target.</a:t>
            </a:r>
          </a:p>
        </p:txBody>
      </p:sp>
      <p:sp>
        <p:nvSpPr>
          <p:cNvPr id="32" name="">
            <a:extLst xmlns:a="http://schemas.openxmlformats.org/drawingml/2006/main">
              <a:ext uri="{FF2B5EF4-FFF2-40B4-BE49-F238E27FC236}">
                <a16:creationId xmlns:a16="http://schemas.microsoft.com/office/drawing/2014/main" id="{D55139A5-2037-494B-B8EE-76AEE8004518}"/>
              </a:ext>
            </a:extLst>
          </p:cNvPr>
          <p:cNvSpPr>
            <a:spLocks xmlns:a="http://schemas.openxmlformats.org/drawingml/2006/main" noGrp="1"/>
          </p:cNvSpPr>
          <p:nvPr/>
        </p:nvSpPr>
        <p:spPr>
          <a:xfrm xmlns:a="http://schemas.openxmlformats.org/drawingml/2006/main">
            <a:off x="2286000" y="5562600"/>
            <a:ext cx="891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F6F7C"/>
                </a:solidFill>
                <a:latin typeface="DejaVu Sans"/>
                <a:ea typeface="DejaVu Sans"/>
                <a:cs typeface="DejaVu Sans"/>
              </a:defRPr>
            </a:pPr>
            <a:r>
              <a:rPr sz="1050" b="0">
                <a:solidFill>
                  <a:srgbClr val="5F6F7C"/>
                </a:solidFill>
                <a:latin typeface="DejaVu Sans"/>
                <a:ea typeface="DejaVu Sans"/>
                <a:cs typeface="DejaVu Sans"/>
              </a:rPr>
              <a:t>Leading: finalización · abandono por etapa · reingresos · tickets por saldo $0</a:t>
            </a:r>
          </a:p>
        </p:txBody>
      </p:sp>
      <p:sp>
        <p:nvSpPr>
          <p:cNvPr id="33" name="">
            <a:extLst xmlns:a="http://schemas.openxmlformats.org/drawingml/2006/main">
              <a:ext uri="{FF2B5EF4-FFF2-40B4-BE49-F238E27FC236}">
                <a16:creationId xmlns:a16="http://schemas.microsoft.com/office/drawing/2014/main" id="{6E100012-A3F8-4CF6-BEB2-547DD67DB1AD}"/>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Definición ejecutiva actualizada. La meta porcentual final depende de una línea base de cohortes comparable.</a:t>
            </a:r>
          </a:p>
        </p:txBody>
      </p:sp>
    </p:spTree>
    <p:extLst>
      <p:ext uri="{BB962C8B-B14F-4D97-AF65-F5344CB8AC3E}">
        <p14:creationId xmlns:p14="http://schemas.microsoft.com/office/powerpoint/2010/main" val="1965738044"/>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C79960-8F4D-4C7F-B5F8-8D5CEA5FB71F}"/>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STAKEHOLDERS</a:t>
            </a:r>
          </a:p>
        </p:txBody>
      </p:sp>
      <p:sp>
        <p:nvSpPr>
          <p:cNvPr id="2" name="">
            <a:extLst xmlns:a="http://schemas.openxmlformats.org/drawingml/2006/main">
              <a:ext uri="{FF2B5EF4-FFF2-40B4-BE49-F238E27FC236}">
                <a16:creationId xmlns:a16="http://schemas.microsoft.com/office/drawing/2014/main" id="{631B57B5-171D-4723-879D-4CD50D3153B4}"/>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Cada área debe ver protegido su principal interés</a:t>
            </a:r>
          </a:p>
        </p:txBody>
      </p:sp>
      <p:sp>
        <p:nvSpPr>
          <p:cNvPr id="3" name="">
            <a:extLst xmlns:a="http://schemas.openxmlformats.org/drawingml/2006/main">
              <a:ext uri="{FF2B5EF4-FFF2-40B4-BE49-F238E27FC236}">
                <a16:creationId xmlns:a16="http://schemas.microsoft.com/office/drawing/2014/main" id="{F40D3D7A-E734-45C8-8ACC-72AF1FEF1641}"/>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FB0BD8B8-3B41-4815-AB67-C40D4B4661A4}"/>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07CABA56-5962-4A48-A862-F4A77497D553}"/>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TAMI</a:t>
            </a:r>
          </a:p>
        </p:txBody>
      </p:sp>
      <p:sp>
        <p:nvSpPr>
          <p:cNvPr id="6" name="">
            <a:extLst xmlns:a="http://schemas.openxmlformats.org/drawingml/2006/main">
              <a:ext uri="{FF2B5EF4-FFF2-40B4-BE49-F238E27FC236}">
                <a16:creationId xmlns:a16="http://schemas.microsoft.com/office/drawing/2014/main" id="{DF238E7B-BCDD-40BA-A52A-CC69452763BC}"/>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06</a:t>
            </a:r>
          </a:p>
        </p:txBody>
      </p:sp>
      <p:sp>
        <p:nvSpPr>
          <p:cNvPr id="7" name="">
            <a:extLst xmlns:a="http://schemas.openxmlformats.org/drawingml/2006/main">
              <a:ext uri="{FF2B5EF4-FFF2-40B4-BE49-F238E27FC236}">
                <a16:creationId xmlns:a16="http://schemas.microsoft.com/office/drawing/2014/main" id="{B265E57E-9D52-408F-A95D-49322B453590}"/>
              </a:ext>
            </a:extLst>
          </p:cNvPr>
          <p:cNvSpPr>
            <a:spLocks xmlns:a="http://schemas.openxmlformats.org/drawingml/2006/main" noGrp="1"/>
          </p:cNvSpPr>
          <p:nvPr/>
        </p:nvSpPr>
        <p:spPr>
          <a:xfrm xmlns:a="http://schemas.openxmlformats.org/drawingml/2006/main">
            <a:off x="1066800" y="1733550"/>
            <a:ext cx="3276600" cy="1924050"/>
          </a:xfrm>
          <a:prstGeom xmlns:a="http://schemas.openxmlformats.org/drawingml/2006/main" prst="rect">
            <a:avLst/>
          </a:prstGeom>
          <a:solidFill xmlns:a="http://schemas.openxmlformats.org/drawingml/2006/main">
            <a:srgbClr val="F7F9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927121-BA8B-406D-BD05-F2E0FB7468F1}"/>
              </a:ext>
            </a:extLst>
          </p:cNvPr>
          <p:cNvSpPr>
            <a:spLocks xmlns:a="http://schemas.openxmlformats.org/drawingml/2006/main" noGrp="1"/>
          </p:cNvSpPr>
          <p:nvPr/>
        </p:nvSpPr>
        <p:spPr>
          <a:xfrm xmlns:a="http://schemas.openxmlformats.org/drawingml/2006/main">
            <a:off x="4343400" y="1733550"/>
            <a:ext cx="3276600" cy="1924050"/>
          </a:xfrm>
          <a:prstGeom xmlns:a="http://schemas.openxmlformats.org/drawingml/2006/main" prst="rect">
            <a:avLst/>
          </a:prstGeom>
          <a:solidFill xmlns:a="http://schemas.openxmlformats.org/drawingml/2006/main">
            <a:srgbClr val="DDF5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D6464C-6D3C-4B18-BE17-7768F8431FE0}"/>
              </a:ext>
            </a:extLst>
          </p:cNvPr>
          <p:cNvSpPr>
            <a:spLocks xmlns:a="http://schemas.openxmlformats.org/drawingml/2006/main" noGrp="1"/>
          </p:cNvSpPr>
          <p:nvPr/>
        </p:nvSpPr>
        <p:spPr>
          <a:xfrm xmlns:a="http://schemas.openxmlformats.org/drawingml/2006/main">
            <a:off x="1066800" y="3657600"/>
            <a:ext cx="3276600" cy="1924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FA778C-02B4-4209-B87C-EEC4FFEE5AA9}"/>
              </a:ext>
            </a:extLst>
          </p:cNvPr>
          <p:cNvSpPr>
            <a:spLocks xmlns:a="http://schemas.openxmlformats.org/drawingml/2006/main" noGrp="1"/>
          </p:cNvSpPr>
          <p:nvPr/>
        </p:nvSpPr>
        <p:spPr>
          <a:xfrm xmlns:a="http://schemas.openxmlformats.org/drawingml/2006/main">
            <a:off x="4343400" y="3657600"/>
            <a:ext cx="3276600" cy="1924050"/>
          </a:xfrm>
          <a:prstGeom xmlns:a="http://schemas.openxmlformats.org/drawingml/2006/main" prst="rect">
            <a:avLst/>
          </a:prstGeom>
          <a:solidFill xmlns:a="http://schemas.openxmlformats.org/drawingml/2006/main">
            <a:srgbClr val="EEF3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24AD8C-4D43-456B-B9FC-4DDBEE866B80}"/>
              </a:ext>
            </a:extLst>
          </p:cNvPr>
          <p:cNvSpPr>
            <a:spLocks xmlns:a="http://schemas.openxmlformats.org/drawingml/2006/main" noGrp="1"/>
          </p:cNvSpPr>
          <p:nvPr/>
        </p:nvSpPr>
        <p:spPr>
          <a:xfrm xmlns:a="http://schemas.openxmlformats.org/drawingml/2006/main">
            <a:off x="1066800" y="3657600"/>
            <a:ext cx="6553200" cy="0"/>
          </a:xfrm>
          <a:prstGeom xmlns:a="http://schemas.openxmlformats.org/drawingml/2006/main" prst="line">
            <a:avLst/>
          </a:prstGeom>
          <a:noFill xmlns:a="http://schemas.openxmlformats.org/drawingml/2006/main"/>
          <a:ln xmlns:a="http://schemas.openxmlformats.org/drawingml/2006/main" w="19050">
            <a:solidFill>
              <a:srgbClr val="D9E2E8"/>
            </a:solidFill>
            <a:prstDash val="solid"/>
          </a:ln>
        </p:spPr>
      </p:sp>
      <p:sp>
        <p:nvSpPr>
          <p:cNvPr id="12" name="">
            <a:extLst xmlns:a="http://schemas.openxmlformats.org/drawingml/2006/main">
              <a:ext uri="{FF2B5EF4-FFF2-40B4-BE49-F238E27FC236}">
                <a16:creationId xmlns:a16="http://schemas.microsoft.com/office/drawing/2014/main" id="{CF1CFDE8-CC16-49FD-921E-B3F6AE4861CB}"/>
              </a:ext>
            </a:extLst>
          </p:cNvPr>
          <p:cNvSpPr>
            <a:spLocks xmlns:a="http://schemas.openxmlformats.org/drawingml/2006/main" noGrp="1"/>
          </p:cNvSpPr>
          <p:nvPr/>
        </p:nvSpPr>
        <p:spPr>
          <a:xfrm xmlns:a="http://schemas.openxmlformats.org/drawingml/2006/main">
            <a:off x="4343400" y="1733550"/>
            <a:ext cx="0" cy="3848100"/>
          </a:xfrm>
          <a:prstGeom xmlns:a="http://schemas.openxmlformats.org/drawingml/2006/main" prst="line">
            <a:avLst/>
          </a:prstGeom>
          <a:noFill xmlns:a="http://schemas.openxmlformats.org/drawingml/2006/main"/>
          <a:ln xmlns:a="http://schemas.openxmlformats.org/drawingml/2006/main" w="19050">
            <a:solidFill>
              <a:srgbClr val="D9E2E8"/>
            </a:solidFill>
            <a:prstDash val="solid"/>
          </a:ln>
        </p:spPr>
      </p:sp>
      <p:sp>
        <p:nvSpPr>
          <p:cNvPr id="13" name="">
            <a:extLst xmlns:a="http://schemas.openxmlformats.org/drawingml/2006/main">
              <a:ext uri="{FF2B5EF4-FFF2-40B4-BE49-F238E27FC236}">
                <a16:creationId xmlns:a16="http://schemas.microsoft.com/office/drawing/2014/main" id="{02F60049-278F-465F-973B-307BB3988CE5}"/>
              </a:ext>
            </a:extLst>
          </p:cNvPr>
          <p:cNvSpPr>
            <a:spLocks xmlns:a="http://schemas.openxmlformats.org/drawingml/2006/main" noGrp="1"/>
          </p:cNvSpPr>
          <p:nvPr/>
        </p:nvSpPr>
        <p:spPr>
          <a:xfrm xmlns:a="http://schemas.openxmlformats.org/drawingml/2006/main">
            <a:off x="1066800" y="5581650"/>
            <a:ext cx="6553200" cy="0"/>
          </a:xfrm>
          <a:prstGeom xmlns:a="http://schemas.openxmlformats.org/drawingml/2006/main" prst="line">
            <a:avLst/>
          </a:prstGeom>
          <a:noFill xmlns:a="http://schemas.openxmlformats.org/drawingml/2006/main"/>
          <a:ln xmlns:a="http://schemas.openxmlformats.org/drawingml/2006/main" w="19050">
            <a:solidFill>
              <a:srgbClr val="102A43"/>
            </a:solidFill>
            <a:prstDash val="solid"/>
          </a:ln>
        </p:spPr>
      </p:sp>
      <p:sp>
        <p:nvSpPr>
          <p:cNvPr id="14" name="">
            <a:extLst xmlns:a="http://schemas.openxmlformats.org/drawingml/2006/main">
              <a:ext uri="{FF2B5EF4-FFF2-40B4-BE49-F238E27FC236}">
                <a16:creationId xmlns:a16="http://schemas.microsoft.com/office/drawing/2014/main" id="{B18EAD6C-911C-4E0D-A400-52A3DCCFFBCB}"/>
              </a:ext>
            </a:extLst>
          </p:cNvPr>
          <p:cNvSpPr>
            <a:spLocks xmlns:a="http://schemas.openxmlformats.org/drawingml/2006/main" noGrp="1"/>
          </p:cNvSpPr>
          <p:nvPr/>
        </p:nvSpPr>
        <p:spPr>
          <a:xfrm xmlns:a="http://schemas.openxmlformats.org/drawingml/2006/main">
            <a:off x="1066800" y="1733550"/>
            <a:ext cx="0" cy="3848100"/>
          </a:xfrm>
          <a:prstGeom xmlns:a="http://schemas.openxmlformats.org/drawingml/2006/main" prst="line">
            <a:avLst/>
          </a:prstGeom>
          <a:noFill xmlns:a="http://schemas.openxmlformats.org/drawingml/2006/main"/>
          <a:ln xmlns:a="http://schemas.openxmlformats.org/drawingml/2006/main" w="19050">
            <a:solidFill>
              <a:srgbClr val="102A43"/>
            </a:solidFill>
            <a:prstDash val="solid"/>
          </a:ln>
        </p:spPr>
      </p:sp>
      <p:sp>
        <p:nvSpPr>
          <p:cNvPr id="15" name="">
            <a:extLst xmlns:a="http://schemas.openxmlformats.org/drawingml/2006/main">
              <a:ext uri="{FF2B5EF4-FFF2-40B4-BE49-F238E27FC236}">
                <a16:creationId xmlns:a16="http://schemas.microsoft.com/office/drawing/2014/main" id="{84704BFD-A487-4CF7-8559-F8A06D615478}"/>
              </a:ext>
            </a:extLst>
          </p:cNvPr>
          <p:cNvSpPr>
            <a:spLocks xmlns:a="http://schemas.openxmlformats.org/drawingml/2006/main" noGrp="1"/>
          </p:cNvSpPr>
          <p:nvPr/>
        </p:nvSpPr>
        <p:spPr>
          <a:xfrm xmlns:a="http://schemas.openxmlformats.org/drawingml/2006/main">
            <a:off x="1238250" y="18669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1">
                <a:solidFill>
                  <a:srgbClr val="82909B"/>
                </a:solidFill>
                <a:latin typeface="DejaVu Sans"/>
                <a:ea typeface="DejaVu Sans"/>
                <a:cs typeface="DejaVu Sans"/>
              </a:defRPr>
            </a:pPr>
            <a:r>
              <a:rPr sz="900" b="1">
                <a:solidFill>
                  <a:srgbClr val="82909B"/>
                </a:solidFill>
                <a:latin typeface="DejaVu Sans"/>
                <a:ea typeface="DejaVu Sans"/>
                <a:cs typeface="DejaVu Sans"/>
              </a:rPr>
              <a:t>MANTENER SATISFECHO</a:t>
            </a:r>
          </a:p>
        </p:txBody>
      </p:sp>
      <p:sp>
        <p:nvSpPr>
          <p:cNvPr id="16" name="">
            <a:extLst xmlns:a="http://schemas.openxmlformats.org/drawingml/2006/main">
              <a:ext uri="{FF2B5EF4-FFF2-40B4-BE49-F238E27FC236}">
                <a16:creationId xmlns:a16="http://schemas.microsoft.com/office/drawing/2014/main" id="{AAC13866-713A-4B0B-B906-EBE8E6C84A6A}"/>
              </a:ext>
            </a:extLst>
          </p:cNvPr>
          <p:cNvSpPr>
            <a:spLocks xmlns:a="http://schemas.openxmlformats.org/drawingml/2006/main" noGrp="1"/>
          </p:cNvSpPr>
          <p:nvPr/>
        </p:nvSpPr>
        <p:spPr>
          <a:xfrm xmlns:a="http://schemas.openxmlformats.org/drawingml/2006/main">
            <a:off x="4514850" y="18669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1">
                <a:solidFill>
                  <a:srgbClr val="007F79"/>
                </a:solidFill>
                <a:latin typeface="DejaVu Sans"/>
                <a:ea typeface="DejaVu Sans"/>
                <a:cs typeface="DejaVu Sans"/>
              </a:defRPr>
            </a:pPr>
            <a:r>
              <a:rPr sz="900" b="1">
                <a:solidFill>
                  <a:srgbClr val="007F79"/>
                </a:solidFill>
                <a:latin typeface="DejaVu Sans"/>
                <a:ea typeface="DejaVu Sans"/>
                <a:cs typeface="DejaVu Sans"/>
              </a:rPr>
              <a:t>GESTIONAR DE CERCA</a:t>
            </a:r>
          </a:p>
        </p:txBody>
      </p:sp>
      <p:sp>
        <p:nvSpPr>
          <p:cNvPr id="17" name="">
            <a:extLst xmlns:a="http://schemas.openxmlformats.org/drawingml/2006/main">
              <a:ext uri="{FF2B5EF4-FFF2-40B4-BE49-F238E27FC236}">
                <a16:creationId xmlns:a16="http://schemas.microsoft.com/office/drawing/2014/main" id="{0BD89CC3-343D-4185-BD12-E916EE288559}"/>
              </a:ext>
            </a:extLst>
          </p:cNvPr>
          <p:cNvSpPr>
            <a:spLocks xmlns:a="http://schemas.openxmlformats.org/drawingml/2006/main" noGrp="1"/>
          </p:cNvSpPr>
          <p:nvPr/>
        </p:nvSpPr>
        <p:spPr>
          <a:xfrm xmlns:a="http://schemas.openxmlformats.org/drawingml/2006/main">
            <a:off x="1238250" y="5219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1">
                <a:solidFill>
                  <a:srgbClr val="82909B"/>
                </a:solidFill>
                <a:latin typeface="DejaVu Sans"/>
                <a:ea typeface="DejaVu Sans"/>
                <a:cs typeface="DejaVu Sans"/>
              </a:defRPr>
            </a:pPr>
            <a:r>
              <a:rPr sz="900" b="1">
                <a:solidFill>
                  <a:srgbClr val="82909B"/>
                </a:solidFill>
                <a:latin typeface="DejaVu Sans"/>
                <a:ea typeface="DejaVu Sans"/>
                <a:cs typeface="DejaVu Sans"/>
              </a:rPr>
              <a:t>MONITOREAR</a:t>
            </a:r>
          </a:p>
        </p:txBody>
      </p:sp>
      <p:sp>
        <p:nvSpPr>
          <p:cNvPr id="18" name="">
            <a:extLst xmlns:a="http://schemas.openxmlformats.org/drawingml/2006/main">
              <a:ext uri="{FF2B5EF4-FFF2-40B4-BE49-F238E27FC236}">
                <a16:creationId xmlns:a16="http://schemas.microsoft.com/office/drawing/2014/main" id="{5C673339-F215-42FF-ABF9-E513DFF45DA5}"/>
              </a:ext>
            </a:extLst>
          </p:cNvPr>
          <p:cNvSpPr>
            <a:spLocks xmlns:a="http://schemas.openxmlformats.org/drawingml/2006/main" noGrp="1"/>
          </p:cNvSpPr>
          <p:nvPr/>
        </p:nvSpPr>
        <p:spPr>
          <a:xfrm xmlns:a="http://schemas.openxmlformats.org/drawingml/2006/main">
            <a:off x="5810250" y="52197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00" b="1">
                <a:solidFill>
                  <a:srgbClr val="82909B"/>
                </a:solidFill>
                <a:latin typeface="DejaVu Sans"/>
                <a:ea typeface="DejaVu Sans"/>
                <a:cs typeface="DejaVu Sans"/>
              </a:defRPr>
            </a:pPr>
            <a:r>
              <a:rPr sz="900" b="1">
                <a:solidFill>
                  <a:srgbClr val="82909B"/>
                </a:solidFill>
                <a:latin typeface="DejaVu Sans"/>
                <a:ea typeface="DejaVu Sans"/>
                <a:cs typeface="DejaVu Sans"/>
              </a:rPr>
              <a:t>MANTENER INFORMADO</a:t>
            </a:r>
          </a:p>
        </p:txBody>
      </p:sp>
      <p:sp>
        <p:nvSpPr>
          <p:cNvPr id="19" name="">
            <a:extLst xmlns:a="http://schemas.openxmlformats.org/drawingml/2006/main">
              <a:ext uri="{FF2B5EF4-FFF2-40B4-BE49-F238E27FC236}">
                <a16:creationId xmlns:a16="http://schemas.microsoft.com/office/drawing/2014/main" id="{3C67B510-443F-4BCC-9848-9A018488D439}"/>
              </a:ext>
            </a:extLst>
          </p:cNvPr>
          <p:cNvSpPr>
            <a:spLocks xmlns:a="http://schemas.openxmlformats.org/drawingml/2006/main" noGrp="1"/>
          </p:cNvSpPr>
          <p:nvPr/>
        </p:nvSpPr>
        <p:spPr>
          <a:xfrm xmlns:a="http://schemas.openxmlformats.org/drawingml/2006/main">
            <a:off x="5981700" y="569595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1">
                <a:solidFill>
                  <a:srgbClr val="102A43"/>
                </a:solidFill>
                <a:latin typeface="DejaVu Sans"/>
                <a:ea typeface="DejaVu Sans"/>
                <a:cs typeface="DejaVu Sans"/>
              </a:defRPr>
            </a:pPr>
            <a:r>
              <a:rPr sz="975" b="1">
                <a:solidFill>
                  <a:srgbClr val="102A43"/>
                </a:solidFill>
                <a:latin typeface="DejaVu Sans"/>
                <a:ea typeface="DejaVu Sans"/>
                <a:cs typeface="DejaVu Sans"/>
              </a:rPr>
              <a:t>INTERÉS  →</a:t>
            </a:r>
          </a:p>
        </p:txBody>
      </p:sp>
      <p:sp>
        <p:nvSpPr>
          <p:cNvPr id="20" name="">
            <a:extLst xmlns:a="http://schemas.openxmlformats.org/drawingml/2006/main">
              <a:ext uri="{FF2B5EF4-FFF2-40B4-BE49-F238E27FC236}">
                <a16:creationId xmlns:a16="http://schemas.microsoft.com/office/drawing/2014/main" id="{03FD354C-1348-4F89-ABF2-81ADFBE25BE0}"/>
              </a:ext>
            </a:extLst>
          </p:cNvPr>
          <p:cNvSpPr>
            <a:spLocks xmlns:a="http://schemas.openxmlformats.org/drawingml/2006/main" noGrp="1"/>
          </p:cNvSpPr>
          <p:nvPr/>
        </p:nvSpPr>
        <p:spPr>
          <a:xfrm xmlns:a="http://schemas.openxmlformats.org/drawingml/2006/main">
            <a:off x="1066800" y="1447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102A43"/>
                </a:solidFill>
                <a:latin typeface="DejaVu Sans"/>
                <a:ea typeface="DejaVu Sans"/>
                <a:cs typeface="DejaVu Sans"/>
              </a:defRPr>
            </a:pPr>
            <a:r>
              <a:rPr sz="975" b="1">
                <a:solidFill>
                  <a:srgbClr val="102A43"/>
                </a:solidFill>
                <a:latin typeface="DejaVu Sans"/>
                <a:ea typeface="DejaVu Sans"/>
                <a:cs typeface="DejaVu Sans"/>
              </a:rPr>
              <a:t>PODER ↑</a:t>
            </a:r>
          </a:p>
        </p:txBody>
      </p:sp>
      <p:sp>
        <p:nvSpPr>
          <p:cNvPr id="21" name="">
            <a:extLst xmlns:a="http://schemas.openxmlformats.org/drawingml/2006/main">
              <a:ext uri="{FF2B5EF4-FFF2-40B4-BE49-F238E27FC236}">
                <a16:creationId xmlns:a16="http://schemas.microsoft.com/office/drawing/2014/main" id="{5B9778AD-454D-4AE9-9925-8AFD2B543C64}"/>
              </a:ext>
            </a:extLst>
          </p:cNvPr>
          <p:cNvSpPr>
            <a:spLocks xmlns:a="http://schemas.openxmlformats.org/drawingml/2006/main" noGrp="1"/>
          </p:cNvSpPr>
          <p:nvPr/>
        </p:nvSpPr>
        <p:spPr>
          <a:xfrm xmlns:a="http://schemas.openxmlformats.org/drawingml/2006/main">
            <a:off x="2219325" y="2400300"/>
            <a:ext cx="1581150" cy="457200"/>
          </a:xfrm>
          <a:prstGeom xmlns:a="http://schemas.openxmlformats.org/drawingml/2006/main" prst="roundRect">
            <a:avLst>
              <a:gd name="adj" fmla="val 41667"/>
            </a:avLst>
          </a:prstGeom>
          <a:solidFill xmlns:a="http://schemas.openxmlformats.org/drawingml/2006/main">
            <a:srgbClr val="FBE8E5"/>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Riesgo +</a:t>
            </a:r>
          </a:p>
          <a:p xmlns:a="http://schemas.openxmlformats.org/drawingml/2006/main">
            <a:pPr algn="ctr">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Compliance</a:t>
            </a:r>
          </a:p>
        </p:txBody>
      </p:sp>
      <p:sp>
        <p:nvSpPr>
          <p:cNvPr id="22" name="">
            <a:extLst xmlns:a="http://schemas.openxmlformats.org/drawingml/2006/main">
              <a:ext uri="{FF2B5EF4-FFF2-40B4-BE49-F238E27FC236}">
                <a16:creationId xmlns:a16="http://schemas.microsoft.com/office/drawing/2014/main" id="{8A16B515-76DC-4940-BFCF-5ED86A040DFC}"/>
              </a:ext>
            </a:extLst>
          </p:cNvPr>
          <p:cNvSpPr>
            <a:spLocks xmlns:a="http://schemas.openxmlformats.org/drawingml/2006/main" noGrp="1"/>
          </p:cNvSpPr>
          <p:nvPr/>
        </p:nvSpPr>
        <p:spPr>
          <a:xfrm xmlns:a="http://schemas.openxmlformats.org/drawingml/2006/main">
            <a:off x="5191125" y="2190750"/>
            <a:ext cx="1238250" cy="457200"/>
          </a:xfrm>
          <a:prstGeom xmlns:a="http://schemas.openxmlformats.org/drawingml/2006/main" prst="roundRect">
            <a:avLst>
              <a:gd name="adj" fmla="val 41667"/>
            </a:avLst>
          </a:prstGeom>
          <a:solidFill xmlns:a="http://schemas.openxmlformats.org/drawingml/2006/main">
            <a:srgbClr val="102A43"/>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CFO</a:t>
            </a:r>
          </a:p>
        </p:txBody>
      </p:sp>
      <p:sp>
        <p:nvSpPr>
          <p:cNvPr id="23" name="">
            <a:extLst xmlns:a="http://schemas.openxmlformats.org/drawingml/2006/main">
              <a:ext uri="{FF2B5EF4-FFF2-40B4-BE49-F238E27FC236}">
                <a16:creationId xmlns:a16="http://schemas.microsoft.com/office/drawing/2014/main" id="{4A5FD947-B7F3-4ECD-9C09-82939BD3248B}"/>
              </a:ext>
            </a:extLst>
          </p:cNvPr>
          <p:cNvSpPr>
            <a:spLocks xmlns:a="http://schemas.openxmlformats.org/drawingml/2006/main" noGrp="1"/>
          </p:cNvSpPr>
          <p:nvPr/>
        </p:nvSpPr>
        <p:spPr>
          <a:xfrm xmlns:a="http://schemas.openxmlformats.org/drawingml/2006/main">
            <a:off x="5810250" y="2876550"/>
            <a:ext cx="1428750" cy="457200"/>
          </a:xfrm>
          <a:prstGeom xmlns:a="http://schemas.openxmlformats.org/drawingml/2006/main" prst="roundRect">
            <a:avLst>
              <a:gd name="adj" fmla="val 41667"/>
            </a:avLst>
          </a:prstGeom>
          <a:solidFill xmlns:a="http://schemas.openxmlformats.org/drawingml/2006/main">
            <a:srgbClr val="00A7A0"/>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Directorio</a:t>
            </a:r>
          </a:p>
        </p:txBody>
      </p:sp>
      <p:sp>
        <p:nvSpPr>
          <p:cNvPr id="24" name="">
            <a:extLst xmlns:a="http://schemas.openxmlformats.org/drawingml/2006/main">
              <a:ext uri="{FF2B5EF4-FFF2-40B4-BE49-F238E27FC236}">
                <a16:creationId xmlns:a16="http://schemas.microsoft.com/office/drawing/2014/main" id="{F474CB45-E9E5-444E-9799-D66E12D3FC62}"/>
              </a:ext>
            </a:extLst>
          </p:cNvPr>
          <p:cNvSpPr>
            <a:spLocks xmlns:a="http://schemas.openxmlformats.org/drawingml/2006/main" noGrp="1"/>
          </p:cNvSpPr>
          <p:nvPr/>
        </p:nvSpPr>
        <p:spPr>
          <a:xfrm xmlns:a="http://schemas.openxmlformats.org/drawingml/2006/main">
            <a:off x="5076825" y="3752850"/>
            <a:ext cx="1657350" cy="457200"/>
          </a:xfrm>
          <a:prstGeom xmlns:a="http://schemas.openxmlformats.org/drawingml/2006/main" prst="roundRect">
            <a:avLst>
              <a:gd name="adj" fmla="val 41667"/>
            </a:avLst>
          </a:prstGeom>
          <a:solidFill xmlns:a="http://schemas.openxmlformats.org/drawingml/2006/main">
            <a:srgbClr val="FFFFFF"/>
          </a:solidFill>
          <a:ln xmlns:a="http://schemas.openxmlformats.org/drawingml/2006/main" w="9525">
            <a:solidFill>
              <a:srgbClr val="D9E2E8"/>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02A43"/>
                </a:solidFill>
                <a:latin typeface="DejaVu Sans"/>
                <a:ea typeface="DejaVu Sans"/>
                <a:cs typeface="DejaVu Sans"/>
              </a:defRPr>
            </a:pPr>
            <a:r>
              <a:rPr sz="1050" b="1">
                <a:solidFill>
                  <a:srgbClr val="102A43"/>
                </a:solidFill>
                <a:latin typeface="DejaVu Sans"/>
                <a:ea typeface="DejaVu Sans"/>
                <a:cs typeface="DejaVu Sans"/>
              </a:rPr>
              <a:t>Tecnología</a:t>
            </a:r>
          </a:p>
        </p:txBody>
      </p:sp>
      <p:sp>
        <p:nvSpPr>
          <p:cNvPr id="25" name="">
            <a:extLst xmlns:a="http://schemas.openxmlformats.org/drawingml/2006/main">
              <a:ext uri="{FF2B5EF4-FFF2-40B4-BE49-F238E27FC236}">
                <a16:creationId xmlns:a16="http://schemas.microsoft.com/office/drawing/2014/main" id="{BC78EC12-9036-45AA-ABE0-107C90937F80}"/>
              </a:ext>
            </a:extLst>
          </p:cNvPr>
          <p:cNvSpPr>
            <a:spLocks xmlns:a="http://schemas.openxmlformats.org/drawingml/2006/main" noGrp="1"/>
          </p:cNvSpPr>
          <p:nvPr/>
        </p:nvSpPr>
        <p:spPr>
          <a:xfrm xmlns:a="http://schemas.openxmlformats.org/drawingml/2006/main">
            <a:off x="4457700" y="4229100"/>
            <a:ext cx="1143000" cy="457200"/>
          </a:xfrm>
          <a:prstGeom xmlns:a="http://schemas.openxmlformats.org/drawingml/2006/main" prst="roundRect">
            <a:avLst>
              <a:gd name="adj" fmla="val 41667"/>
            </a:avLst>
          </a:prstGeom>
          <a:solidFill xmlns:a="http://schemas.openxmlformats.org/drawingml/2006/main">
            <a:srgbClr val="FFFFFF"/>
          </a:solidFill>
          <a:ln xmlns:a="http://schemas.openxmlformats.org/drawingml/2006/main" w="9525">
            <a:solidFill>
              <a:srgbClr val="D9E2E8"/>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102A43"/>
                </a:solidFill>
                <a:latin typeface="DejaVu Sans"/>
                <a:ea typeface="DejaVu Sans"/>
                <a:cs typeface="DejaVu Sans"/>
              </a:defRPr>
            </a:pPr>
            <a:r>
              <a:rPr sz="1050" b="1">
                <a:solidFill>
                  <a:srgbClr val="102A43"/>
                </a:solidFill>
                <a:latin typeface="DejaVu Sans"/>
                <a:ea typeface="DejaVu Sans"/>
                <a:cs typeface="DejaVu Sans"/>
              </a:rPr>
              <a:t>CX</a:t>
            </a:r>
          </a:p>
        </p:txBody>
      </p:sp>
      <p:sp>
        <p:nvSpPr>
          <p:cNvPr id="26" name="">
            <a:extLst xmlns:a="http://schemas.openxmlformats.org/drawingml/2006/main">
              <a:ext uri="{FF2B5EF4-FFF2-40B4-BE49-F238E27FC236}">
                <a16:creationId xmlns:a16="http://schemas.microsoft.com/office/drawing/2014/main" id="{862E4CAB-4A1C-41AA-8766-1493CE85736E}"/>
              </a:ext>
            </a:extLst>
          </p:cNvPr>
          <p:cNvSpPr>
            <a:spLocks xmlns:a="http://schemas.openxmlformats.org/drawingml/2006/main" noGrp="1"/>
          </p:cNvSpPr>
          <p:nvPr/>
        </p:nvSpPr>
        <p:spPr>
          <a:xfrm xmlns:a="http://schemas.openxmlformats.org/drawingml/2006/main">
            <a:off x="6029325" y="4533900"/>
            <a:ext cx="1428750" cy="457200"/>
          </a:xfrm>
          <a:prstGeom xmlns:a="http://schemas.openxmlformats.org/drawingml/2006/main" prst="roundRect">
            <a:avLst>
              <a:gd name="adj" fmla="val 41667"/>
            </a:avLst>
          </a:prstGeom>
          <a:solidFill xmlns:a="http://schemas.openxmlformats.org/drawingml/2006/main">
            <a:srgbClr val="FFFFFF"/>
          </a:solidFill>
          <a:ln xmlns:a="http://schemas.openxmlformats.org/drawingml/2006/main" w="9525">
            <a:solidFill>
              <a:srgbClr val="D9E2E8"/>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5F6F7C"/>
                </a:solidFill>
                <a:latin typeface="DejaVu Sans"/>
                <a:ea typeface="DejaVu Sans"/>
                <a:cs typeface="DejaVu Sans"/>
              </a:defRPr>
            </a:pPr>
            <a:r>
              <a:rPr sz="1050" b="1">
                <a:solidFill>
                  <a:srgbClr val="5F6F7C"/>
                </a:solidFill>
                <a:latin typeface="DejaVu Sans"/>
                <a:ea typeface="DejaVu Sans"/>
                <a:cs typeface="DejaVu Sans"/>
              </a:rPr>
              <a:t>Operaciones</a:t>
            </a:r>
          </a:p>
        </p:txBody>
      </p:sp>
      <p:sp>
        <p:nvSpPr>
          <p:cNvPr id="27" name="">
            <a:extLst xmlns:a="http://schemas.openxmlformats.org/drawingml/2006/main">
              <a:ext uri="{FF2B5EF4-FFF2-40B4-BE49-F238E27FC236}">
                <a16:creationId xmlns:a16="http://schemas.microsoft.com/office/drawing/2014/main" id="{23FDB113-E906-4885-A762-485AC6817A63}"/>
              </a:ext>
            </a:extLst>
          </p:cNvPr>
          <p:cNvSpPr>
            <a:spLocks xmlns:a="http://schemas.openxmlformats.org/drawingml/2006/main" noGrp="1"/>
          </p:cNvSpPr>
          <p:nvPr/>
        </p:nvSpPr>
        <p:spPr>
          <a:xfrm xmlns:a="http://schemas.openxmlformats.org/drawingml/2006/main">
            <a:off x="4181475" y="4686300"/>
            <a:ext cx="1733550" cy="457200"/>
          </a:xfrm>
          <a:prstGeom xmlns:a="http://schemas.openxmlformats.org/drawingml/2006/main" prst="roundRect">
            <a:avLst>
              <a:gd name="adj" fmla="val 41667"/>
            </a:avLst>
          </a:prstGeom>
          <a:solidFill xmlns:a="http://schemas.openxmlformats.org/drawingml/2006/main">
            <a:srgbClr val="FFF2D8"/>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D99B35"/>
                </a:solidFill>
                <a:latin typeface="DejaVu Sans"/>
                <a:ea typeface="DejaVu Sans"/>
                <a:cs typeface="DejaVu Sans"/>
              </a:defRPr>
            </a:pPr>
            <a:r>
              <a:rPr sz="1050" b="1">
                <a:solidFill>
                  <a:srgbClr val="D99B35"/>
                </a:solidFill>
                <a:latin typeface="DejaVu Sans"/>
                <a:ea typeface="DejaVu Sans"/>
                <a:cs typeface="DejaVu Sans"/>
              </a:rPr>
              <a:t>Usuarios Sub-30</a:t>
            </a:r>
          </a:p>
        </p:txBody>
      </p:sp>
      <p:sp>
        <p:nvSpPr>
          <p:cNvPr id="28" name="">
            <a:extLst xmlns:a="http://schemas.openxmlformats.org/drawingml/2006/main">
              <a:ext uri="{FF2B5EF4-FFF2-40B4-BE49-F238E27FC236}">
                <a16:creationId xmlns:a16="http://schemas.microsoft.com/office/drawing/2014/main" id="{9F7AB613-2EA4-40D8-B6DE-DBBED6D6BBC0}"/>
              </a:ext>
            </a:extLst>
          </p:cNvPr>
          <p:cNvSpPr>
            <a:spLocks xmlns:a="http://schemas.openxmlformats.org/drawingml/2006/main" noGrp="1"/>
          </p:cNvSpPr>
          <p:nvPr/>
        </p:nvSpPr>
        <p:spPr>
          <a:xfrm xmlns:a="http://schemas.openxmlformats.org/drawingml/2006/main">
            <a:off x="8096250" y="1752600"/>
            <a:ext cx="3409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POLÍTICA DE INVOLUCRAMIENTO</a:t>
            </a:r>
          </a:p>
        </p:txBody>
      </p:sp>
      <p:sp>
        <p:nvSpPr>
          <p:cNvPr id="29" name="">
            <a:extLst xmlns:a="http://schemas.openxmlformats.org/drawingml/2006/main">
              <a:ext uri="{FF2B5EF4-FFF2-40B4-BE49-F238E27FC236}">
                <a16:creationId xmlns:a16="http://schemas.microsoft.com/office/drawing/2014/main" id="{A1B38432-063F-4A60-8195-0CE34CD996AB}"/>
              </a:ext>
            </a:extLst>
          </p:cNvPr>
          <p:cNvSpPr>
            <a:spLocks xmlns:a="http://schemas.openxmlformats.org/drawingml/2006/main" noGrp="1"/>
          </p:cNvSpPr>
          <p:nvPr/>
        </p:nvSpPr>
        <p:spPr>
          <a:xfrm xmlns:a="http://schemas.openxmlformats.org/drawingml/2006/main">
            <a:off x="8096250" y="2238375"/>
            <a:ext cx="3409950" cy="0"/>
          </a:xfrm>
          <a:prstGeom xmlns:a="http://schemas.openxmlformats.org/drawingml/2006/main" prst="line">
            <a:avLst/>
          </a:prstGeom>
          <a:noFill xmlns:a="http://schemas.openxmlformats.org/drawingml/2006/main"/>
          <a:ln xmlns:a="http://schemas.openxmlformats.org/drawingml/2006/main" w="28575">
            <a:solidFill>
              <a:srgbClr val="E86A5B"/>
            </a:solidFill>
            <a:prstDash val="solid"/>
          </a:ln>
        </p:spPr>
      </p:sp>
      <p:sp>
        <p:nvSpPr>
          <p:cNvPr id="30" name="">
            <a:extLst xmlns:a="http://schemas.openxmlformats.org/drawingml/2006/main">
              <a:ext uri="{FF2B5EF4-FFF2-40B4-BE49-F238E27FC236}">
                <a16:creationId xmlns:a16="http://schemas.microsoft.com/office/drawing/2014/main" id="{A664D882-6349-4B37-97B7-2D73F086F0B3}"/>
              </a:ext>
            </a:extLst>
          </p:cNvPr>
          <p:cNvSpPr>
            <a:spLocks xmlns:a="http://schemas.openxmlformats.org/drawingml/2006/main" noGrp="1"/>
          </p:cNvSpPr>
          <p:nvPr/>
        </p:nvSpPr>
        <p:spPr>
          <a:xfrm xmlns:a="http://schemas.openxmlformats.org/drawingml/2006/main">
            <a:off x="8096250" y="23622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E86A5B"/>
                </a:solidFill>
                <a:latin typeface="DejaVu Sans"/>
                <a:ea typeface="DejaVu Sans"/>
                <a:cs typeface="DejaVu Sans"/>
              </a:defRPr>
            </a:pPr>
            <a:r>
              <a:rPr sz="1200" b="1">
                <a:solidFill>
                  <a:srgbClr val="E86A5B"/>
                </a:solidFill>
                <a:latin typeface="DejaVu Sans"/>
                <a:ea typeface="DejaVu Sans"/>
                <a:cs typeface="DejaVu Sans"/>
              </a:rPr>
              <a:t>Riesgo</a:t>
            </a:r>
          </a:p>
        </p:txBody>
      </p:sp>
      <p:sp>
        <p:nvSpPr>
          <p:cNvPr id="31" name="">
            <a:extLst xmlns:a="http://schemas.openxmlformats.org/drawingml/2006/main">
              <a:ext uri="{FF2B5EF4-FFF2-40B4-BE49-F238E27FC236}">
                <a16:creationId xmlns:a16="http://schemas.microsoft.com/office/drawing/2014/main" id="{39387FF8-F88C-4BB5-BE83-9A518B0A6DBA}"/>
              </a:ext>
            </a:extLst>
          </p:cNvPr>
          <p:cNvSpPr>
            <a:spLocks xmlns:a="http://schemas.openxmlformats.org/drawingml/2006/main" noGrp="1"/>
          </p:cNvSpPr>
          <p:nvPr/>
        </p:nvSpPr>
        <p:spPr>
          <a:xfrm xmlns:a="http://schemas.openxmlformats.org/drawingml/2006/main">
            <a:off x="9144000" y="2324100"/>
            <a:ext cx="2362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557"/>
          </a:bodyPr>
          <a:lstStyle xmlns:a="http://schemas.openxmlformats.org/drawingml/2006/main"/>
          <a:p xmlns:a="http://schemas.openxmlformats.org/drawingml/2006/main">
            <a:pPr algn="l">
              <a:lnSpc>
                <a:spcPct val="112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Coautor de guardrails; veto acotado a incumplimientos definidos.</a:t>
            </a:r>
          </a:p>
        </p:txBody>
      </p:sp>
      <p:sp>
        <p:nvSpPr>
          <p:cNvPr id="32" name="">
            <a:extLst xmlns:a="http://schemas.openxmlformats.org/drawingml/2006/main">
              <a:ext uri="{FF2B5EF4-FFF2-40B4-BE49-F238E27FC236}">
                <a16:creationId xmlns:a16="http://schemas.microsoft.com/office/drawing/2014/main" id="{F24285B5-46FD-4639-96C9-CDB25CC36788}"/>
              </a:ext>
            </a:extLst>
          </p:cNvPr>
          <p:cNvSpPr>
            <a:spLocks xmlns:a="http://schemas.openxmlformats.org/drawingml/2006/main" noGrp="1"/>
          </p:cNvSpPr>
          <p:nvPr/>
        </p:nvSpPr>
        <p:spPr>
          <a:xfrm xmlns:a="http://schemas.openxmlformats.org/drawingml/2006/main">
            <a:off x="8096250" y="3076575"/>
            <a:ext cx="340995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33" name="">
            <a:extLst xmlns:a="http://schemas.openxmlformats.org/drawingml/2006/main">
              <a:ext uri="{FF2B5EF4-FFF2-40B4-BE49-F238E27FC236}">
                <a16:creationId xmlns:a16="http://schemas.microsoft.com/office/drawing/2014/main" id="{D102153E-9C70-4B60-A58A-9C7D20DC8C5E}"/>
              </a:ext>
            </a:extLst>
          </p:cNvPr>
          <p:cNvSpPr>
            <a:spLocks xmlns:a="http://schemas.openxmlformats.org/drawingml/2006/main" noGrp="1"/>
          </p:cNvSpPr>
          <p:nvPr/>
        </p:nvSpPr>
        <p:spPr>
          <a:xfrm xmlns:a="http://schemas.openxmlformats.org/drawingml/2006/main">
            <a:off x="8096250" y="32004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A43"/>
                </a:solidFill>
                <a:latin typeface="DejaVu Sans"/>
                <a:ea typeface="DejaVu Sans"/>
                <a:cs typeface="DejaVu Sans"/>
              </a:defRPr>
            </a:pPr>
            <a:r>
              <a:rPr sz="1200" b="1">
                <a:solidFill>
                  <a:srgbClr val="102A43"/>
                </a:solidFill>
                <a:latin typeface="DejaVu Sans"/>
                <a:ea typeface="DejaVu Sans"/>
                <a:cs typeface="DejaVu Sans"/>
              </a:rPr>
              <a:t>CFO</a:t>
            </a:r>
          </a:p>
        </p:txBody>
      </p:sp>
      <p:sp>
        <p:nvSpPr>
          <p:cNvPr id="34" name="">
            <a:extLst xmlns:a="http://schemas.openxmlformats.org/drawingml/2006/main">
              <a:ext uri="{FF2B5EF4-FFF2-40B4-BE49-F238E27FC236}">
                <a16:creationId xmlns:a16="http://schemas.microsoft.com/office/drawing/2014/main" id="{E1267F37-3F07-4DA9-A6FC-39E1A2D5122B}"/>
              </a:ext>
            </a:extLst>
          </p:cNvPr>
          <p:cNvSpPr>
            <a:spLocks xmlns:a="http://schemas.openxmlformats.org/drawingml/2006/main" noGrp="1"/>
          </p:cNvSpPr>
          <p:nvPr/>
        </p:nvSpPr>
        <p:spPr>
          <a:xfrm xmlns:a="http://schemas.openxmlformats.org/drawingml/2006/main">
            <a:off x="9144000" y="3162300"/>
            <a:ext cx="2362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Business case, tablero diario y regla stop/go.</a:t>
            </a:r>
          </a:p>
        </p:txBody>
      </p:sp>
      <p:sp>
        <p:nvSpPr>
          <p:cNvPr id="35" name="">
            <a:extLst xmlns:a="http://schemas.openxmlformats.org/drawingml/2006/main">
              <a:ext uri="{FF2B5EF4-FFF2-40B4-BE49-F238E27FC236}">
                <a16:creationId xmlns:a16="http://schemas.microsoft.com/office/drawing/2014/main" id="{0B8DFE84-EEC7-499D-A2D1-97DD049C384B}"/>
              </a:ext>
            </a:extLst>
          </p:cNvPr>
          <p:cNvSpPr>
            <a:spLocks xmlns:a="http://schemas.openxmlformats.org/drawingml/2006/main" noGrp="1"/>
          </p:cNvSpPr>
          <p:nvPr/>
        </p:nvSpPr>
        <p:spPr>
          <a:xfrm xmlns:a="http://schemas.openxmlformats.org/drawingml/2006/main">
            <a:off x="8096250" y="3914775"/>
            <a:ext cx="340995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36" name="">
            <a:extLst xmlns:a="http://schemas.openxmlformats.org/drawingml/2006/main">
              <a:ext uri="{FF2B5EF4-FFF2-40B4-BE49-F238E27FC236}">
                <a16:creationId xmlns:a16="http://schemas.microsoft.com/office/drawing/2014/main" id="{EE839C84-A44A-4505-982D-62897353856B}"/>
              </a:ext>
            </a:extLst>
          </p:cNvPr>
          <p:cNvSpPr>
            <a:spLocks xmlns:a="http://schemas.openxmlformats.org/drawingml/2006/main" noGrp="1"/>
          </p:cNvSpPr>
          <p:nvPr/>
        </p:nvSpPr>
        <p:spPr>
          <a:xfrm xmlns:a="http://schemas.openxmlformats.org/drawingml/2006/main">
            <a:off x="8096250" y="40386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A43"/>
                </a:solidFill>
                <a:latin typeface="DejaVu Sans"/>
                <a:ea typeface="DejaVu Sans"/>
                <a:cs typeface="DejaVu Sans"/>
              </a:defRPr>
            </a:pPr>
            <a:r>
              <a:rPr sz="1200" b="1">
                <a:solidFill>
                  <a:srgbClr val="102A43"/>
                </a:solidFill>
                <a:latin typeface="DejaVu Sans"/>
                <a:ea typeface="DejaVu Sans"/>
                <a:cs typeface="DejaVu Sans"/>
              </a:rPr>
              <a:t>Tecnología</a:t>
            </a:r>
          </a:p>
        </p:txBody>
      </p:sp>
      <p:sp>
        <p:nvSpPr>
          <p:cNvPr id="37" name="">
            <a:extLst xmlns:a="http://schemas.openxmlformats.org/drawingml/2006/main">
              <a:ext uri="{FF2B5EF4-FFF2-40B4-BE49-F238E27FC236}">
                <a16:creationId xmlns:a16="http://schemas.microsoft.com/office/drawing/2014/main" id="{A0A769C9-FADA-4F89-AD75-863A3A4A740E}"/>
              </a:ext>
            </a:extLst>
          </p:cNvPr>
          <p:cNvSpPr>
            <a:spLocks xmlns:a="http://schemas.openxmlformats.org/drawingml/2006/main" noGrp="1"/>
          </p:cNvSpPr>
          <p:nvPr/>
        </p:nvSpPr>
        <p:spPr>
          <a:xfrm xmlns:a="http://schemas.openxmlformats.org/drawingml/2006/main">
            <a:off x="9144000" y="4000500"/>
            <a:ext cx="2362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Contrato de estados, fallback y límites del core.</a:t>
            </a:r>
          </a:p>
        </p:txBody>
      </p:sp>
      <p:sp>
        <p:nvSpPr>
          <p:cNvPr id="38" name="">
            <a:extLst xmlns:a="http://schemas.openxmlformats.org/drawingml/2006/main">
              <a:ext uri="{FF2B5EF4-FFF2-40B4-BE49-F238E27FC236}">
                <a16:creationId xmlns:a16="http://schemas.microsoft.com/office/drawing/2014/main" id="{73D6CF16-2774-4CCA-A18F-97FB2F5D2B88}"/>
              </a:ext>
            </a:extLst>
          </p:cNvPr>
          <p:cNvSpPr>
            <a:spLocks xmlns:a="http://schemas.openxmlformats.org/drawingml/2006/main" noGrp="1"/>
          </p:cNvSpPr>
          <p:nvPr/>
        </p:nvSpPr>
        <p:spPr>
          <a:xfrm xmlns:a="http://schemas.openxmlformats.org/drawingml/2006/main">
            <a:off x="8096250" y="4752975"/>
            <a:ext cx="340995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39" name="">
            <a:extLst xmlns:a="http://schemas.openxmlformats.org/drawingml/2006/main">
              <a:ext uri="{FF2B5EF4-FFF2-40B4-BE49-F238E27FC236}">
                <a16:creationId xmlns:a16="http://schemas.microsoft.com/office/drawing/2014/main" id="{83FA8512-EDCB-4CA6-B65C-DEDA10BF10F7}"/>
              </a:ext>
            </a:extLst>
          </p:cNvPr>
          <p:cNvSpPr>
            <a:spLocks xmlns:a="http://schemas.openxmlformats.org/drawingml/2006/main" noGrp="1"/>
          </p:cNvSpPr>
          <p:nvPr/>
        </p:nvSpPr>
        <p:spPr>
          <a:xfrm xmlns:a="http://schemas.openxmlformats.org/drawingml/2006/main">
            <a:off x="8096250" y="4876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1">
                <a:solidFill>
                  <a:srgbClr val="102A43"/>
                </a:solidFill>
                <a:latin typeface="DejaVu Sans"/>
                <a:ea typeface="DejaVu Sans"/>
                <a:cs typeface="DejaVu Sans"/>
              </a:defRPr>
            </a:pPr>
            <a:r>
              <a:rPr sz="1200" b="1">
                <a:solidFill>
                  <a:srgbClr val="102A43"/>
                </a:solidFill>
                <a:latin typeface="DejaVu Sans"/>
                <a:ea typeface="DejaVu Sans"/>
                <a:cs typeface="DejaVu Sans"/>
              </a:rPr>
              <a:t>CX</a:t>
            </a:r>
          </a:p>
        </p:txBody>
      </p:sp>
      <p:sp>
        <p:nvSpPr>
          <p:cNvPr id="40" name="">
            <a:extLst xmlns:a="http://schemas.openxmlformats.org/drawingml/2006/main">
              <a:ext uri="{FF2B5EF4-FFF2-40B4-BE49-F238E27FC236}">
                <a16:creationId xmlns:a16="http://schemas.microsoft.com/office/drawing/2014/main" id="{B70A39BD-DEBF-4228-91BE-9CA2C02CED58}"/>
              </a:ext>
            </a:extLst>
          </p:cNvPr>
          <p:cNvSpPr>
            <a:spLocks xmlns:a="http://schemas.openxmlformats.org/drawingml/2006/main" noGrp="1"/>
          </p:cNvSpPr>
          <p:nvPr/>
        </p:nvSpPr>
        <p:spPr>
          <a:xfrm xmlns:a="http://schemas.openxmlformats.org/drawingml/2006/main">
            <a:off x="9144000" y="4838700"/>
            <a:ext cx="2362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Tickets como línea base; códigos y macros de atención.</a:t>
            </a:r>
          </a:p>
        </p:txBody>
      </p:sp>
      <p:sp>
        <p:nvSpPr>
          <p:cNvPr id="41" name="">
            <a:extLst xmlns:a="http://schemas.openxmlformats.org/drawingml/2006/main">
              <a:ext uri="{FF2B5EF4-FFF2-40B4-BE49-F238E27FC236}">
                <a16:creationId xmlns:a16="http://schemas.microsoft.com/office/drawing/2014/main" id="{EB7C5B0E-760B-4F3F-A927-C1FDE1FF30B0}"/>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Plan Estratégico de Rescate y conversaciones sintéticas con stakeholders.</a:t>
            </a:r>
          </a:p>
        </p:txBody>
      </p:sp>
    </p:spTree>
    <p:extLst>
      <p:ext uri="{BB962C8B-B14F-4D97-AF65-F5344CB8AC3E}">
        <p14:creationId xmlns:p14="http://schemas.microsoft.com/office/powerpoint/2010/main" val="21064387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021D1D-A14D-4CE7-8579-6B743AE82A18}"/>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RIESGO Y GOBERNANZA</a:t>
            </a:r>
          </a:p>
        </p:txBody>
      </p:sp>
      <p:sp>
        <p:nvSpPr>
          <p:cNvPr id="2" name="">
            <a:extLst xmlns:a="http://schemas.openxmlformats.org/drawingml/2006/main">
              <a:ext uri="{FF2B5EF4-FFF2-40B4-BE49-F238E27FC236}">
                <a16:creationId xmlns:a16="http://schemas.microsoft.com/office/drawing/2014/main" id="{12028AF7-9698-457A-9EF6-F89AE46FD221}"/>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85"/>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La gobernanza convierte el riesgo en una condición de entrega</a:t>
            </a:r>
          </a:p>
        </p:txBody>
      </p:sp>
      <p:sp>
        <p:nvSpPr>
          <p:cNvPr id="3" name="">
            <a:extLst xmlns:a="http://schemas.openxmlformats.org/drawingml/2006/main">
              <a:ext uri="{FF2B5EF4-FFF2-40B4-BE49-F238E27FC236}">
                <a16:creationId xmlns:a16="http://schemas.microsoft.com/office/drawing/2014/main" id="{3706D855-0307-4236-9AFD-0D4013530F67}"/>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AF7B81D5-95B9-4488-B80D-BD88AE77DE99}"/>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A445DFB9-B723-4022-B347-DCE484CE714D}"/>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TAMI</a:t>
            </a:r>
          </a:p>
        </p:txBody>
      </p:sp>
      <p:sp>
        <p:nvSpPr>
          <p:cNvPr id="6" name="">
            <a:extLst xmlns:a="http://schemas.openxmlformats.org/drawingml/2006/main">
              <a:ext uri="{FF2B5EF4-FFF2-40B4-BE49-F238E27FC236}">
                <a16:creationId xmlns:a16="http://schemas.microsoft.com/office/drawing/2014/main" id="{7B410928-618B-41A4-8AC4-04B3E687784F}"/>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07</a:t>
            </a:r>
          </a:p>
        </p:txBody>
      </p:sp>
      <p:sp>
        <p:nvSpPr>
          <p:cNvPr id="7" name="">
            <a:extLst xmlns:a="http://schemas.openxmlformats.org/drawingml/2006/main">
              <a:ext uri="{FF2B5EF4-FFF2-40B4-BE49-F238E27FC236}">
                <a16:creationId xmlns:a16="http://schemas.microsoft.com/office/drawing/2014/main" id="{B0C803FA-723F-4229-BA0F-1FE640E7C90C}"/>
              </a:ext>
            </a:extLst>
          </p:cNvPr>
          <p:cNvSpPr>
            <a:spLocks xmlns:a="http://schemas.openxmlformats.org/drawingml/2006/main" noGrp="1"/>
          </p:cNvSpPr>
          <p:nvPr/>
        </p:nvSpPr>
        <p:spPr>
          <a:xfrm xmlns:a="http://schemas.openxmlformats.org/drawingml/2006/main">
            <a:off x="685800" y="12573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IA propone borradores; las fuentes oficiales y las personas autorizadas deciden.</a:t>
            </a:r>
          </a:p>
        </p:txBody>
      </p:sp>
      <p:sp>
        <p:nvSpPr>
          <p:cNvPr id="8" name="">
            <a:extLst xmlns:a="http://schemas.openxmlformats.org/drawingml/2006/main">
              <a:ext uri="{FF2B5EF4-FFF2-40B4-BE49-F238E27FC236}">
                <a16:creationId xmlns:a16="http://schemas.microsoft.com/office/drawing/2014/main" id="{DDDC787A-2E00-40FC-95EB-447F0BFFA1C2}"/>
              </a:ext>
            </a:extLst>
          </p:cNvPr>
          <p:cNvSpPr>
            <a:spLocks xmlns:a="http://schemas.openxmlformats.org/drawingml/2006/main" noGrp="1"/>
          </p:cNvSpPr>
          <p:nvPr/>
        </p:nvSpPr>
        <p:spPr>
          <a:xfrm xmlns:a="http://schemas.openxmlformats.org/drawingml/2006/main">
            <a:off x="2781300" y="3048000"/>
            <a:ext cx="419100" cy="0"/>
          </a:xfrm>
          <a:prstGeom xmlns:a="http://schemas.openxmlformats.org/drawingml/2006/main" prst="line">
            <a:avLst/>
          </a:prstGeom>
          <a:noFill xmlns:a="http://schemas.openxmlformats.org/drawingml/2006/main"/>
          <a:ln xmlns:a="http://schemas.openxmlformats.org/drawingml/2006/main" w="38100">
            <a:solidFill>
              <a:srgbClr val="D9E2E8"/>
            </a:solidFill>
            <a:prstDash val="solid"/>
          </a:ln>
        </p:spPr>
      </p:sp>
      <p:sp>
        <p:nvSpPr>
          <p:cNvPr id="9" name="">
            <a:extLst xmlns:a="http://schemas.openxmlformats.org/drawingml/2006/main">
              <a:ext uri="{FF2B5EF4-FFF2-40B4-BE49-F238E27FC236}">
                <a16:creationId xmlns:a16="http://schemas.microsoft.com/office/drawing/2014/main" id="{597901B4-AE81-49A4-ACCD-2A9EE5BB486C}"/>
              </a:ext>
            </a:extLst>
          </p:cNvPr>
          <p:cNvSpPr>
            <a:spLocks xmlns:a="http://schemas.openxmlformats.org/drawingml/2006/main" noGrp="1"/>
          </p:cNvSpPr>
          <p:nvPr/>
        </p:nvSpPr>
        <p:spPr>
          <a:xfrm xmlns:a="http://schemas.openxmlformats.org/drawingml/2006/main">
            <a:off x="5295900" y="3048000"/>
            <a:ext cx="419100" cy="0"/>
          </a:xfrm>
          <a:prstGeom xmlns:a="http://schemas.openxmlformats.org/drawingml/2006/main" prst="line">
            <a:avLst/>
          </a:prstGeom>
          <a:noFill xmlns:a="http://schemas.openxmlformats.org/drawingml/2006/main"/>
          <a:ln xmlns:a="http://schemas.openxmlformats.org/drawingml/2006/main" w="38100">
            <a:solidFill>
              <a:srgbClr val="D9E2E8"/>
            </a:solidFill>
            <a:prstDash val="solid"/>
          </a:ln>
        </p:spPr>
      </p:sp>
      <p:sp>
        <p:nvSpPr>
          <p:cNvPr id="10" name="">
            <a:extLst xmlns:a="http://schemas.openxmlformats.org/drawingml/2006/main">
              <a:ext uri="{FF2B5EF4-FFF2-40B4-BE49-F238E27FC236}">
                <a16:creationId xmlns:a16="http://schemas.microsoft.com/office/drawing/2014/main" id="{5354CEFF-E9B2-455A-BA76-6D2572BE1D0C}"/>
              </a:ext>
            </a:extLst>
          </p:cNvPr>
          <p:cNvSpPr>
            <a:spLocks xmlns:a="http://schemas.openxmlformats.org/drawingml/2006/main" noGrp="1"/>
          </p:cNvSpPr>
          <p:nvPr/>
        </p:nvSpPr>
        <p:spPr>
          <a:xfrm xmlns:a="http://schemas.openxmlformats.org/drawingml/2006/main">
            <a:off x="7810500" y="3048000"/>
            <a:ext cx="419100" cy="0"/>
          </a:xfrm>
          <a:prstGeom xmlns:a="http://schemas.openxmlformats.org/drawingml/2006/main" prst="line">
            <a:avLst/>
          </a:prstGeom>
          <a:noFill xmlns:a="http://schemas.openxmlformats.org/drawingml/2006/main"/>
          <a:ln xmlns:a="http://schemas.openxmlformats.org/drawingml/2006/main" w="38100">
            <a:solidFill>
              <a:srgbClr val="D9E2E8"/>
            </a:solidFill>
            <a:prstDash val="solid"/>
          </a:ln>
        </p:spPr>
      </p:sp>
      <p:sp>
        <p:nvSpPr>
          <p:cNvPr id="11" name="">
            <a:extLst xmlns:a="http://schemas.openxmlformats.org/drawingml/2006/main">
              <a:ext uri="{FF2B5EF4-FFF2-40B4-BE49-F238E27FC236}">
                <a16:creationId xmlns:a16="http://schemas.microsoft.com/office/drawing/2014/main" id="{7284FE37-4C95-4800-A1E4-4071D013F22E}"/>
              </a:ext>
            </a:extLst>
          </p:cNvPr>
          <p:cNvSpPr>
            <a:spLocks xmlns:a="http://schemas.openxmlformats.org/drawingml/2006/main" noGrp="1"/>
          </p:cNvSpPr>
          <p:nvPr/>
        </p:nvSpPr>
        <p:spPr>
          <a:xfrm xmlns:a="http://schemas.openxmlformats.org/drawingml/2006/main">
            <a:off x="685800" y="1809750"/>
            <a:ext cx="2286000" cy="3009900"/>
          </a:xfrm>
          <a:prstGeom xmlns:a="http://schemas.openxmlformats.org/drawingml/2006/main" prst="roundRect">
            <a:avLst>
              <a:gd name="adj" fmla="val 8333"/>
            </a:avLst>
          </a:prstGeom>
          <a:solidFill xmlns:a="http://schemas.openxmlformats.org/drawingml/2006/main">
            <a:srgbClr val="F4F7F8"/>
          </a:solidFill>
          <a:ln xmlns:a="http://schemas.openxmlformats.org/drawingml/2006/main" w="9525">
            <a:solidFill>
              <a:srgbClr val="D9E2E8"/>
            </a:solidFill>
            <a:prstDash val="solid"/>
          </a:ln>
        </p:spPr>
      </p:sp>
      <p:sp>
        <p:nvSpPr>
          <p:cNvPr id="12" name="">
            <a:extLst xmlns:a="http://schemas.openxmlformats.org/drawingml/2006/main">
              <a:ext uri="{FF2B5EF4-FFF2-40B4-BE49-F238E27FC236}">
                <a16:creationId xmlns:a16="http://schemas.microsoft.com/office/drawing/2014/main" id="{34956DA6-6748-460A-AEC1-674EF2FA6160}"/>
              </a:ext>
            </a:extLst>
          </p:cNvPr>
          <p:cNvSpPr>
            <a:spLocks xmlns:a="http://schemas.openxmlformats.org/drawingml/2006/main" noGrp="1"/>
          </p:cNvSpPr>
          <p:nvPr/>
        </p:nvSpPr>
        <p:spPr>
          <a:xfrm xmlns:a="http://schemas.openxmlformats.org/drawingml/2006/main">
            <a:off x="685800" y="1809750"/>
            <a:ext cx="2286000" cy="590550"/>
          </a:xfrm>
          <a:prstGeom xmlns:a="http://schemas.openxmlformats.org/drawingml/2006/main" prst="roundRect">
            <a:avLst>
              <a:gd name="adj" fmla="val 32258"/>
            </a:avLst>
          </a:prstGeom>
          <a:solidFill xmlns:a="http://schemas.openxmlformats.org/drawingml/2006/main">
            <a:srgbClr val="102A4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DF9092-C424-4106-A6F5-D5B3579A1907}"/>
              </a:ext>
            </a:extLst>
          </p:cNvPr>
          <p:cNvSpPr>
            <a:spLocks xmlns:a="http://schemas.openxmlformats.org/drawingml/2006/main" noGrp="1"/>
          </p:cNvSpPr>
          <p:nvPr/>
        </p:nvSpPr>
        <p:spPr>
          <a:xfrm xmlns:a="http://schemas.openxmlformats.org/drawingml/2006/main">
            <a:off x="876300" y="19431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1 · READY</a:t>
            </a:r>
          </a:p>
        </p:txBody>
      </p:sp>
      <p:sp>
        <p:nvSpPr>
          <p:cNvPr id="14" name="">
            <a:extLst xmlns:a="http://schemas.openxmlformats.org/drawingml/2006/main">
              <a:ext uri="{FF2B5EF4-FFF2-40B4-BE49-F238E27FC236}">
                <a16:creationId xmlns:a16="http://schemas.microsoft.com/office/drawing/2014/main" id="{DFBB2FC6-F2E5-4000-A590-675C8CEABC74}"/>
              </a:ext>
            </a:extLst>
          </p:cNvPr>
          <p:cNvSpPr>
            <a:spLocks xmlns:a="http://schemas.openxmlformats.org/drawingml/2006/main" noGrp="1"/>
          </p:cNvSpPr>
          <p:nvPr/>
        </p:nvSpPr>
        <p:spPr>
          <a:xfrm xmlns:a="http://schemas.openxmlformats.org/drawingml/2006/main">
            <a:off x="914400" y="2667000"/>
            <a:ext cx="18288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Fuente normativa</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Estados del core</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Línea base y cohorte</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Owner de Compliance</a:t>
            </a:r>
          </a:p>
        </p:txBody>
      </p:sp>
      <p:sp>
        <p:nvSpPr>
          <p:cNvPr id="15" name="">
            <a:extLst xmlns:a="http://schemas.openxmlformats.org/drawingml/2006/main">
              <a:ext uri="{FF2B5EF4-FFF2-40B4-BE49-F238E27FC236}">
                <a16:creationId xmlns:a16="http://schemas.microsoft.com/office/drawing/2014/main" id="{D792DFB2-32BC-4E2B-8A55-EECE9D8A927C}"/>
              </a:ext>
            </a:extLst>
          </p:cNvPr>
          <p:cNvSpPr>
            <a:spLocks xmlns:a="http://schemas.openxmlformats.org/drawingml/2006/main" noGrp="1"/>
          </p:cNvSpPr>
          <p:nvPr/>
        </p:nvSpPr>
        <p:spPr>
          <a:xfrm xmlns:a="http://schemas.openxmlformats.org/drawingml/2006/main">
            <a:off x="3200400" y="1809750"/>
            <a:ext cx="2286000" cy="3009900"/>
          </a:xfrm>
          <a:prstGeom xmlns:a="http://schemas.openxmlformats.org/drawingml/2006/main" prst="roundRect">
            <a:avLst>
              <a:gd name="adj" fmla="val 8333"/>
            </a:avLst>
          </a:prstGeom>
          <a:solidFill xmlns:a="http://schemas.openxmlformats.org/drawingml/2006/main">
            <a:srgbClr val="F4F7F8"/>
          </a:solidFill>
          <a:ln xmlns:a="http://schemas.openxmlformats.org/drawingml/2006/main" w="9525">
            <a:solidFill>
              <a:srgbClr val="D9E2E8"/>
            </a:solidFill>
            <a:prstDash val="solid"/>
          </a:ln>
        </p:spPr>
      </p:sp>
      <p:sp>
        <p:nvSpPr>
          <p:cNvPr id="16" name="">
            <a:extLst xmlns:a="http://schemas.openxmlformats.org/drawingml/2006/main">
              <a:ext uri="{FF2B5EF4-FFF2-40B4-BE49-F238E27FC236}">
                <a16:creationId xmlns:a16="http://schemas.microsoft.com/office/drawing/2014/main" id="{86889B42-70FA-4E51-A9BA-D28E7304E83C}"/>
              </a:ext>
            </a:extLst>
          </p:cNvPr>
          <p:cNvSpPr>
            <a:spLocks xmlns:a="http://schemas.openxmlformats.org/drawingml/2006/main" noGrp="1"/>
          </p:cNvSpPr>
          <p:nvPr/>
        </p:nvSpPr>
        <p:spPr>
          <a:xfrm xmlns:a="http://schemas.openxmlformats.org/drawingml/2006/main">
            <a:off x="3200400" y="1809750"/>
            <a:ext cx="2286000" cy="590550"/>
          </a:xfrm>
          <a:prstGeom xmlns:a="http://schemas.openxmlformats.org/drawingml/2006/main" prst="roundRect">
            <a:avLst>
              <a:gd name="adj" fmla="val 32258"/>
            </a:avLst>
          </a:prstGeom>
          <a:solidFill xmlns:a="http://schemas.openxmlformats.org/drawingml/2006/main">
            <a:srgbClr val="007F7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CCFACB5-43F4-4A1F-9FE6-7E738EFEFA33}"/>
              </a:ext>
            </a:extLst>
          </p:cNvPr>
          <p:cNvSpPr>
            <a:spLocks xmlns:a="http://schemas.openxmlformats.org/drawingml/2006/main" noGrp="1"/>
          </p:cNvSpPr>
          <p:nvPr/>
        </p:nvSpPr>
        <p:spPr>
          <a:xfrm xmlns:a="http://schemas.openxmlformats.org/drawingml/2006/main">
            <a:off x="3390900" y="19431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2 · CONSTRUIR</a:t>
            </a:r>
          </a:p>
        </p:txBody>
      </p:sp>
      <p:sp>
        <p:nvSpPr>
          <p:cNvPr id="18" name="">
            <a:extLst xmlns:a="http://schemas.openxmlformats.org/drawingml/2006/main">
              <a:ext uri="{FF2B5EF4-FFF2-40B4-BE49-F238E27FC236}">
                <a16:creationId xmlns:a16="http://schemas.microsoft.com/office/drawing/2014/main" id="{3707BF7C-D698-45D0-8048-3D5D96F738A3}"/>
              </a:ext>
            </a:extLst>
          </p:cNvPr>
          <p:cNvSpPr>
            <a:spLocks xmlns:a="http://schemas.openxmlformats.org/drawingml/2006/main" noGrp="1"/>
          </p:cNvSpPr>
          <p:nvPr/>
        </p:nvSpPr>
        <p:spPr>
          <a:xfrm xmlns:a="http://schemas.openxmlformats.org/drawingml/2006/main">
            <a:off x="3429000" y="2667000"/>
            <a:ext cx="18288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Sin PII en IA externa</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Feature flag</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Fallback explícito</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Instrumentación lista</a:t>
            </a:r>
          </a:p>
        </p:txBody>
      </p:sp>
      <p:sp>
        <p:nvSpPr>
          <p:cNvPr id="19" name="">
            <a:extLst xmlns:a="http://schemas.openxmlformats.org/drawingml/2006/main">
              <a:ext uri="{FF2B5EF4-FFF2-40B4-BE49-F238E27FC236}">
                <a16:creationId xmlns:a16="http://schemas.microsoft.com/office/drawing/2014/main" id="{83CA4134-B6FA-4416-967D-DB509A1012DC}"/>
              </a:ext>
            </a:extLst>
          </p:cNvPr>
          <p:cNvSpPr>
            <a:spLocks xmlns:a="http://schemas.openxmlformats.org/drawingml/2006/main" noGrp="1"/>
          </p:cNvSpPr>
          <p:nvPr/>
        </p:nvSpPr>
        <p:spPr>
          <a:xfrm xmlns:a="http://schemas.openxmlformats.org/drawingml/2006/main">
            <a:off x="5715000" y="1809750"/>
            <a:ext cx="2286000" cy="3009900"/>
          </a:xfrm>
          <a:prstGeom xmlns:a="http://schemas.openxmlformats.org/drawingml/2006/main" prst="roundRect">
            <a:avLst>
              <a:gd name="adj" fmla="val 8333"/>
            </a:avLst>
          </a:prstGeom>
          <a:solidFill xmlns:a="http://schemas.openxmlformats.org/drawingml/2006/main">
            <a:srgbClr val="F4F7F8"/>
          </a:solidFill>
          <a:ln xmlns:a="http://schemas.openxmlformats.org/drawingml/2006/main" w="9525">
            <a:solidFill>
              <a:srgbClr val="D9E2E8"/>
            </a:solidFill>
            <a:prstDash val="solid"/>
          </a:ln>
        </p:spPr>
      </p:sp>
      <p:sp>
        <p:nvSpPr>
          <p:cNvPr id="20" name="">
            <a:extLst xmlns:a="http://schemas.openxmlformats.org/drawingml/2006/main">
              <a:ext uri="{FF2B5EF4-FFF2-40B4-BE49-F238E27FC236}">
                <a16:creationId xmlns:a16="http://schemas.microsoft.com/office/drawing/2014/main" id="{3DAE0FAB-6B7E-4D27-B204-D71242BA7B9F}"/>
              </a:ext>
            </a:extLst>
          </p:cNvPr>
          <p:cNvSpPr>
            <a:spLocks xmlns:a="http://schemas.openxmlformats.org/drawingml/2006/main" noGrp="1"/>
          </p:cNvSpPr>
          <p:nvPr/>
        </p:nvSpPr>
        <p:spPr>
          <a:xfrm xmlns:a="http://schemas.openxmlformats.org/drawingml/2006/main">
            <a:off x="5715000" y="1809750"/>
            <a:ext cx="2286000" cy="590550"/>
          </a:xfrm>
          <a:prstGeom xmlns:a="http://schemas.openxmlformats.org/drawingml/2006/main" prst="roundRect">
            <a:avLst>
              <a:gd name="adj" fmla="val 32258"/>
            </a:avLst>
          </a:prstGeom>
          <a:solidFill xmlns:a="http://schemas.openxmlformats.org/drawingml/2006/main">
            <a:srgbClr val="E86A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352026-A451-41AA-935C-E3B64F21BE46}"/>
              </a:ext>
            </a:extLst>
          </p:cNvPr>
          <p:cNvSpPr>
            <a:spLocks xmlns:a="http://schemas.openxmlformats.org/drawingml/2006/main" noGrp="1"/>
          </p:cNvSpPr>
          <p:nvPr/>
        </p:nvSpPr>
        <p:spPr>
          <a:xfrm xmlns:a="http://schemas.openxmlformats.org/drawingml/2006/main">
            <a:off x="5905500" y="19431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3 · DONE</a:t>
            </a:r>
          </a:p>
        </p:txBody>
      </p:sp>
      <p:sp>
        <p:nvSpPr>
          <p:cNvPr id="22" name="">
            <a:extLst xmlns:a="http://schemas.openxmlformats.org/drawingml/2006/main">
              <a:ext uri="{FF2B5EF4-FFF2-40B4-BE49-F238E27FC236}">
                <a16:creationId xmlns:a16="http://schemas.microsoft.com/office/drawing/2014/main" id="{2E296562-99DA-456F-8009-6BD888D34EA1}"/>
              </a:ext>
            </a:extLst>
          </p:cNvPr>
          <p:cNvSpPr>
            <a:spLocks xmlns:a="http://schemas.openxmlformats.org/drawingml/2006/main" noGrp="1"/>
          </p:cNvSpPr>
          <p:nvPr/>
        </p:nvSpPr>
        <p:spPr>
          <a:xfrm xmlns:a="http://schemas.openxmlformats.org/drawingml/2006/main">
            <a:off x="5943600" y="2667000"/>
            <a:ext cx="18288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Aprobación humana</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Prueba anti-alucinación</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Eventos verificables</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Logs + rollback</a:t>
            </a:r>
          </a:p>
        </p:txBody>
      </p:sp>
      <p:sp>
        <p:nvSpPr>
          <p:cNvPr id="23" name="">
            <a:extLst xmlns:a="http://schemas.openxmlformats.org/drawingml/2006/main">
              <a:ext uri="{FF2B5EF4-FFF2-40B4-BE49-F238E27FC236}">
                <a16:creationId xmlns:a16="http://schemas.microsoft.com/office/drawing/2014/main" id="{3C39C7B6-035B-4F14-A260-6AFDB88F31AA}"/>
              </a:ext>
            </a:extLst>
          </p:cNvPr>
          <p:cNvSpPr>
            <a:spLocks xmlns:a="http://schemas.openxmlformats.org/drawingml/2006/main" noGrp="1"/>
          </p:cNvSpPr>
          <p:nvPr/>
        </p:nvSpPr>
        <p:spPr>
          <a:xfrm xmlns:a="http://schemas.openxmlformats.org/drawingml/2006/main">
            <a:off x="8229600" y="1809750"/>
            <a:ext cx="2286000" cy="3009900"/>
          </a:xfrm>
          <a:prstGeom xmlns:a="http://schemas.openxmlformats.org/drawingml/2006/main" prst="roundRect">
            <a:avLst>
              <a:gd name="adj" fmla="val 8333"/>
            </a:avLst>
          </a:prstGeom>
          <a:solidFill xmlns:a="http://schemas.openxmlformats.org/drawingml/2006/main">
            <a:srgbClr val="F4F7F8"/>
          </a:solidFill>
          <a:ln xmlns:a="http://schemas.openxmlformats.org/drawingml/2006/main" w="9525">
            <a:solidFill>
              <a:srgbClr val="D9E2E8"/>
            </a:solidFill>
            <a:prstDash val="solid"/>
          </a:ln>
        </p:spPr>
      </p:sp>
      <p:sp>
        <p:nvSpPr>
          <p:cNvPr id="24" name="">
            <a:extLst xmlns:a="http://schemas.openxmlformats.org/drawingml/2006/main">
              <a:ext uri="{FF2B5EF4-FFF2-40B4-BE49-F238E27FC236}">
                <a16:creationId xmlns:a16="http://schemas.microsoft.com/office/drawing/2014/main" id="{7D90A8F0-0B1D-4544-A9E2-3DC460B8B1C3}"/>
              </a:ext>
            </a:extLst>
          </p:cNvPr>
          <p:cNvSpPr>
            <a:spLocks xmlns:a="http://schemas.openxmlformats.org/drawingml/2006/main" noGrp="1"/>
          </p:cNvSpPr>
          <p:nvPr/>
        </p:nvSpPr>
        <p:spPr>
          <a:xfrm xmlns:a="http://schemas.openxmlformats.org/drawingml/2006/main">
            <a:off x="8229600" y="1809750"/>
            <a:ext cx="2286000" cy="590550"/>
          </a:xfrm>
          <a:prstGeom xmlns:a="http://schemas.openxmlformats.org/drawingml/2006/main" prst="roundRect">
            <a:avLst>
              <a:gd name="adj" fmla="val 32258"/>
            </a:avLst>
          </a:prstGeom>
          <a:solidFill xmlns:a="http://schemas.openxmlformats.org/drawingml/2006/main">
            <a:srgbClr val="D99B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3A636D-8E6D-48C5-ABFE-377BABDC9229}"/>
              </a:ext>
            </a:extLst>
          </p:cNvPr>
          <p:cNvSpPr>
            <a:spLocks xmlns:a="http://schemas.openxmlformats.org/drawingml/2006/main" noGrp="1"/>
          </p:cNvSpPr>
          <p:nvPr/>
        </p:nvSpPr>
        <p:spPr>
          <a:xfrm xmlns:a="http://schemas.openxmlformats.org/drawingml/2006/main">
            <a:off x="8420100" y="19431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4 · LIBERAR</a:t>
            </a:r>
          </a:p>
        </p:txBody>
      </p:sp>
      <p:sp>
        <p:nvSpPr>
          <p:cNvPr id="26" name="">
            <a:extLst xmlns:a="http://schemas.openxmlformats.org/drawingml/2006/main">
              <a:ext uri="{FF2B5EF4-FFF2-40B4-BE49-F238E27FC236}">
                <a16:creationId xmlns:a16="http://schemas.microsoft.com/office/drawing/2014/main" id="{323AFCC0-0B43-4C70-8935-2573A99DA04A}"/>
              </a:ext>
            </a:extLst>
          </p:cNvPr>
          <p:cNvSpPr>
            <a:spLocks xmlns:a="http://schemas.openxmlformats.org/drawingml/2006/main" noGrp="1"/>
          </p:cNvSpPr>
          <p:nvPr/>
        </p:nvSpPr>
        <p:spPr>
          <a:xfrm xmlns:a="http://schemas.openxmlformats.org/drawingml/2006/main">
            <a:off x="8458200" y="2667000"/>
            <a:ext cx="18288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Cohorte canario</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Monitoreo 48 h</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Soporte informado</a:t>
            </a:r>
          </a:p>
          <a:p xmlns:a="http://schemas.openxmlformats.org/drawingml/2006/main">
            <a:pPr algn="l">
              <a:lnSpc>
                <a:spcPct val="130000"/>
              </a:lnSpc>
              <a:buNone/>
              <a:defRPr sz="1275" b="0">
                <a:solidFill>
                  <a:srgbClr val="1B2733"/>
                </a:solidFill>
                <a:latin typeface="DejaVu Sans"/>
                <a:ea typeface="DejaVu Sans"/>
                <a:cs typeface="DejaVu Sans"/>
              </a:defRPr>
            </a:pPr>
            <a:r>
              <a:rPr sz="1275" b="0">
                <a:solidFill>
                  <a:srgbClr val="1B2733"/>
                </a:solidFill>
                <a:latin typeface="DejaVu Sans"/>
                <a:ea typeface="DejaVu Sans"/>
                <a:cs typeface="DejaVu Sans"/>
              </a:rPr>
              <a:t>Regla stop/go</a:t>
            </a:r>
          </a:p>
        </p:txBody>
      </p:sp>
      <p:sp>
        <p:nvSpPr>
          <p:cNvPr id="27" name="">
            <a:extLst xmlns:a="http://schemas.openxmlformats.org/drawingml/2006/main">
              <a:ext uri="{FF2B5EF4-FFF2-40B4-BE49-F238E27FC236}">
                <a16:creationId xmlns:a16="http://schemas.microsoft.com/office/drawing/2014/main" id="{D4BD390D-0FE4-4573-B198-CBF27ED3DD85}"/>
              </a:ext>
            </a:extLst>
          </p:cNvPr>
          <p:cNvSpPr>
            <a:spLocks xmlns:a="http://schemas.openxmlformats.org/drawingml/2006/main" noGrp="1"/>
          </p:cNvSpPr>
          <p:nvPr/>
        </p:nvSpPr>
        <p:spPr>
          <a:xfrm xmlns:a="http://schemas.openxmlformats.org/drawingml/2006/main">
            <a:off x="685800" y="5105400"/>
            <a:ext cx="9829800" cy="781050"/>
          </a:xfrm>
          <a:prstGeom xmlns:a="http://schemas.openxmlformats.org/drawingml/2006/main" prst="roundRect">
            <a:avLst>
              <a:gd name="adj" fmla="val 21951"/>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077A98-FB56-4CB4-8D03-4CD74DD85EE7}"/>
              </a:ext>
            </a:extLst>
          </p:cNvPr>
          <p:cNvSpPr>
            <a:spLocks xmlns:a="http://schemas.openxmlformats.org/drawingml/2006/main" noGrp="1"/>
          </p:cNvSpPr>
          <p:nvPr/>
        </p:nvSpPr>
        <p:spPr>
          <a:xfrm xmlns:a="http://schemas.openxmlformats.org/drawingml/2006/main">
            <a:off x="914400" y="52768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71D8D0"/>
                </a:solidFill>
                <a:latin typeface="DejaVu Sans"/>
                <a:ea typeface="DejaVu Sans"/>
                <a:cs typeface="DejaVu Sans"/>
              </a:defRPr>
            </a:pPr>
            <a:r>
              <a:rPr sz="1050" b="1">
                <a:solidFill>
                  <a:srgbClr val="71D8D0"/>
                </a:solidFill>
                <a:latin typeface="DejaVu Sans"/>
                <a:ea typeface="DejaVu Sans"/>
                <a:cs typeface="DejaVu Sans"/>
              </a:rPr>
              <a:t>HUMAN IN THE LOOP</a:t>
            </a:r>
          </a:p>
        </p:txBody>
      </p:sp>
      <p:sp>
        <p:nvSpPr>
          <p:cNvPr id="29" name="">
            <a:extLst xmlns:a="http://schemas.openxmlformats.org/drawingml/2006/main">
              <a:ext uri="{FF2B5EF4-FFF2-40B4-BE49-F238E27FC236}">
                <a16:creationId xmlns:a16="http://schemas.microsoft.com/office/drawing/2014/main" id="{5A2452A9-A33D-4774-845C-A9B2EA785FAF}"/>
              </a:ext>
            </a:extLst>
          </p:cNvPr>
          <p:cNvSpPr>
            <a:spLocks xmlns:a="http://schemas.openxmlformats.org/drawingml/2006/main" noGrp="1"/>
          </p:cNvSpPr>
          <p:nvPr/>
        </p:nvSpPr>
        <p:spPr>
          <a:xfrm xmlns:a="http://schemas.openxmlformats.org/drawingml/2006/main">
            <a:off x="2990850" y="5238750"/>
            <a:ext cx="7219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593"/>
          </a:bodyPr>
          <a:lstStyle xmlns:a="http://schemas.openxmlformats.org/drawingml/2006/main"/>
          <a:p xmlns:a="http://schemas.openxmlformats.org/drawingml/2006/main">
            <a:pPr algn="l">
              <a:lnSpc>
                <a:spcPct val="105000"/>
              </a:lnSpc>
              <a:buNone/>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Ningún texto financiero/legal llega a producción sin fuente, versión y firma digital de Compliance.</a:t>
            </a:r>
          </a:p>
        </p:txBody>
      </p:sp>
      <p:sp>
        <p:nvSpPr>
          <p:cNvPr id="30" name="">
            <a:extLst xmlns:a="http://schemas.openxmlformats.org/drawingml/2006/main">
              <a:ext uri="{FF2B5EF4-FFF2-40B4-BE49-F238E27FC236}">
                <a16:creationId xmlns:a16="http://schemas.microsoft.com/office/drawing/2014/main" id="{2FC8FB53-1D06-4FDE-8C51-1FB012FE1789}"/>
              </a:ext>
            </a:extLst>
          </p:cNvPr>
          <p:cNvSpPr>
            <a:spLocks xmlns:a="http://schemas.openxmlformats.org/drawingml/2006/main" noGrp="1"/>
          </p:cNvSpPr>
          <p:nvPr/>
        </p:nvSpPr>
        <p:spPr>
          <a:xfrm xmlns:a="http://schemas.openxmlformats.org/drawingml/2006/main">
            <a:off x="10744200" y="5105400"/>
            <a:ext cx="762000" cy="781050"/>
          </a:xfrm>
          <a:prstGeom xmlns:a="http://schemas.openxmlformats.org/drawingml/2006/main" prst="roundRect">
            <a:avLst>
              <a:gd name="adj" fmla="val 22500"/>
            </a:avLst>
          </a:prstGeom>
          <a:solidFill xmlns:a="http://schemas.openxmlformats.org/drawingml/2006/main">
            <a:srgbClr val="FBE8E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FA55A34-4689-4653-B054-17F7ADBDD7A6}"/>
              </a:ext>
            </a:extLst>
          </p:cNvPr>
          <p:cNvSpPr>
            <a:spLocks xmlns:a="http://schemas.openxmlformats.org/drawingml/2006/main" noGrp="1"/>
          </p:cNvSpPr>
          <p:nvPr/>
        </p:nvSpPr>
        <p:spPr>
          <a:xfrm xmlns:a="http://schemas.openxmlformats.org/drawingml/2006/main">
            <a:off x="10744200" y="51816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E86A5B"/>
                </a:solidFill>
                <a:latin typeface="DejaVu Sans"/>
                <a:ea typeface="DejaVu Sans"/>
                <a:cs typeface="DejaVu Sans"/>
              </a:defRPr>
            </a:pPr>
            <a:r>
              <a:rPr sz="2250" b="1">
                <a:solidFill>
                  <a:srgbClr val="E86A5B"/>
                </a:solidFill>
                <a:latin typeface="DejaVu Sans"/>
                <a:ea typeface="DejaVu Sans"/>
                <a:cs typeface="DejaVu Sans"/>
              </a:rPr>
              <a:t>0</a:t>
            </a:r>
          </a:p>
        </p:txBody>
      </p:sp>
      <p:sp>
        <p:nvSpPr>
          <p:cNvPr id="32" name="">
            <a:extLst xmlns:a="http://schemas.openxmlformats.org/drawingml/2006/main">
              <a:ext uri="{FF2B5EF4-FFF2-40B4-BE49-F238E27FC236}">
                <a16:creationId xmlns:a16="http://schemas.microsoft.com/office/drawing/2014/main" id="{A56B8232-0592-47C4-A7C9-21FDA3F32CA7}"/>
              </a:ext>
            </a:extLst>
          </p:cNvPr>
          <p:cNvSpPr>
            <a:spLocks xmlns:a="http://schemas.openxmlformats.org/drawingml/2006/main" noGrp="1"/>
          </p:cNvSpPr>
          <p:nvPr/>
        </p:nvSpPr>
        <p:spPr>
          <a:xfrm xmlns:a="http://schemas.openxmlformats.org/drawingml/2006/main">
            <a:off x="10744200" y="55626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E86A5B"/>
                </a:solidFill>
                <a:latin typeface="DejaVu Sans"/>
                <a:ea typeface="DejaVu Sans"/>
                <a:cs typeface="DejaVu Sans"/>
              </a:defRPr>
            </a:pPr>
            <a:r>
              <a:rPr sz="900" b="1">
                <a:solidFill>
                  <a:srgbClr val="E86A5B"/>
                </a:solidFill>
                <a:latin typeface="DejaVu Sans"/>
                <a:ea typeface="DejaVu Sans"/>
                <a:cs typeface="DejaVu Sans"/>
              </a:rPr>
              <a:t>Sev-1</a:t>
            </a:r>
          </a:p>
        </p:txBody>
      </p:sp>
      <p:sp>
        <p:nvSpPr>
          <p:cNvPr id="33" name="">
            <a:extLst xmlns:a="http://schemas.openxmlformats.org/drawingml/2006/main">
              <a:ext uri="{FF2B5EF4-FFF2-40B4-BE49-F238E27FC236}">
                <a16:creationId xmlns:a16="http://schemas.microsoft.com/office/drawing/2014/main" id="{83FB9DD7-B248-44FC-9B04-914C901BEF7D}"/>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Guardrails: fraude no supera línea base; 100% cumple el plazo del reglamento aplicable.</a:t>
            </a:r>
          </a:p>
        </p:txBody>
      </p:sp>
    </p:spTree>
    <p:extLst>
      <p:ext uri="{BB962C8B-B14F-4D97-AF65-F5344CB8AC3E}">
        <p14:creationId xmlns:p14="http://schemas.microsoft.com/office/powerpoint/2010/main" val="491391275"/>
      </p:ext>
    </p:extLst>
  </p:cSld>
</p:sld>
</file>

<file path=ppt/slides/slide8.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B44ACA-5CB0-48BF-AF6A-3055A5D5922D}"/>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PRIORIZACIÓN</a:t>
            </a:r>
          </a:p>
        </p:txBody>
      </p:sp>
      <p:sp>
        <p:nvSpPr>
          <p:cNvPr id="2" name="">
            <a:extLst xmlns:a="http://schemas.openxmlformats.org/drawingml/2006/main">
              <a:ext uri="{FF2B5EF4-FFF2-40B4-BE49-F238E27FC236}">
                <a16:creationId xmlns:a16="http://schemas.microsoft.com/office/drawing/2014/main" id="{9656B625-3EE2-4D64-B3FC-35685EE749E6}"/>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Priorizamos impacto sin ignorar ejecución y riesgo</a:t>
            </a:r>
          </a:p>
        </p:txBody>
      </p:sp>
      <p:sp>
        <p:nvSpPr>
          <p:cNvPr id="3" name="">
            <a:extLst xmlns:a="http://schemas.openxmlformats.org/drawingml/2006/main">
              <a:ext uri="{FF2B5EF4-FFF2-40B4-BE49-F238E27FC236}">
                <a16:creationId xmlns:a16="http://schemas.microsoft.com/office/drawing/2014/main" id="{4041B351-5F60-481C-98ED-FE339881755C}"/>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8EE8AA0B-5C1E-44D4-8C9C-0498D2C42596}"/>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D33B0AE8-31DC-4835-BA6C-AF5AE12C732F}"/>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ERICK</a:t>
            </a:r>
          </a:p>
        </p:txBody>
      </p:sp>
      <p:sp>
        <p:nvSpPr>
          <p:cNvPr id="6" name="">
            <a:extLst xmlns:a="http://schemas.openxmlformats.org/drawingml/2006/main">
              <a:ext uri="{FF2B5EF4-FFF2-40B4-BE49-F238E27FC236}">
                <a16:creationId xmlns:a16="http://schemas.microsoft.com/office/drawing/2014/main" id="{CC29724C-64FB-4193-84E0-7C6F05D48D2F}"/>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08</a:t>
            </a:r>
          </a:p>
        </p:txBody>
      </p:sp>
      <p:sp>
        <p:nvSpPr>
          <p:cNvPr id="7" name="">
            <a:extLst xmlns:a="http://schemas.openxmlformats.org/drawingml/2006/main">
              <a:ext uri="{FF2B5EF4-FFF2-40B4-BE49-F238E27FC236}">
                <a16:creationId xmlns:a16="http://schemas.microsoft.com/office/drawing/2014/main" id="{84983BDC-566C-4F8A-9FC0-C45712EC8E1E}"/>
              </a:ext>
            </a:extLst>
          </p:cNvPr>
          <p:cNvSpPr>
            <a:spLocks xmlns:a="http://schemas.openxmlformats.org/drawingml/2006/main" noGrp="1"/>
          </p:cNvSpPr>
          <p:nvPr/>
        </p:nvSpPr>
        <p:spPr>
          <a:xfrm xmlns:a="http://schemas.openxmlformats.org/drawingml/2006/main">
            <a:off x="685800" y="1466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102A43"/>
                </a:solidFill>
                <a:latin typeface="DejaVu Sans"/>
                <a:ea typeface="DejaVu Sans"/>
                <a:cs typeface="DejaVu Sans"/>
              </a:defRPr>
            </a:pPr>
            <a:r>
              <a:rPr sz="2100" b="1">
                <a:solidFill>
                  <a:srgbClr val="102A43"/>
                </a:solidFill>
                <a:latin typeface="DejaVu Sans"/>
                <a:ea typeface="DejaVu Sans"/>
                <a:cs typeface="DejaVu Sans"/>
              </a:rPr>
              <a:t>P = 0,35·IU + 0,25·IN + 0,20·F2S + 0,15·SC + 0,05·CE</a:t>
            </a:r>
          </a:p>
        </p:txBody>
      </p:sp>
      <p:sp>
        <p:nvSpPr>
          <p:cNvPr id="8" name="">
            <a:extLst xmlns:a="http://schemas.openxmlformats.org/drawingml/2006/main">
              <a:ext uri="{FF2B5EF4-FFF2-40B4-BE49-F238E27FC236}">
                <a16:creationId xmlns:a16="http://schemas.microsoft.com/office/drawing/2014/main" id="{B3DD598F-B464-442A-B232-5D40E1D05ABE}"/>
              </a:ext>
            </a:extLst>
          </p:cNvPr>
          <p:cNvSpPr>
            <a:spLocks xmlns:a="http://schemas.openxmlformats.org/drawingml/2006/main" noGrp="1"/>
          </p:cNvSpPr>
          <p:nvPr/>
        </p:nvSpPr>
        <p:spPr>
          <a:xfrm xmlns:a="http://schemas.openxmlformats.org/drawingml/2006/main">
            <a:off x="685800" y="20002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Cada iniciativa recibe una nota de 1 a 5 por criterio.</a:t>
            </a:r>
          </a:p>
        </p:txBody>
      </p:sp>
      <p:sp>
        <p:nvSpPr>
          <p:cNvPr id="9" name="">
            <a:extLst xmlns:a="http://schemas.openxmlformats.org/drawingml/2006/main">
              <a:ext uri="{FF2B5EF4-FFF2-40B4-BE49-F238E27FC236}">
                <a16:creationId xmlns:a16="http://schemas.microsoft.com/office/drawing/2014/main" id="{B51BB3E6-1362-40EA-BF5C-AAF4029E8070}"/>
              </a:ext>
            </a:extLst>
          </p:cNvPr>
          <p:cNvSpPr>
            <a:spLocks xmlns:a="http://schemas.openxmlformats.org/drawingml/2006/main" noGrp="1"/>
          </p:cNvSpPr>
          <p:nvPr/>
        </p:nvSpPr>
        <p:spPr>
          <a:xfrm xmlns:a="http://schemas.openxmlformats.org/drawingml/2006/main">
            <a:off x="685800" y="2476500"/>
            <a:ext cx="3787140" cy="876300"/>
          </a:xfrm>
          <a:prstGeom xmlns:a="http://schemas.openxmlformats.org/drawingml/2006/main" prst="rect">
            <a:avLst/>
          </a:prstGeom>
          <a:solidFill xmlns:a="http://schemas.openxmlformats.org/drawingml/2006/main">
            <a:srgbClr val="00A7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6F9131-D9F5-424A-BE2C-1BCD81C5B0EA}"/>
              </a:ext>
            </a:extLst>
          </p:cNvPr>
          <p:cNvSpPr>
            <a:spLocks xmlns:a="http://schemas.openxmlformats.org/drawingml/2006/main" noGrp="1"/>
          </p:cNvSpPr>
          <p:nvPr/>
        </p:nvSpPr>
        <p:spPr>
          <a:xfrm xmlns:a="http://schemas.openxmlformats.org/drawingml/2006/main">
            <a:off x="800100" y="2571750"/>
            <a:ext cx="355854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35%</a:t>
            </a:r>
          </a:p>
        </p:txBody>
      </p:sp>
      <p:sp>
        <p:nvSpPr>
          <p:cNvPr id="11" name="">
            <a:extLst xmlns:a="http://schemas.openxmlformats.org/drawingml/2006/main">
              <a:ext uri="{FF2B5EF4-FFF2-40B4-BE49-F238E27FC236}">
                <a16:creationId xmlns:a16="http://schemas.microsoft.com/office/drawing/2014/main" id="{B9173A8C-1984-4788-AE5A-1BC657C4FB21}"/>
              </a:ext>
            </a:extLst>
          </p:cNvPr>
          <p:cNvSpPr>
            <a:spLocks xmlns:a="http://schemas.openxmlformats.org/drawingml/2006/main" noGrp="1"/>
          </p:cNvSpPr>
          <p:nvPr/>
        </p:nvSpPr>
        <p:spPr>
          <a:xfrm xmlns:a="http://schemas.openxmlformats.org/drawingml/2006/main">
            <a:off x="800100" y="2933700"/>
            <a:ext cx="355854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Impacto usuario</a:t>
            </a:r>
          </a:p>
        </p:txBody>
      </p:sp>
      <p:sp>
        <p:nvSpPr>
          <p:cNvPr id="12" name="">
            <a:extLst xmlns:a="http://schemas.openxmlformats.org/drawingml/2006/main">
              <a:ext uri="{FF2B5EF4-FFF2-40B4-BE49-F238E27FC236}">
                <a16:creationId xmlns:a16="http://schemas.microsoft.com/office/drawing/2014/main" id="{474750CC-EEFA-46D3-9680-14AA7DED70A4}"/>
              </a:ext>
            </a:extLst>
          </p:cNvPr>
          <p:cNvSpPr>
            <a:spLocks xmlns:a="http://schemas.openxmlformats.org/drawingml/2006/main" noGrp="1"/>
          </p:cNvSpPr>
          <p:nvPr/>
        </p:nvSpPr>
        <p:spPr>
          <a:xfrm xmlns:a="http://schemas.openxmlformats.org/drawingml/2006/main">
            <a:off x="4472940" y="2476500"/>
            <a:ext cx="2705100" cy="876300"/>
          </a:xfrm>
          <a:prstGeom xmlns:a="http://schemas.openxmlformats.org/drawingml/2006/main" prst="rect">
            <a:avLst/>
          </a:prstGeom>
          <a:solidFill xmlns:a="http://schemas.openxmlformats.org/drawingml/2006/main">
            <a:srgbClr val="173B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31CEEF-548B-47EF-85AB-30DC9A261A98}"/>
              </a:ext>
            </a:extLst>
          </p:cNvPr>
          <p:cNvSpPr>
            <a:spLocks xmlns:a="http://schemas.openxmlformats.org/drawingml/2006/main" noGrp="1"/>
          </p:cNvSpPr>
          <p:nvPr/>
        </p:nvSpPr>
        <p:spPr>
          <a:xfrm xmlns:a="http://schemas.openxmlformats.org/drawingml/2006/main">
            <a:off x="4587240" y="2571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25%</a:t>
            </a:r>
          </a:p>
        </p:txBody>
      </p:sp>
      <p:sp>
        <p:nvSpPr>
          <p:cNvPr id="14" name="">
            <a:extLst xmlns:a="http://schemas.openxmlformats.org/drawingml/2006/main">
              <a:ext uri="{FF2B5EF4-FFF2-40B4-BE49-F238E27FC236}">
                <a16:creationId xmlns:a16="http://schemas.microsoft.com/office/drawing/2014/main" id="{598B90C8-F97D-4952-9BEC-5C2F05C4A79B}"/>
              </a:ext>
            </a:extLst>
          </p:cNvPr>
          <p:cNvSpPr>
            <a:spLocks xmlns:a="http://schemas.openxmlformats.org/drawingml/2006/main" noGrp="1"/>
          </p:cNvSpPr>
          <p:nvPr/>
        </p:nvSpPr>
        <p:spPr>
          <a:xfrm xmlns:a="http://schemas.openxmlformats.org/drawingml/2006/main">
            <a:off x="4587240" y="29337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Impacto negocio</a:t>
            </a:r>
          </a:p>
        </p:txBody>
      </p:sp>
      <p:sp>
        <p:nvSpPr>
          <p:cNvPr id="15" name="">
            <a:extLst xmlns:a="http://schemas.openxmlformats.org/drawingml/2006/main">
              <a:ext uri="{FF2B5EF4-FFF2-40B4-BE49-F238E27FC236}">
                <a16:creationId xmlns:a16="http://schemas.microsoft.com/office/drawing/2014/main" id="{08DC591C-FCE2-4840-B8C2-A31793C92D1A}"/>
              </a:ext>
            </a:extLst>
          </p:cNvPr>
          <p:cNvSpPr>
            <a:spLocks xmlns:a="http://schemas.openxmlformats.org/drawingml/2006/main" noGrp="1"/>
          </p:cNvSpPr>
          <p:nvPr/>
        </p:nvSpPr>
        <p:spPr>
          <a:xfrm xmlns:a="http://schemas.openxmlformats.org/drawingml/2006/main">
            <a:off x="7178040" y="2476500"/>
            <a:ext cx="2164080" cy="876300"/>
          </a:xfrm>
          <a:prstGeom xmlns:a="http://schemas.openxmlformats.org/drawingml/2006/main" prst="rect">
            <a:avLst/>
          </a:prstGeom>
          <a:solidFill xmlns:a="http://schemas.openxmlformats.org/drawingml/2006/main">
            <a:srgbClr val="D99B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6699468-1E7C-40DF-B455-74BAA24014DF}"/>
              </a:ext>
            </a:extLst>
          </p:cNvPr>
          <p:cNvSpPr>
            <a:spLocks xmlns:a="http://schemas.openxmlformats.org/drawingml/2006/main" noGrp="1"/>
          </p:cNvSpPr>
          <p:nvPr/>
        </p:nvSpPr>
        <p:spPr>
          <a:xfrm xmlns:a="http://schemas.openxmlformats.org/drawingml/2006/main">
            <a:off x="7292340" y="2571750"/>
            <a:ext cx="19354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20%</a:t>
            </a:r>
          </a:p>
        </p:txBody>
      </p:sp>
      <p:sp>
        <p:nvSpPr>
          <p:cNvPr id="17" name="">
            <a:extLst xmlns:a="http://schemas.openxmlformats.org/drawingml/2006/main">
              <a:ext uri="{FF2B5EF4-FFF2-40B4-BE49-F238E27FC236}">
                <a16:creationId xmlns:a16="http://schemas.microsoft.com/office/drawing/2014/main" id="{FF5B2D51-3590-4D5C-A753-DF8F57AFBB71}"/>
              </a:ext>
            </a:extLst>
          </p:cNvPr>
          <p:cNvSpPr>
            <a:spLocks xmlns:a="http://schemas.openxmlformats.org/drawingml/2006/main" noGrp="1"/>
          </p:cNvSpPr>
          <p:nvPr/>
        </p:nvSpPr>
        <p:spPr>
          <a:xfrm xmlns:a="http://schemas.openxmlformats.org/drawingml/2006/main">
            <a:off x="7292340" y="2933700"/>
            <a:ext cx="19354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Factibilidad 2 semanas</a:t>
            </a:r>
          </a:p>
        </p:txBody>
      </p:sp>
      <p:sp>
        <p:nvSpPr>
          <p:cNvPr id="18" name="">
            <a:extLst xmlns:a="http://schemas.openxmlformats.org/drawingml/2006/main">
              <a:ext uri="{FF2B5EF4-FFF2-40B4-BE49-F238E27FC236}">
                <a16:creationId xmlns:a16="http://schemas.microsoft.com/office/drawing/2014/main" id="{61383406-193E-4E05-B809-0746406A2682}"/>
              </a:ext>
            </a:extLst>
          </p:cNvPr>
          <p:cNvSpPr>
            <a:spLocks xmlns:a="http://schemas.openxmlformats.org/drawingml/2006/main" noGrp="1"/>
          </p:cNvSpPr>
          <p:nvPr/>
        </p:nvSpPr>
        <p:spPr>
          <a:xfrm xmlns:a="http://schemas.openxmlformats.org/drawingml/2006/main">
            <a:off x="9342120" y="2476500"/>
            <a:ext cx="1623060" cy="876300"/>
          </a:xfrm>
          <a:prstGeom xmlns:a="http://schemas.openxmlformats.org/drawingml/2006/main" prst="rect">
            <a:avLst/>
          </a:prstGeom>
          <a:solidFill xmlns:a="http://schemas.openxmlformats.org/drawingml/2006/main">
            <a:srgbClr val="E86A5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3ED8F5C-303F-415C-969D-BA6E63C4DF42}"/>
              </a:ext>
            </a:extLst>
          </p:cNvPr>
          <p:cNvSpPr>
            <a:spLocks xmlns:a="http://schemas.openxmlformats.org/drawingml/2006/main" noGrp="1"/>
          </p:cNvSpPr>
          <p:nvPr/>
        </p:nvSpPr>
        <p:spPr>
          <a:xfrm xmlns:a="http://schemas.openxmlformats.org/drawingml/2006/main">
            <a:off x="9456420" y="2571750"/>
            <a:ext cx="139446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15%</a:t>
            </a:r>
          </a:p>
        </p:txBody>
      </p:sp>
      <p:sp>
        <p:nvSpPr>
          <p:cNvPr id="20" name="">
            <a:extLst xmlns:a="http://schemas.openxmlformats.org/drawingml/2006/main">
              <a:ext uri="{FF2B5EF4-FFF2-40B4-BE49-F238E27FC236}">
                <a16:creationId xmlns:a16="http://schemas.microsoft.com/office/drawing/2014/main" id="{D437E5AB-53AB-4CE5-A5B0-56B3C85F0D73}"/>
              </a:ext>
            </a:extLst>
          </p:cNvPr>
          <p:cNvSpPr>
            <a:spLocks xmlns:a="http://schemas.openxmlformats.org/drawingml/2006/main" noGrp="1"/>
          </p:cNvSpPr>
          <p:nvPr/>
        </p:nvSpPr>
        <p:spPr>
          <a:xfrm xmlns:a="http://schemas.openxmlformats.org/drawingml/2006/main">
            <a:off x="9456420" y="2933700"/>
            <a:ext cx="139446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703"/>
          </a:bodyPr>
          <a:lstStyle xmlns:a="http://schemas.openxmlformats.org/drawingml/2006/main"/>
          <a:p xmlns:a="http://schemas.openxmlformats.org/drawingml/2006/main">
            <a:pPr algn="l">
              <a:lnSpc>
                <a:spcPct val="105000"/>
              </a:lnSpc>
              <a:buNone/>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Seguridad / Compliance</a:t>
            </a:r>
          </a:p>
        </p:txBody>
      </p:sp>
      <p:sp>
        <p:nvSpPr>
          <p:cNvPr id="21" name="">
            <a:extLst xmlns:a="http://schemas.openxmlformats.org/drawingml/2006/main">
              <a:ext uri="{FF2B5EF4-FFF2-40B4-BE49-F238E27FC236}">
                <a16:creationId xmlns:a16="http://schemas.microsoft.com/office/drawing/2014/main" id="{4431CA06-E681-4B5F-A4BD-70E277788C94}"/>
              </a:ext>
            </a:extLst>
          </p:cNvPr>
          <p:cNvSpPr>
            <a:spLocks xmlns:a="http://schemas.openxmlformats.org/drawingml/2006/main" noGrp="1"/>
          </p:cNvSpPr>
          <p:nvPr/>
        </p:nvSpPr>
        <p:spPr>
          <a:xfrm xmlns:a="http://schemas.openxmlformats.org/drawingml/2006/main">
            <a:off x="10965180" y="2476500"/>
            <a:ext cx="541020" cy="876300"/>
          </a:xfrm>
          <a:prstGeom xmlns:a="http://schemas.openxmlformats.org/drawingml/2006/main" prst="rect">
            <a:avLst/>
          </a:prstGeom>
          <a:solidFill xmlns:a="http://schemas.openxmlformats.org/drawingml/2006/main">
            <a:srgbClr val="82909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D03F1FC-EF1B-4220-967A-B34850F8CC8F}"/>
              </a:ext>
            </a:extLst>
          </p:cNvPr>
          <p:cNvSpPr>
            <a:spLocks xmlns:a="http://schemas.openxmlformats.org/drawingml/2006/main" noGrp="1"/>
          </p:cNvSpPr>
          <p:nvPr/>
        </p:nvSpPr>
        <p:spPr>
          <a:xfrm xmlns:a="http://schemas.openxmlformats.org/drawingml/2006/main">
            <a:off x="11079480" y="2571750"/>
            <a:ext cx="31242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0535"/>
          </a:bodyPr>
          <a:lstStyle xmlns:a="http://schemas.openxmlformats.org/drawingml/2006/main"/>
          <a:p xmlns:a="http://schemas.openxmlformats.org/drawingml/2006/main">
            <a:pPr algn="l">
              <a:lnSpc>
                <a:spcPct val="105000"/>
              </a:lnSpc>
              <a:buNone/>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5%</a:t>
            </a:r>
          </a:p>
        </p:txBody>
      </p:sp>
      <p:sp>
        <p:nvSpPr>
          <p:cNvPr id="23" name="">
            <a:extLst xmlns:a="http://schemas.openxmlformats.org/drawingml/2006/main">
              <a:ext uri="{FF2B5EF4-FFF2-40B4-BE49-F238E27FC236}">
                <a16:creationId xmlns:a16="http://schemas.microsoft.com/office/drawing/2014/main" id="{5D3E0671-2F1C-4C86-9781-7F4ECF46C0F0}"/>
              </a:ext>
            </a:extLst>
          </p:cNvPr>
          <p:cNvSpPr>
            <a:spLocks xmlns:a="http://schemas.openxmlformats.org/drawingml/2006/main" noGrp="1"/>
          </p:cNvSpPr>
          <p:nvPr/>
        </p:nvSpPr>
        <p:spPr>
          <a:xfrm xmlns:a="http://schemas.openxmlformats.org/drawingml/2006/main">
            <a:off x="11079480" y="2933700"/>
            <a:ext cx="31242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CE</a:t>
            </a:r>
          </a:p>
        </p:txBody>
      </p:sp>
      <p:sp>
        <p:nvSpPr>
          <p:cNvPr id="24" name="">
            <a:extLst xmlns:a="http://schemas.openxmlformats.org/drawingml/2006/main">
              <a:ext uri="{FF2B5EF4-FFF2-40B4-BE49-F238E27FC236}">
                <a16:creationId xmlns:a16="http://schemas.microsoft.com/office/drawing/2014/main" id="{855FBAA2-65E0-4258-9FD0-E46452416307}"/>
              </a:ext>
            </a:extLst>
          </p:cNvPr>
          <p:cNvSpPr>
            <a:spLocks xmlns:a="http://schemas.openxmlformats.org/drawingml/2006/main" noGrp="1"/>
          </p:cNvSpPr>
          <p:nvPr/>
        </p:nvSpPr>
        <p:spPr>
          <a:xfrm xmlns:a="http://schemas.openxmlformats.org/drawingml/2006/main">
            <a:off x="685800" y="37909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Ejemplo · “Fondos en tránsito”</a:t>
            </a:r>
          </a:p>
        </p:txBody>
      </p:sp>
      <p:sp>
        <p:nvSpPr>
          <p:cNvPr id="25" name="">
            <a:extLst xmlns:a="http://schemas.openxmlformats.org/drawingml/2006/main">
              <a:ext uri="{FF2B5EF4-FFF2-40B4-BE49-F238E27FC236}">
                <a16:creationId xmlns:a16="http://schemas.microsoft.com/office/drawing/2014/main" id="{22F8246D-AAEC-49AF-B9F5-6B05075A01CC}"/>
              </a:ext>
            </a:extLst>
          </p:cNvPr>
          <p:cNvSpPr>
            <a:spLocks xmlns:a="http://schemas.openxmlformats.org/drawingml/2006/main" noGrp="1"/>
          </p:cNvSpPr>
          <p:nvPr/>
        </p:nvSpPr>
        <p:spPr>
          <a:xfrm xmlns:a="http://schemas.openxmlformats.org/drawingml/2006/main">
            <a:off x="685800" y="42672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00A7A0"/>
                </a:solidFill>
                <a:latin typeface="DejaVu Sans"/>
                <a:ea typeface="DejaVu Sans"/>
                <a:cs typeface="DejaVu Sans"/>
              </a:defRPr>
            </a:pPr>
            <a:r>
              <a:rPr sz="1050" b="1">
                <a:solidFill>
                  <a:srgbClr val="00A7A0"/>
                </a:solidFill>
                <a:latin typeface="DejaVu Sans"/>
                <a:ea typeface="DejaVu Sans"/>
                <a:cs typeface="DejaVu Sans"/>
              </a:rPr>
              <a:t>IU</a:t>
            </a:r>
          </a:p>
        </p:txBody>
      </p:sp>
      <p:sp>
        <p:nvSpPr>
          <p:cNvPr id="26" name="">
            <a:extLst xmlns:a="http://schemas.openxmlformats.org/drawingml/2006/main">
              <a:ext uri="{FF2B5EF4-FFF2-40B4-BE49-F238E27FC236}">
                <a16:creationId xmlns:a16="http://schemas.microsoft.com/office/drawing/2014/main" id="{1ADC18BA-5EDA-446B-9B2D-B08ABB8F4C6E}"/>
              </a:ext>
            </a:extLst>
          </p:cNvPr>
          <p:cNvSpPr>
            <a:spLocks xmlns:a="http://schemas.openxmlformats.org/drawingml/2006/main" noGrp="1"/>
          </p:cNvSpPr>
          <p:nvPr/>
        </p:nvSpPr>
        <p:spPr>
          <a:xfrm xmlns:a="http://schemas.openxmlformats.org/drawingml/2006/main">
            <a:off x="685800" y="45529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1B2733"/>
                </a:solidFill>
                <a:latin typeface="DejaVu Sans"/>
                <a:ea typeface="DejaVu Sans"/>
                <a:cs typeface="DejaVu Sans"/>
              </a:defRPr>
            </a:pPr>
            <a:r>
              <a:rPr sz="1200" b="0">
                <a:solidFill>
                  <a:srgbClr val="1B2733"/>
                </a:solidFill>
                <a:latin typeface="DejaVu Sans"/>
                <a:ea typeface="DejaVu Sans"/>
                <a:cs typeface="DejaVu Sans"/>
              </a:rPr>
              <a:t>5 × 0,35</a:t>
            </a:r>
          </a:p>
        </p:txBody>
      </p:sp>
      <p:sp>
        <p:nvSpPr>
          <p:cNvPr id="27" name="">
            <a:extLst xmlns:a="http://schemas.openxmlformats.org/drawingml/2006/main">
              <a:ext uri="{FF2B5EF4-FFF2-40B4-BE49-F238E27FC236}">
                <a16:creationId xmlns:a16="http://schemas.microsoft.com/office/drawing/2014/main" id="{FDD5E054-4882-4518-A10A-1241B7AC75BE}"/>
              </a:ext>
            </a:extLst>
          </p:cNvPr>
          <p:cNvSpPr>
            <a:spLocks xmlns:a="http://schemas.openxmlformats.org/drawingml/2006/main" noGrp="1"/>
          </p:cNvSpPr>
          <p:nvPr/>
        </p:nvSpPr>
        <p:spPr>
          <a:xfrm xmlns:a="http://schemas.openxmlformats.org/drawingml/2006/main">
            <a:off x="685800" y="4857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1,75</a:t>
            </a:r>
          </a:p>
        </p:txBody>
      </p:sp>
      <p:sp>
        <p:nvSpPr>
          <p:cNvPr id="28" name="">
            <a:extLst xmlns:a="http://schemas.openxmlformats.org/drawingml/2006/main">
              <a:ext uri="{FF2B5EF4-FFF2-40B4-BE49-F238E27FC236}">
                <a16:creationId xmlns:a16="http://schemas.microsoft.com/office/drawing/2014/main" id="{28858878-AE6E-4E0D-BC4D-84F4A542D953}"/>
              </a:ext>
            </a:extLst>
          </p:cNvPr>
          <p:cNvSpPr>
            <a:spLocks xmlns:a="http://schemas.openxmlformats.org/drawingml/2006/main" noGrp="1"/>
          </p:cNvSpPr>
          <p:nvPr/>
        </p:nvSpPr>
        <p:spPr>
          <a:xfrm xmlns:a="http://schemas.openxmlformats.org/drawingml/2006/main">
            <a:off x="2343150" y="42672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173B57"/>
                </a:solidFill>
                <a:latin typeface="DejaVu Sans"/>
                <a:ea typeface="DejaVu Sans"/>
                <a:cs typeface="DejaVu Sans"/>
              </a:defRPr>
            </a:pPr>
            <a:r>
              <a:rPr sz="1050" b="1">
                <a:solidFill>
                  <a:srgbClr val="173B57"/>
                </a:solidFill>
                <a:latin typeface="DejaVu Sans"/>
                <a:ea typeface="DejaVu Sans"/>
                <a:cs typeface="DejaVu Sans"/>
              </a:rPr>
              <a:t>IN</a:t>
            </a:r>
          </a:p>
        </p:txBody>
      </p:sp>
      <p:sp>
        <p:nvSpPr>
          <p:cNvPr id="29" name="">
            <a:extLst xmlns:a="http://schemas.openxmlformats.org/drawingml/2006/main">
              <a:ext uri="{FF2B5EF4-FFF2-40B4-BE49-F238E27FC236}">
                <a16:creationId xmlns:a16="http://schemas.microsoft.com/office/drawing/2014/main" id="{69326700-A7FC-4AFE-B74E-FF6D800B9BDB}"/>
              </a:ext>
            </a:extLst>
          </p:cNvPr>
          <p:cNvSpPr>
            <a:spLocks xmlns:a="http://schemas.openxmlformats.org/drawingml/2006/main" noGrp="1"/>
          </p:cNvSpPr>
          <p:nvPr/>
        </p:nvSpPr>
        <p:spPr>
          <a:xfrm xmlns:a="http://schemas.openxmlformats.org/drawingml/2006/main">
            <a:off x="2343150" y="45529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1B2733"/>
                </a:solidFill>
                <a:latin typeface="DejaVu Sans"/>
                <a:ea typeface="DejaVu Sans"/>
                <a:cs typeface="DejaVu Sans"/>
              </a:defRPr>
            </a:pPr>
            <a:r>
              <a:rPr sz="1200" b="0">
                <a:solidFill>
                  <a:srgbClr val="1B2733"/>
                </a:solidFill>
                <a:latin typeface="DejaVu Sans"/>
                <a:ea typeface="DejaVu Sans"/>
                <a:cs typeface="DejaVu Sans"/>
              </a:rPr>
              <a:t>5 × 0,25</a:t>
            </a:r>
          </a:p>
        </p:txBody>
      </p:sp>
      <p:sp>
        <p:nvSpPr>
          <p:cNvPr id="30" name="">
            <a:extLst xmlns:a="http://schemas.openxmlformats.org/drawingml/2006/main">
              <a:ext uri="{FF2B5EF4-FFF2-40B4-BE49-F238E27FC236}">
                <a16:creationId xmlns:a16="http://schemas.microsoft.com/office/drawing/2014/main" id="{A8AD4D30-26AE-4348-A2DC-8B27DE69E203}"/>
              </a:ext>
            </a:extLst>
          </p:cNvPr>
          <p:cNvSpPr>
            <a:spLocks xmlns:a="http://schemas.openxmlformats.org/drawingml/2006/main" noGrp="1"/>
          </p:cNvSpPr>
          <p:nvPr/>
        </p:nvSpPr>
        <p:spPr>
          <a:xfrm xmlns:a="http://schemas.openxmlformats.org/drawingml/2006/main">
            <a:off x="2343150" y="4857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1,25</a:t>
            </a:r>
          </a:p>
        </p:txBody>
      </p:sp>
      <p:sp>
        <p:nvSpPr>
          <p:cNvPr id="31" name="">
            <a:extLst xmlns:a="http://schemas.openxmlformats.org/drawingml/2006/main">
              <a:ext uri="{FF2B5EF4-FFF2-40B4-BE49-F238E27FC236}">
                <a16:creationId xmlns:a16="http://schemas.microsoft.com/office/drawing/2014/main" id="{62B5B1AA-B5BD-42E6-BF58-A1777854D216}"/>
              </a:ext>
            </a:extLst>
          </p:cNvPr>
          <p:cNvSpPr>
            <a:spLocks xmlns:a="http://schemas.openxmlformats.org/drawingml/2006/main" noGrp="1"/>
          </p:cNvSpPr>
          <p:nvPr/>
        </p:nvSpPr>
        <p:spPr>
          <a:xfrm xmlns:a="http://schemas.openxmlformats.org/drawingml/2006/main">
            <a:off x="4000500" y="42672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D99B35"/>
                </a:solidFill>
                <a:latin typeface="DejaVu Sans"/>
                <a:ea typeface="DejaVu Sans"/>
                <a:cs typeface="DejaVu Sans"/>
              </a:defRPr>
            </a:pPr>
            <a:r>
              <a:rPr sz="1050" b="1">
                <a:solidFill>
                  <a:srgbClr val="D99B35"/>
                </a:solidFill>
                <a:latin typeface="DejaVu Sans"/>
                <a:ea typeface="DejaVu Sans"/>
                <a:cs typeface="DejaVu Sans"/>
              </a:rPr>
              <a:t>F2S</a:t>
            </a:r>
          </a:p>
        </p:txBody>
      </p:sp>
      <p:sp>
        <p:nvSpPr>
          <p:cNvPr id="32" name="">
            <a:extLst xmlns:a="http://schemas.openxmlformats.org/drawingml/2006/main">
              <a:ext uri="{FF2B5EF4-FFF2-40B4-BE49-F238E27FC236}">
                <a16:creationId xmlns:a16="http://schemas.microsoft.com/office/drawing/2014/main" id="{5C4DA3B3-3336-4EE5-8947-B4A5E5F6B9A9}"/>
              </a:ext>
            </a:extLst>
          </p:cNvPr>
          <p:cNvSpPr>
            <a:spLocks xmlns:a="http://schemas.openxmlformats.org/drawingml/2006/main" noGrp="1"/>
          </p:cNvSpPr>
          <p:nvPr/>
        </p:nvSpPr>
        <p:spPr>
          <a:xfrm xmlns:a="http://schemas.openxmlformats.org/drawingml/2006/main">
            <a:off x="4000500" y="45529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1B2733"/>
                </a:solidFill>
                <a:latin typeface="DejaVu Sans"/>
                <a:ea typeface="DejaVu Sans"/>
                <a:cs typeface="DejaVu Sans"/>
              </a:defRPr>
            </a:pPr>
            <a:r>
              <a:rPr sz="1200" b="0">
                <a:solidFill>
                  <a:srgbClr val="1B2733"/>
                </a:solidFill>
                <a:latin typeface="DejaVu Sans"/>
                <a:ea typeface="DejaVu Sans"/>
                <a:cs typeface="DejaVu Sans"/>
              </a:rPr>
              <a:t>4 × 0,20</a:t>
            </a:r>
          </a:p>
        </p:txBody>
      </p:sp>
      <p:sp>
        <p:nvSpPr>
          <p:cNvPr id="33" name="">
            <a:extLst xmlns:a="http://schemas.openxmlformats.org/drawingml/2006/main">
              <a:ext uri="{FF2B5EF4-FFF2-40B4-BE49-F238E27FC236}">
                <a16:creationId xmlns:a16="http://schemas.microsoft.com/office/drawing/2014/main" id="{A102C6BC-5E74-457C-B728-6DCCE2893282}"/>
              </a:ext>
            </a:extLst>
          </p:cNvPr>
          <p:cNvSpPr>
            <a:spLocks xmlns:a="http://schemas.openxmlformats.org/drawingml/2006/main" noGrp="1"/>
          </p:cNvSpPr>
          <p:nvPr/>
        </p:nvSpPr>
        <p:spPr>
          <a:xfrm xmlns:a="http://schemas.openxmlformats.org/drawingml/2006/main">
            <a:off x="4000500" y="4857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0,80</a:t>
            </a:r>
          </a:p>
        </p:txBody>
      </p:sp>
      <p:sp>
        <p:nvSpPr>
          <p:cNvPr id="34" name="">
            <a:extLst xmlns:a="http://schemas.openxmlformats.org/drawingml/2006/main">
              <a:ext uri="{FF2B5EF4-FFF2-40B4-BE49-F238E27FC236}">
                <a16:creationId xmlns:a16="http://schemas.microsoft.com/office/drawing/2014/main" id="{152C1584-DCB3-4A04-A839-9FAA0E09EFBB}"/>
              </a:ext>
            </a:extLst>
          </p:cNvPr>
          <p:cNvSpPr>
            <a:spLocks xmlns:a="http://schemas.openxmlformats.org/drawingml/2006/main" noGrp="1"/>
          </p:cNvSpPr>
          <p:nvPr/>
        </p:nvSpPr>
        <p:spPr>
          <a:xfrm xmlns:a="http://schemas.openxmlformats.org/drawingml/2006/main">
            <a:off x="5657850" y="42672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SC</a:t>
            </a:r>
          </a:p>
        </p:txBody>
      </p:sp>
      <p:sp>
        <p:nvSpPr>
          <p:cNvPr id="35" name="">
            <a:extLst xmlns:a="http://schemas.openxmlformats.org/drawingml/2006/main">
              <a:ext uri="{FF2B5EF4-FFF2-40B4-BE49-F238E27FC236}">
                <a16:creationId xmlns:a16="http://schemas.microsoft.com/office/drawing/2014/main" id="{79346164-7564-47CE-AC59-0405BB44A02B}"/>
              </a:ext>
            </a:extLst>
          </p:cNvPr>
          <p:cNvSpPr>
            <a:spLocks xmlns:a="http://schemas.openxmlformats.org/drawingml/2006/main" noGrp="1"/>
          </p:cNvSpPr>
          <p:nvPr/>
        </p:nvSpPr>
        <p:spPr>
          <a:xfrm xmlns:a="http://schemas.openxmlformats.org/drawingml/2006/main">
            <a:off x="5657850" y="45529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1B2733"/>
                </a:solidFill>
                <a:latin typeface="DejaVu Sans"/>
                <a:ea typeface="DejaVu Sans"/>
                <a:cs typeface="DejaVu Sans"/>
              </a:defRPr>
            </a:pPr>
            <a:r>
              <a:rPr sz="1200" b="0">
                <a:solidFill>
                  <a:srgbClr val="1B2733"/>
                </a:solidFill>
                <a:latin typeface="DejaVu Sans"/>
                <a:ea typeface="DejaVu Sans"/>
                <a:cs typeface="DejaVu Sans"/>
              </a:rPr>
              <a:t>5 × 0,15</a:t>
            </a:r>
          </a:p>
        </p:txBody>
      </p:sp>
      <p:sp>
        <p:nvSpPr>
          <p:cNvPr id="36" name="">
            <a:extLst xmlns:a="http://schemas.openxmlformats.org/drawingml/2006/main">
              <a:ext uri="{FF2B5EF4-FFF2-40B4-BE49-F238E27FC236}">
                <a16:creationId xmlns:a16="http://schemas.microsoft.com/office/drawing/2014/main" id="{43659815-8CB0-4113-B8A0-90244C2E13E8}"/>
              </a:ext>
            </a:extLst>
          </p:cNvPr>
          <p:cNvSpPr>
            <a:spLocks xmlns:a="http://schemas.openxmlformats.org/drawingml/2006/main" noGrp="1"/>
          </p:cNvSpPr>
          <p:nvPr/>
        </p:nvSpPr>
        <p:spPr>
          <a:xfrm xmlns:a="http://schemas.openxmlformats.org/drawingml/2006/main">
            <a:off x="5657850" y="4857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0,75</a:t>
            </a:r>
          </a:p>
        </p:txBody>
      </p:sp>
      <p:sp>
        <p:nvSpPr>
          <p:cNvPr id="37" name="">
            <a:extLst xmlns:a="http://schemas.openxmlformats.org/drawingml/2006/main">
              <a:ext uri="{FF2B5EF4-FFF2-40B4-BE49-F238E27FC236}">
                <a16:creationId xmlns:a16="http://schemas.microsoft.com/office/drawing/2014/main" id="{FB6F1F7D-AC52-4659-9F6A-FD916B0752AD}"/>
              </a:ext>
            </a:extLst>
          </p:cNvPr>
          <p:cNvSpPr>
            <a:spLocks xmlns:a="http://schemas.openxmlformats.org/drawingml/2006/main" noGrp="1"/>
          </p:cNvSpPr>
          <p:nvPr/>
        </p:nvSpPr>
        <p:spPr>
          <a:xfrm xmlns:a="http://schemas.openxmlformats.org/drawingml/2006/main">
            <a:off x="7315200" y="42672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82909B"/>
                </a:solidFill>
                <a:latin typeface="DejaVu Sans"/>
                <a:ea typeface="DejaVu Sans"/>
                <a:cs typeface="DejaVu Sans"/>
              </a:defRPr>
            </a:pPr>
            <a:r>
              <a:rPr sz="1050" b="1">
                <a:solidFill>
                  <a:srgbClr val="82909B"/>
                </a:solidFill>
                <a:latin typeface="DejaVu Sans"/>
                <a:ea typeface="DejaVu Sans"/>
                <a:cs typeface="DejaVu Sans"/>
              </a:rPr>
              <a:t>CE</a:t>
            </a:r>
          </a:p>
        </p:txBody>
      </p:sp>
      <p:sp>
        <p:nvSpPr>
          <p:cNvPr id="38" name="">
            <a:extLst xmlns:a="http://schemas.openxmlformats.org/drawingml/2006/main">
              <a:ext uri="{FF2B5EF4-FFF2-40B4-BE49-F238E27FC236}">
                <a16:creationId xmlns:a16="http://schemas.microsoft.com/office/drawing/2014/main" id="{E96A6F07-4BCF-464A-9A47-02F1686413E0}"/>
              </a:ext>
            </a:extLst>
          </p:cNvPr>
          <p:cNvSpPr>
            <a:spLocks xmlns:a="http://schemas.openxmlformats.org/drawingml/2006/main" noGrp="1"/>
          </p:cNvSpPr>
          <p:nvPr/>
        </p:nvSpPr>
        <p:spPr>
          <a:xfrm xmlns:a="http://schemas.openxmlformats.org/drawingml/2006/main">
            <a:off x="7315200" y="455295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a:solidFill>
                  <a:srgbClr val="1B2733"/>
                </a:solidFill>
                <a:latin typeface="DejaVu Sans"/>
                <a:ea typeface="DejaVu Sans"/>
                <a:cs typeface="DejaVu Sans"/>
              </a:defRPr>
            </a:pPr>
            <a:r>
              <a:rPr sz="1200" b="0">
                <a:solidFill>
                  <a:srgbClr val="1B2733"/>
                </a:solidFill>
                <a:latin typeface="DejaVu Sans"/>
                <a:ea typeface="DejaVu Sans"/>
                <a:cs typeface="DejaVu Sans"/>
              </a:rPr>
              <a:t>5 × 0,05</a:t>
            </a:r>
          </a:p>
        </p:txBody>
      </p:sp>
      <p:sp>
        <p:nvSpPr>
          <p:cNvPr id="39" name="">
            <a:extLst xmlns:a="http://schemas.openxmlformats.org/drawingml/2006/main">
              <a:ext uri="{FF2B5EF4-FFF2-40B4-BE49-F238E27FC236}">
                <a16:creationId xmlns:a16="http://schemas.microsoft.com/office/drawing/2014/main" id="{75694499-121A-463B-AF11-84D1B76F3A9B}"/>
              </a:ext>
            </a:extLst>
          </p:cNvPr>
          <p:cNvSpPr>
            <a:spLocks xmlns:a="http://schemas.openxmlformats.org/drawingml/2006/main" noGrp="1"/>
          </p:cNvSpPr>
          <p:nvPr/>
        </p:nvSpPr>
        <p:spPr>
          <a:xfrm xmlns:a="http://schemas.openxmlformats.org/drawingml/2006/main">
            <a:off x="7315200" y="4857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0,25</a:t>
            </a:r>
          </a:p>
        </p:txBody>
      </p:sp>
      <p:sp>
        <p:nvSpPr>
          <p:cNvPr id="40" name="">
            <a:extLst xmlns:a="http://schemas.openxmlformats.org/drawingml/2006/main">
              <a:ext uri="{FF2B5EF4-FFF2-40B4-BE49-F238E27FC236}">
                <a16:creationId xmlns:a16="http://schemas.microsoft.com/office/drawing/2014/main" id="{2449131C-044D-4473-86EA-E54602D64CAC}"/>
              </a:ext>
            </a:extLst>
          </p:cNvPr>
          <p:cNvSpPr>
            <a:spLocks xmlns:a="http://schemas.openxmlformats.org/drawingml/2006/main" noGrp="1"/>
          </p:cNvSpPr>
          <p:nvPr/>
        </p:nvSpPr>
        <p:spPr>
          <a:xfrm xmlns:a="http://schemas.openxmlformats.org/drawingml/2006/main">
            <a:off x="9391650" y="4019550"/>
            <a:ext cx="2114550" cy="1314450"/>
          </a:xfrm>
          <a:prstGeom xmlns:a="http://schemas.openxmlformats.org/drawingml/2006/main" prst="roundRect">
            <a:avLst>
              <a:gd name="adj" fmla="val 14493"/>
            </a:avLst>
          </a:prstGeom>
          <a:solidFill xmlns:a="http://schemas.openxmlformats.org/drawingml/2006/main">
            <a:srgbClr val="102A4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652012F-8323-4127-B88E-FAB5B88AA4CB}"/>
              </a:ext>
            </a:extLst>
          </p:cNvPr>
          <p:cNvSpPr>
            <a:spLocks xmlns:a="http://schemas.openxmlformats.org/drawingml/2006/main" noGrp="1"/>
          </p:cNvSpPr>
          <p:nvPr/>
        </p:nvSpPr>
        <p:spPr>
          <a:xfrm xmlns:a="http://schemas.openxmlformats.org/drawingml/2006/main">
            <a:off x="9658350" y="42291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1">
                <a:solidFill>
                  <a:srgbClr val="71D8D0"/>
                </a:solidFill>
                <a:latin typeface="DejaVu Sans"/>
                <a:ea typeface="DejaVu Sans"/>
                <a:cs typeface="DejaVu Sans"/>
              </a:defRPr>
            </a:pPr>
            <a:r>
              <a:rPr sz="975" b="1">
                <a:solidFill>
                  <a:srgbClr val="71D8D0"/>
                </a:solidFill>
                <a:latin typeface="DejaVu Sans"/>
                <a:ea typeface="DejaVu Sans"/>
                <a:cs typeface="DejaVu Sans"/>
              </a:rPr>
              <a:t>PUNTAJE</a:t>
            </a:r>
          </a:p>
        </p:txBody>
      </p:sp>
      <p:sp>
        <p:nvSpPr>
          <p:cNvPr id="42" name="">
            <a:extLst xmlns:a="http://schemas.openxmlformats.org/drawingml/2006/main">
              <a:ext uri="{FF2B5EF4-FFF2-40B4-BE49-F238E27FC236}">
                <a16:creationId xmlns:a16="http://schemas.microsoft.com/office/drawing/2014/main" id="{8B53CD39-BB90-46E4-8327-B63AC8BD27FC}"/>
              </a:ext>
            </a:extLst>
          </p:cNvPr>
          <p:cNvSpPr>
            <a:spLocks xmlns:a="http://schemas.openxmlformats.org/drawingml/2006/main" noGrp="1"/>
          </p:cNvSpPr>
          <p:nvPr/>
        </p:nvSpPr>
        <p:spPr>
          <a:xfrm xmlns:a="http://schemas.openxmlformats.org/drawingml/2006/main">
            <a:off x="9658350" y="4552950"/>
            <a:ext cx="1581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4,80 / 5</a:t>
            </a:r>
          </a:p>
        </p:txBody>
      </p:sp>
      <p:sp>
        <p:nvSpPr>
          <p:cNvPr id="43" name="">
            <a:extLst xmlns:a="http://schemas.openxmlformats.org/drawingml/2006/main">
              <a:ext uri="{FF2B5EF4-FFF2-40B4-BE49-F238E27FC236}">
                <a16:creationId xmlns:a16="http://schemas.microsoft.com/office/drawing/2014/main" id="{890E5FF4-54C3-4C5C-BE80-09288DCF3CDB}"/>
              </a:ext>
            </a:extLst>
          </p:cNvPr>
          <p:cNvSpPr>
            <a:spLocks xmlns:a="http://schemas.openxmlformats.org/drawingml/2006/main" noGrp="1"/>
          </p:cNvSpPr>
          <p:nvPr/>
        </p:nvSpPr>
        <p:spPr>
          <a:xfrm xmlns:a="http://schemas.openxmlformats.org/drawingml/2006/main">
            <a:off x="9658350" y="508635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75" b="0">
                <a:solidFill>
                  <a:srgbClr val="B7CBD9"/>
                </a:solidFill>
                <a:latin typeface="DejaVu Sans"/>
                <a:ea typeface="DejaVu Sans"/>
                <a:cs typeface="DejaVu Sans"/>
              </a:defRPr>
            </a:pPr>
            <a:r>
              <a:rPr sz="975" b="0">
                <a:solidFill>
                  <a:srgbClr val="B7CBD9"/>
                </a:solidFill>
                <a:latin typeface="DejaVu Sans"/>
                <a:ea typeface="DejaVu Sans"/>
                <a:cs typeface="DejaVu Sans"/>
              </a:rPr>
              <a:t>Quick win</a:t>
            </a:r>
          </a:p>
        </p:txBody>
      </p:sp>
      <p:sp>
        <p:nvSpPr>
          <p:cNvPr id="44" name="">
            <a:extLst xmlns:a="http://schemas.openxmlformats.org/drawingml/2006/main">
              <a:ext uri="{FF2B5EF4-FFF2-40B4-BE49-F238E27FC236}">
                <a16:creationId xmlns:a16="http://schemas.microsoft.com/office/drawing/2014/main" id="{713371AE-F264-4F44-862B-78A388B38987}"/>
              </a:ext>
            </a:extLst>
          </p:cNvPr>
          <p:cNvSpPr>
            <a:spLocks xmlns:a="http://schemas.openxmlformats.org/drawingml/2006/main" noGrp="1"/>
          </p:cNvSpPr>
          <p:nvPr/>
        </p:nvSpPr>
        <p:spPr>
          <a:xfrm xmlns:a="http://schemas.openxmlformats.org/drawingml/2006/main">
            <a:off x="685800" y="5619750"/>
            <a:ext cx="10820400" cy="400050"/>
          </a:xfrm>
          <a:prstGeom xmlns:a="http://schemas.openxmlformats.org/drawingml/2006/main" prst="roundRect">
            <a:avLst>
              <a:gd name="adj" fmla="val 28571"/>
            </a:avLst>
          </a:prstGeom>
          <a:solidFill xmlns:a="http://schemas.openxmlformats.org/drawingml/2006/main">
            <a:srgbClr val="FBE8E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3826F91-06D0-4F0D-8C11-FB756697C756}"/>
              </a:ext>
            </a:extLst>
          </p:cNvPr>
          <p:cNvSpPr>
            <a:spLocks xmlns:a="http://schemas.openxmlformats.org/drawingml/2006/main" noGrp="1"/>
          </p:cNvSpPr>
          <p:nvPr/>
        </p:nvSpPr>
        <p:spPr>
          <a:xfrm xmlns:a="http://schemas.openxmlformats.org/drawingml/2006/main">
            <a:off x="876300" y="5705475"/>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En Seguridad/Compliance, 5 significa bajo riesgo residual y aprobación simple.</a:t>
            </a:r>
          </a:p>
        </p:txBody>
      </p:sp>
      <p:sp>
        <p:nvSpPr>
          <p:cNvPr id="46" name="">
            <a:extLst xmlns:a="http://schemas.openxmlformats.org/drawingml/2006/main">
              <a:ext uri="{FF2B5EF4-FFF2-40B4-BE49-F238E27FC236}">
                <a16:creationId xmlns:a16="http://schemas.microsoft.com/office/drawing/2014/main" id="{3947FB99-E485-440D-BAA9-3DE464CA85D2}"/>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modelo ponderado del Plan Estratégico. La confianza de evidencia funciona como ajuste, no como sustituto de validación.</a:t>
            </a:r>
          </a:p>
        </p:txBody>
      </p:sp>
    </p:spTree>
    <p:extLst>
      <p:ext uri="{BB962C8B-B14F-4D97-AF65-F5344CB8AC3E}">
        <p14:creationId xmlns:p14="http://schemas.microsoft.com/office/powerpoint/2010/main" val="9010254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9B243D-CE4F-4B41-91A8-8B80912966D4}"/>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PRIORIZACIÓN</a:t>
            </a:r>
          </a:p>
        </p:txBody>
      </p:sp>
      <p:sp>
        <p:nvSpPr>
          <p:cNvPr id="2" name="">
            <a:extLst xmlns:a="http://schemas.openxmlformats.org/drawingml/2006/main">
              <a:ext uri="{FF2B5EF4-FFF2-40B4-BE49-F238E27FC236}">
                <a16:creationId xmlns:a16="http://schemas.microsoft.com/office/drawing/2014/main" id="{D26AE984-270B-4357-88D6-18AF668FF94A}"/>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Dos quick wins dominan el Sprint 1</a:t>
            </a:r>
          </a:p>
        </p:txBody>
      </p:sp>
      <p:sp>
        <p:nvSpPr>
          <p:cNvPr id="3" name="">
            <a:extLst xmlns:a="http://schemas.openxmlformats.org/drawingml/2006/main">
              <a:ext uri="{FF2B5EF4-FFF2-40B4-BE49-F238E27FC236}">
                <a16:creationId xmlns:a16="http://schemas.microsoft.com/office/drawing/2014/main" id="{900CA6E0-AB7E-4225-B1E6-DDEA0F622E45}"/>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7F462518-5316-4C18-8570-707C9F1894E5}"/>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45FA002D-0964-44A2-A120-260788446B09}"/>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ERICK</a:t>
            </a:r>
          </a:p>
        </p:txBody>
      </p:sp>
      <p:sp>
        <p:nvSpPr>
          <p:cNvPr id="6" name="">
            <a:extLst xmlns:a="http://schemas.openxmlformats.org/drawingml/2006/main">
              <a:ext uri="{FF2B5EF4-FFF2-40B4-BE49-F238E27FC236}">
                <a16:creationId xmlns:a16="http://schemas.microsoft.com/office/drawing/2014/main" id="{D2BE1096-2E2A-4E15-9039-2157ADDC4C4C}"/>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09</a:t>
            </a:r>
          </a:p>
        </p:txBody>
      </p:sp>
      <p:graphicFrame>
        <p:nvGraphicFramePr>
          <p:cNvPr id="24" name="Chart"/>
          <p:cNvGraphicFramePr/>
          <p:nvPr/>
        </p:nvGraphicFramePr>
        <p:xfrm>
          <a:off xmlns:a="http://schemas.openxmlformats.org/drawingml/2006/main" x="685800" y="1428750"/>
          <a:ext xmlns:a="http://schemas.openxmlformats.org/drawingml/2006/main" cx="8096250" cy="4533900"/>
        </p:xfrm>
        <a:graphic xmlns:a="http://schemas.openxmlformats.org/drawingml/2006/main">
          <a:graphicData uri="http://schemas.openxmlformats.org/drawingml/2006/chart">
            <c:chart xmlns:r="http://schemas.openxmlformats.org/officeDocument/2006/relationships" xmlns:c="http://schemas.openxmlformats.org/drawingml/2006/chart" r:id="R5001eb46da554644"/>
          </a:graphicData>
        </a:graphic>
      </p:graphicFrame>
      <p:sp>
        <p:nvSpPr>
          <p:cNvPr id="8" name="">
            <a:extLst xmlns:a="http://schemas.openxmlformats.org/drawingml/2006/main">
              <a:ext uri="{FF2B5EF4-FFF2-40B4-BE49-F238E27FC236}">
                <a16:creationId xmlns:a16="http://schemas.microsoft.com/office/drawing/2014/main" id="{99630297-96D9-4B1E-9BCC-E1E58AF0684C}"/>
              </a:ext>
            </a:extLst>
          </p:cNvPr>
          <p:cNvSpPr>
            <a:spLocks xmlns:a="http://schemas.openxmlformats.org/drawingml/2006/main" noGrp="1"/>
          </p:cNvSpPr>
          <p:nvPr/>
        </p:nvSpPr>
        <p:spPr>
          <a:xfrm xmlns:a="http://schemas.openxmlformats.org/drawingml/2006/main">
            <a:off x="9144000" y="1581150"/>
            <a:ext cx="236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SPRINT 1</a:t>
            </a:r>
          </a:p>
        </p:txBody>
      </p:sp>
      <p:sp>
        <p:nvSpPr>
          <p:cNvPr id="9" name="">
            <a:extLst xmlns:a="http://schemas.openxmlformats.org/drawingml/2006/main">
              <a:ext uri="{FF2B5EF4-FFF2-40B4-BE49-F238E27FC236}">
                <a16:creationId xmlns:a16="http://schemas.microsoft.com/office/drawing/2014/main" id="{2C1DA74D-5EBA-4B35-950C-7720017B80B9}"/>
              </a:ext>
            </a:extLst>
          </p:cNvPr>
          <p:cNvSpPr>
            <a:spLocks xmlns:a="http://schemas.openxmlformats.org/drawingml/2006/main" noGrp="1"/>
          </p:cNvSpPr>
          <p:nvPr/>
        </p:nvSpPr>
        <p:spPr>
          <a:xfrm xmlns:a="http://schemas.openxmlformats.org/drawingml/2006/main">
            <a:off x="9144000" y="2038350"/>
            <a:ext cx="400050" cy="400050"/>
          </a:xfrm>
          <a:prstGeom xmlns:a="http://schemas.openxmlformats.org/drawingml/2006/main" prst="roundRect">
            <a:avLst>
              <a:gd name="adj" fmla="val 50000"/>
            </a:avLst>
          </a:prstGeom>
          <a:solidFill xmlns:a="http://schemas.openxmlformats.org/drawingml/2006/main">
            <a:srgbClr val="00A7A0"/>
          </a:solidFill>
          <a:ln xmlns:a="http://schemas.openxmlformats.org/drawingml/2006/main" w="0">
            <a:noFill/>
            <a:prstDash val="solid"/>
          </a:ln>
        </p:spPr>
        <p:txBody>
          <a:bodyPr xmlns:a="http://schemas.openxmlformats.org/drawingml/2006/main" wrap="square" lIns="0" tIns="0" rIns="0" bIns="0" anchor="ctr">
            <a:normAutofit fontScale="94281"/>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91B82BE0-8704-4373-852C-0A9176A2EEEE}"/>
              </a:ext>
            </a:extLst>
          </p:cNvPr>
          <p:cNvSpPr>
            <a:spLocks xmlns:a="http://schemas.openxmlformats.org/drawingml/2006/main" noGrp="1"/>
          </p:cNvSpPr>
          <p:nvPr/>
        </p:nvSpPr>
        <p:spPr>
          <a:xfrm xmlns:a="http://schemas.openxmlformats.org/drawingml/2006/main">
            <a:off x="9696450" y="198120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42"/>
          </a:bodyPr>
          <a:lstStyle xmlns:a="http://schemas.openxmlformats.org/drawingml/2006/main"/>
          <a:p xmlns:a="http://schemas.openxmlformats.org/drawingml/2006/main">
            <a:pPr algn="l">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Fondos en tránsito</a:t>
            </a:r>
          </a:p>
          <a:p xmlns:a="http://schemas.openxmlformats.org/drawingml/2006/main">
            <a:pPr algn="l">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4,80</a:t>
            </a:r>
          </a:p>
        </p:txBody>
      </p:sp>
      <p:sp>
        <p:nvSpPr>
          <p:cNvPr id="11" name="">
            <a:extLst xmlns:a="http://schemas.openxmlformats.org/drawingml/2006/main">
              <a:ext uri="{FF2B5EF4-FFF2-40B4-BE49-F238E27FC236}">
                <a16:creationId xmlns:a16="http://schemas.microsoft.com/office/drawing/2014/main" id="{9E3918FE-133B-4666-95D1-8BED47500A46}"/>
              </a:ext>
            </a:extLst>
          </p:cNvPr>
          <p:cNvSpPr>
            <a:spLocks xmlns:a="http://schemas.openxmlformats.org/drawingml/2006/main" noGrp="1"/>
          </p:cNvSpPr>
          <p:nvPr/>
        </p:nvSpPr>
        <p:spPr>
          <a:xfrm xmlns:a="http://schemas.openxmlformats.org/drawingml/2006/main">
            <a:off x="9144000" y="2724150"/>
            <a:ext cx="400050" cy="400050"/>
          </a:xfrm>
          <a:prstGeom xmlns:a="http://schemas.openxmlformats.org/drawingml/2006/main" prst="roundRect">
            <a:avLst>
              <a:gd name="adj" fmla="val 50000"/>
            </a:avLst>
          </a:prstGeom>
          <a:solidFill xmlns:a="http://schemas.openxmlformats.org/drawingml/2006/main">
            <a:srgbClr val="007F79"/>
          </a:solidFill>
          <a:ln xmlns:a="http://schemas.openxmlformats.org/drawingml/2006/main" w="0">
            <a:noFill/>
            <a:prstDash val="solid"/>
          </a:ln>
        </p:spPr>
        <p:txBody>
          <a:bodyPr xmlns:a="http://schemas.openxmlformats.org/drawingml/2006/main" wrap="square" lIns="0" tIns="0" rIns="0" bIns="0" anchor="ctr">
            <a:normAutofit fontScale="94281"/>
          </a:bodyPr>
          <a:lstStyle xmlns:a="http://schemas.openxmlformats.org/drawingml/2006/main"/>
          <a:p xmlns:a="http://schemas.openxmlformats.org/drawingml/2006/main">
            <a:pPr algn="ctr">
              <a:lnSpc>
                <a:spcPct val="105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3FD3EC17-08E4-41EC-AFA6-841B7102A0F2}"/>
              </a:ext>
            </a:extLst>
          </p:cNvPr>
          <p:cNvSpPr>
            <a:spLocks xmlns:a="http://schemas.openxmlformats.org/drawingml/2006/main" noGrp="1"/>
          </p:cNvSpPr>
          <p:nvPr/>
        </p:nvSpPr>
        <p:spPr>
          <a:xfrm xmlns:a="http://schemas.openxmlformats.org/drawingml/2006/main">
            <a:off x="9696450" y="266700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Lenguaje claro</a:t>
            </a:r>
          </a:p>
          <a:p xmlns:a="http://schemas.openxmlformats.org/drawingml/2006/main">
            <a:pPr algn="l">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4,40</a:t>
            </a:r>
          </a:p>
        </p:txBody>
      </p:sp>
      <p:sp>
        <p:nvSpPr>
          <p:cNvPr id="13" name="">
            <a:extLst xmlns:a="http://schemas.openxmlformats.org/drawingml/2006/main">
              <a:ext uri="{FF2B5EF4-FFF2-40B4-BE49-F238E27FC236}">
                <a16:creationId xmlns:a16="http://schemas.microsoft.com/office/drawing/2014/main" id="{C6D74320-551E-4210-BA16-CD60F552008B}"/>
              </a:ext>
            </a:extLst>
          </p:cNvPr>
          <p:cNvSpPr>
            <a:spLocks xmlns:a="http://schemas.openxmlformats.org/drawingml/2006/main" noGrp="1"/>
          </p:cNvSpPr>
          <p:nvPr/>
        </p:nvSpPr>
        <p:spPr>
          <a:xfrm xmlns:a="http://schemas.openxmlformats.org/drawingml/2006/main">
            <a:off x="9144000" y="3524250"/>
            <a:ext cx="23622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14" name="">
            <a:extLst xmlns:a="http://schemas.openxmlformats.org/drawingml/2006/main">
              <a:ext uri="{FF2B5EF4-FFF2-40B4-BE49-F238E27FC236}">
                <a16:creationId xmlns:a16="http://schemas.microsoft.com/office/drawing/2014/main" id="{9C6A5C61-D93D-4FC6-B4A2-0E2DA68A4864}"/>
              </a:ext>
            </a:extLst>
          </p:cNvPr>
          <p:cNvSpPr>
            <a:spLocks xmlns:a="http://schemas.openxmlformats.org/drawingml/2006/main" noGrp="1"/>
          </p:cNvSpPr>
          <p:nvPr/>
        </p:nvSpPr>
        <p:spPr>
          <a:xfrm xmlns:a="http://schemas.openxmlformats.org/drawingml/2006/main">
            <a:off x="9144000" y="369570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No entra ahora</a:t>
            </a:r>
          </a:p>
        </p:txBody>
      </p:sp>
      <p:sp>
        <p:nvSpPr>
          <p:cNvPr id="15" name="">
            <a:extLst xmlns:a="http://schemas.openxmlformats.org/drawingml/2006/main">
              <a:ext uri="{FF2B5EF4-FFF2-40B4-BE49-F238E27FC236}">
                <a16:creationId xmlns:a16="http://schemas.microsoft.com/office/drawing/2014/main" id="{458192D2-9070-450A-921B-6806038DEDF0}"/>
              </a:ext>
            </a:extLst>
          </p:cNvPr>
          <p:cNvSpPr>
            <a:spLocks xmlns:a="http://schemas.openxmlformats.org/drawingml/2006/main" noGrp="1"/>
          </p:cNvSpPr>
          <p:nvPr/>
        </p:nvSpPr>
        <p:spPr>
          <a:xfrm xmlns:a="http://schemas.openxmlformats.org/drawingml/2006/main">
            <a:off x="9144000" y="4038600"/>
            <a:ext cx="2362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a:solidFill>
                  <a:srgbClr val="5F6F7C"/>
                </a:solidFill>
                <a:latin typeface="DejaVu Sans"/>
                <a:ea typeface="DejaVu Sans"/>
                <a:cs typeface="DejaVu Sans"/>
              </a:defRPr>
            </a:pPr>
            <a:r>
              <a:rPr sz="1200" b="0">
                <a:solidFill>
                  <a:srgbClr val="5F6F7C"/>
                </a:solidFill>
                <a:latin typeface="DejaVu Sans"/>
                <a:ea typeface="DejaVu Sans"/>
                <a:cs typeface="DejaVu Sans"/>
              </a:rPr>
              <a:t>Liquidez inmediata: alto impacto, pero baja factibilidad y alto riesgo en dos semanas.</a:t>
            </a:r>
          </a:p>
        </p:txBody>
      </p:sp>
      <p:sp>
        <p:nvSpPr>
          <p:cNvPr id="16" name="">
            <a:extLst xmlns:a="http://schemas.openxmlformats.org/drawingml/2006/main">
              <a:ext uri="{FF2B5EF4-FFF2-40B4-BE49-F238E27FC236}">
                <a16:creationId xmlns:a16="http://schemas.microsoft.com/office/drawing/2014/main" id="{EAAA43EF-9A5A-42C2-99E7-80B12140310E}"/>
              </a:ext>
            </a:extLst>
          </p:cNvPr>
          <p:cNvSpPr>
            <a:spLocks xmlns:a="http://schemas.openxmlformats.org/drawingml/2006/main" noGrp="1"/>
          </p:cNvSpPr>
          <p:nvPr/>
        </p:nvSpPr>
        <p:spPr>
          <a:xfrm xmlns:a="http://schemas.openxmlformats.org/drawingml/2006/main">
            <a:off x="9144000" y="5219700"/>
            <a:ext cx="2362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02A43"/>
                </a:solidFill>
                <a:latin typeface="DejaVu Sans"/>
                <a:ea typeface="DejaVu Sans"/>
                <a:cs typeface="DejaVu Sans"/>
              </a:defRPr>
            </a:pPr>
            <a:r>
              <a:rPr sz="1200" b="1">
                <a:solidFill>
                  <a:srgbClr val="102A43"/>
                </a:solidFill>
                <a:latin typeface="DejaVu Sans"/>
                <a:ea typeface="DejaVu Sans"/>
                <a:cs typeface="DejaVu Sans"/>
              </a:rPr>
              <a:t>La fórmula separa una buena idea de una decisión correcta para esta crisis.</a:t>
            </a:r>
          </a:p>
        </p:txBody>
      </p:sp>
      <p:sp>
        <p:nvSpPr>
          <p:cNvPr id="17" name="">
            <a:extLst xmlns:a="http://schemas.openxmlformats.org/drawingml/2006/main">
              <a:ext uri="{FF2B5EF4-FFF2-40B4-BE49-F238E27FC236}">
                <a16:creationId xmlns:a16="http://schemas.microsoft.com/office/drawing/2014/main" id="{47F07C68-B84B-4222-A1DF-A5709677D6C6}"/>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Fuente: tabla de 10 ideas auditadas. Puntajes en escala 1–5.</a:t>
            </a:r>
          </a:p>
        </p:txBody>
      </p:sp>
    </p:spTree>
    <p:extLst>
      <p:ext uri="{BB962C8B-B14F-4D97-AF65-F5344CB8AC3E}">
        <p14:creationId xmlns:p14="http://schemas.microsoft.com/office/powerpoint/2010/main" val="118279263"/>
      </p:ext>
    </p:extLst>
  </p:cSld>
</p:sld>
</file>

<file path=ppt/slides/slide10.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6528FB-392A-42BA-8CF3-6E61B0B45206}"/>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SPRINT 1</a:t>
            </a:r>
          </a:p>
        </p:txBody>
      </p:sp>
      <p:sp>
        <p:nvSpPr>
          <p:cNvPr id="2" name="">
            <a:extLst xmlns:a="http://schemas.openxmlformats.org/drawingml/2006/main">
              <a:ext uri="{FF2B5EF4-FFF2-40B4-BE49-F238E27FC236}">
                <a16:creationId xmlns:a16="http://schemas.microsoft.com/office/drawing/2014/main" id="{B208FAD9-7B64-4D8A-BCCE-782D467F3526}"/>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Hacemos visible el dinero y comprensible el proceso</a:t>
            </a:r>
          </a:p>
        </p:txBody>
      </p:sp>
      <p:sp>
        <p:nvSpPr>
          <p:cNvPr id="3" name="">
            <a:extLst xmlns:a="http://schemas.openxmlformats.org/drawingml/2006/main">
              <a:ext uri="{FF2B5EF4-FFF2-40B4-BE49-F238E27FC236}">
                <a16:creationId xmlns:a16="http://schemas.microsoft.com/office/drawing/2014/main" id="{EB5AF58B-F2B2-44D1-99CF-2E1575D4C30F}"/>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6284F15E-D41A-4B93-BEF2-45108BDF09E4}"/>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CE7D5F65-2DC8-4BEB-9CF5-EC31AFB14B37}"/>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ERICK</a:t>
            </a:r>
          </a:p>
        </p:txBody>
      </p:sp>
      <p:sp>
        <p:nvSpPr>
          <p:cNvPr id="6" name="">
            <a:extLst xmlns:a="http://schemas.openxmlformats.org/drawingml/2006/main">
              <a:ext uri="{FF2B5EF4-FFF2-40B4-BE49-F238E27FC236}">
                <a16:creationId xmlns:a16="http://schemas.microsoft.com/office/drawing/2014/main" id="{80EE27D5-329D-46F1-AA4A-659D69278E06}"/>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10</a:t>
            </a:r>
          </a:p>
        </p:txBody>
      </p:sp>
      <p:sp>
        <p:nvSpPr>
          <p:cNvPr id="7" name="">
            <a:extLst xmlns:a="http://schemas.openxmlformats.org/drawingml/2006/main">
              <a:ext uri="{FF2B5EF4-FFF2-40B4-BE49-F238E27FC236}">
                <a16:creationId xmlns:a16="http://schemas.microsoft.com/office/drawing/2014/main" id="{BF5CF722-2F4B-4ACE-BF6F-DABDE7E1CFCD}"/>
              </a:ext>
            </a:extLst>
          </p:cNvPr>
          <p:cNvSpPr>
            <a:spLocks xmlns:a="http://schemas.openxmlformats.org/drawingml/2006/main" noGrp="1"/>
          </p:cNvSpPr>
          <p:nvPr/>
        </p:nvSpPr>
        <p:spPr>
          <a:xfrm xmlns:a="http://schemas.openxmlformats.org/drawingml/2006/main">
            <a:off x="685800" y="12573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Dos intervenciones de experiencia. Cero cambios al motor de liquidación.</a:t>
            </a:r>
          </a:p>
        </p:txBody>
      </p:sp>
      <p:sp>
        <p:nvSpPr>
          <p:cNvPr id="8" name="">
            <a:extLst xmlns:a="http://schemas.openxmlformats.org/drawingml/2006/main">
              <a:ext uri="{FF2B5EF4-FFF2-40B4-BE49-F238E27FC236}">
                <a16:creationId xmlns:a16="http://schemas.microsoft.com/office/drawing/2014/main" id="{C050CFFE-0CBC-424A-8EC2-596298519790}"/>
              </a:ext>
            </a:extLst>
          </p:cNvPr>
          <p:cNvSpPr>
            <a:spLocks xmlns:a="http://schemas.openxmlformats.org/drawingml/2006/main" noGrp="1"/>
          </p:cNvSpPr>
          <p:nvPr/>
        </p:nvSpPr>
        <p:spPr>
          <a:xfrm xmlns:a="http://schemas.openxmlformats.org/drawingml/2006/main">
            <a:off x="685800" y="1714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E86A5B"/>
                </a:solidFill>
                <a:latin typeface="DejaVu Sans"/>
                <a:ea typeface="DejaVu Sans"/>
                <a:cs typeface="DejaVu Sans"/>
              </a:defRPr>
            </a:pPr>
            <a:r>
              <a:rPr sz="975" b="1">
                <a:solidFill>
                  <a:srgbClr val="E86A5B"/>
                </a:solidFill>
                <a:latin typeface="DejaVu Sans"/>
                <a:ea typeface="DejaVu Sans"/>
                <a:cs typeface="DejaVu Sans"/>
              </a:rPr>
              <a:t>HOY</a:t>
            </a:r>
          </a:p>
        </p:txBody>
      </p:sp>
      <p:sp>
        <p:nvSpPr>
          <p:cNvPr id="9" name="">
            <a:extLst xmlns:a="http://schemas.openxmlformats.org/drawingml/2006/main">
              <a:ext uri="{FF2B5EF4-FFF2-40B4-BE49-F238E27FC236}">
                <a16:creationId xmlns:a16="http://schemas.microsoft.com/office/drawing/2014/main" id="{2C07A208-72C7-45C0-9671-8B79BC66697D}"/>
              </a:ext>
            </a:extLst>
          </p:cNvPr>
          <p:cNvSpPr>
            <a:spLocks xmlns:a="http://schemas.openxmlformats.org/drawingml/2006/main" noGrp="1"/>
          </p:cNvSpPr>
          <p:nvPr/>
        </p:nvSpPr>
        <p:spPr>
          <a:xfrm xmlns:a="http://schemas.openxmlformats.org/drawingml/2006/main">
            <a:off x="685800" y="2076450"/>
            <a:ext cx="4762500" cy="3257550"/>
          </a:xfrm>
          <a:prstGeom xmlns:a="http://schemas.openxmlformats.org/drawingml/2006/main" prst="roundRect">
            <a:avLst>
              <a:gd name="adj" fmla="val 6433"/>
            </a:avLst>
          </a:prstGeom>
          <a:solidFill xmlns:a="http://schemas.openxmlformats.org/drawingml/2006/main">
            <a:srgbClr val="FFFFFF"/>
          </a:solidFill>
          <a:ln xmlns:a="http://schemas.openxmlformats.org/drawingml/2006/main" w="9525">
            <a:solidFill>
              <a:srgbClr val="D9E2E8"/>
            </a:solidFill>
            <a:prstDash val="solid"/>
          </a:ln>
        </p:spPr>
      </p:sp>
      <p:sp>
        <p:nvSpPr>
          <p:cNvPr id="10" name="">
            <a:extLst xmlns:a="http://schemas.openxmlformats.org/drawingml/2006/main">
              <a:ext uri="{FF2B5EF4-FFF2-40B4-BE49-F238E27FC236}">
                <a16:creationId xmlns:a16="http://schemas.microsoft.com/office/drawing/2014/main" id="{B6B09D46-0EA4-4E47-A030-4F2A1ADE22BC}"/>
              </a:ext>
            </a:extLst>
          </p:cNvPr>
          <p:cNvSpPr>
            <a:spLocks xmlns:a="http://schemas.openxmlformats.org/drawingml/2006/main" noGrp="1"/>
          </p:cNvSpPr>
          <p:nvPr/>
        </p:nvSpPr>
        <p:spPr>
          <a:xfrm xmlns:a="http://schemas.openxmlformats.org/drawingml/2006/main">
            <a:off x="990600" y="2343150"/>
            <a:ext cx="415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Saldo disponible</a:t>
            </a:r>
          </a:p>
        </p:txBody>
      </p:sp>
      <p:sp>
        <p:nvSpPr>
          <p:cNvPr id="11" name="">
            <a:extLst xmlns:a="http://schemas.openxmlformats.org/drawingml/2006/main">
              <a:ext uri="{FF2B5EF4-FFF2-40B4-BE49-F238E27FC236}">
                <a16:creationId xmlns:a16="http://schemas.microsoft.com/office/drawing/2014/main" id="{A0CD2A44-8C60-47D7-9E0D-3E74FA83207C}"/>
              </a:ext>
            </a:extLst>
          </p:cNvPr>
          <p:cNvSpPr>
            <a:spLocks xmlns:a="http://schemas.openxmlformats.org/drawingml/2006/main" noGrp="1"/>
          </p:cNvSpPr>
          <p:nvPr/>
        </p:nvSpPr>
        <p:spPr>
          <a:xfrm xmlns:a="http://schemas.openxmlformats.org/drawingml/2006/main">
            <a:off x="990600" y="2686050"/>
            <a:ext cx="4152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600" b="1">
                <a:solidFill>
                  <a:srgbClr val="E86A5B"/>
                </a:solidFill>
                <a:latin typeface="DejaVu Sans"/>
                <a:ea typeface="DejaVu Sans"/>
                <a:cs typeface="DejaVu Sans"/>
              </a:defRPr>
            </a:pPr>
            <a:r>
              <a:rPr sz="3600" b="1">
                <a:solidFill>
                  <a:srgbClr val="E86A5B"/>
                </a:solidFill>
                <a:latin typeface="DejaVu Sans"/>
                <a:ea typeface="DejaVu Sans"/>
                <a:cs typeface="DejaVu Sans"/>
              </a:rPr>
              <a:t>$0</a:t>
            </a:r>
          </a:p>
        </p:txBody>
      </p:sp>
      <p:sp>
        <p:nvSpPr>
          <p:cNvPr id="12" name="">
            <a:extLst xmlns:a="http://schemas.openxmlformats.org/drawingml/2006/main">
              <a:ext uri="{FF2B5EF4-FFF2-40B4-BE49-F238E27FC236}">
                <a16:creationId xmlns:a16="http://schemas.microsoft.com/office/drawing/2014/main" id="{FA37E202-0953-4ED7-B4A1-690B6C306B42}"/>
              </a:ext>
            </a:extLst>
          </p:cNvPr>
          <p:cNvSpPr>
            <a:spLocks xmlns:a="http://schemas.openxmlformats.org/drawingml/2006/main" noGrp="1"/>
          </p:cNvSpPr>
          <p:nvPr/>
        </p:nvSpPr>
        <p:spPr>
          <a:xfrm xmlns:a="http://schemas.openxmlformats.org/drawingml/2006/main">
            <a:off x="990600" y="3562350"/>
            <a:ext cx="41529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13" name="">
            <a:extLst xmlns:a="http://schemas.openxmlformats.org/drawingml/2006/main">
              <a:ext uri="{FF2B5EF4-FFF2-40B4-BE49-F238E27FC236}">
                <a16:creationId xmlns:a16="http://schemas.microsoft.com/office/drawing/2014/main" id="{C124A1BD-05D3-4784-A5E5-6BC298FAE3B3}"/>
              </a:ext>
            </a:extLst>
          </p:cNvPr>
          <p:cNvSpPr>
            <a:spLocks xmlns:a="http://schemas.openxmlformats.org/drawingml/2006/main" noGrp="1"/>
          </p:cNvSpPr>
          <p:nvPr/>
        </p:nvSpPr>
        <p:spPr>
          <a:xfrm xmlns:a="http://schemas.openxmlformats.org/drawingml/2006/main">
            <a:off x="990600" y="38100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75" b="0">
                <a:solidFill>
                  <a:srgbClr val="5F6F7C"/>
                </a:solidFill>
                <a:latin typeface="DejaVu Sans"/>
                <a:ea typeface="DejaVu Sans"/>
                <a:cs typeface="DejaVu Sans"/>
              </a:defRPr>
            </a:pPr>
            <a:r>
              <a:rPr sz="1275" b="0">
                <a:solidFill>
                  <a:srgbClr val="5F6F7C"/>
                </a:solidFill>
                <a:latin typeface="DejaVu Sans"/>
                <a:ea typeface="DejaVu Sans"/>
                <a:cs typeface="DejaVu Sans"/>
              </a:rPr>
              <a:t>“Sujeto a la ventana de liquidación de cuotas según el reglamento interno…”</a:t>
            </a:r>
          </a:p>
        </p:txBody>
      </p:sp>
      <p:sp>
        <p:nvSpPr>
          <p:cNvPr id="14" name="">
            <a:extLst xmlns:a="http://schemas.openxmlformats.org/drawingml/2006/main">
              <a:ext uri="{FF2B5EF4-FFF2-40B4-BE49-F238E27FC236}">
                <a16:creationId xmlns:a16="http://schemas.microsoft.com/office/drawing/2014/main" id="{48631EA9-03CD-4D01-8D35-886B4C589442}"/>
              </a:ext>
            </a:extLst>
          </p:cNvPr>
          <p:cNvSpPr>
            <a:spLocks xmlns:a="http://schemas.openxmlformats.org/drawingml/2006/main" noGrp="1"/>
          </p:cNvSpPr>
          <p:nvPr/>
        </p:nvSpPr>
        <p:spPr>
          <a:xfrm xmlns:a="http://schemas.openxmlformats.org/drawingml/2006/main">
            <a:off x="990600" y="48768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1">
                <a:solidFill>
                  <a:srgbClr val="E86A5B"/>
                </a:solidFill>
                <a:latin typeface="DejaVu Sans"/>
                <a:ea typeface="DejaVu Sans"/>
                <a:cs typeface="DejaVu Sans"/>
              </a:defRPr>
            </a:pPr>
            <a:r>
              <a:rPr sz="1050" b="1">
                <a:solidFill>
                  <a:srgbClr val="E86A5B"/>
                </a:solidFill>
                <a:latin typeface="DejaVu Sans"/>
                <a:ea typeface="DejaVu Sans"/>
                <a:cs typeface="DejaVu Sans"/>
              </a:rPr>
              <a:t>Sin estado · sin fecha · sin próximo paso</a:t>
            </a:r>
          </a:p>
        </p:txBody>
      </p:sp>
      <p:sp>
        <p:nvSpPr>
          <p:cNvPr id="15" name="">
            <a:extLst xmlns:a="http://schemas.openxmlformats.org/drawingml/2006/main">
              <a:ext uri="{FF2B5EF4-FFF2-40B4-BE49-F238E27FC236}">
                <a16:creationId xmlns:a16="http://schemas.microsoft.com/office/drawing/2014/main" id="{890EBBAB-83E8-4A8D-9497-183560DE0FE4}"/>
              </a:ext>
            </a:extLst>
          </p:cNvPr>
          <p:cNvSpPr>
            <a:spLocks xmlns:a="http://schemas.openxmlformats.org/drawingml/2006/main" noGrp="1"/>
          </p:cNvSpPr>
          <p:nvPr/>
        </p:nvSpPr>
        <p:spPr>
          <a:xfrm xmlns:a="http://schemas.openxmlformats.org/drawingml/2006/main">
            <a:off x="6057900" y="1714500"/>
            <a:ext cx="544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SPRINT 1</a:t>
            </a:r>
          </a:p>
        </p:txBody>
      </p:sp>
      <p:sp>
        <p:nvSpPr>
          <p:cNvPr id="16" name="">
            <a:extLst xmlns:a="http://schemas.openxmlformats.org/drawingml/2006/main">
              <a:ext uri="{FF2B5EF4-FFF2-40B4-BE49-F238E27FC236}">
                <a16:creationId xmlns:a16="http://schemas.microsoft.com/office/drawing/2014/main" id="{368D9B6C-22E0-4CCB-8B7D-C2D597D69044}"/>
              </a:ext>
            </a:extLst>
          </p:cNvPr>
          <p:cNvSpPr>
            <a:spLocks xmlns:a="http://schemas.openxmlformats.org/drawingml/2006/main" noGrp="1"/>
          </p:cNvSpPr>
          <p:nvPr/>
        </p:nvSpPr>
        <p:spPr>
          <a:xfrm xmlns:a="http://schemas.openxmlformats.org/drawingml/2006/main">
            <a:off x="6057900" y="2076450"/>
            <a:ext cx="5448300" cy="3257550"/>
          </a:xfrm>
          <a:prstGeom xmlns:a="http://schemas.openxmlformats.org/drawingml/2006/main" prst="roundRect">
            <a:avLst>
              <a:gd name="adj" fmla="val 6433"/>
            </a:avLst>
          </a:prstGeom>
          <a:solidFill xmlns:a="http://schemas.openxmlformats.org/drawingml/2006/main">
            <a:srgbClr val="102A4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A67E5C4-C279-46B7-A90A-24FD320F2A22}"/>
              </a:ext>
            </a:extLst>
          </p:cNvPr>
          <p:cNvSpPr>
            <a:spLocks xmlns:a="http://schemas.openxmlformats.org/drawingml/2006/main" noGrp="1"/>
          </p:cNvSpPr>
          <p:nvPr/>
        </p:nvSpPr>
        <p:spPr>
          <a:xfrm xmlns:a="http://schemas.openxmlformats.org/drawingml/2006/main">
            <a:off x="6400800" y="23431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71D8D0"/>
                </a:solidFill>
                <a:latin typeface="DejaVu Sans"/>
                <a:ea typeface="DejaVu Sans"/>
                <a:cs typeface="DejaVu Sans"/>
              </a:defRPr>
            </a:pPr>
            <a:r>
              <a:rPr sz="975" b="1">
                <a:solidFill>
                  <a:srgbClr val="71D8D0"/>
                </a:solidFill>
                <a:latin typeface="DejaVu Sans"/>
                <a:ea typeface="DejaVu Sans"/>
                <a:cs typeface="DejaVu Sans"/>
              </a:rPr>
              <a:t>FONDOS EN TRÁNSITO</a:t>
            </a:r>
          </a:p>
        </p:txBody>
      </p:sp>
      <p:sp>
        <p:nvSpPr>
          <p:cNvPr id="18" name="">
            <a:extLst xmlns:a="http://schemas.openxmlformats.org/drawingml/2006/main">
              <a:ext uri="{FF2B5EF4-FFF2-40B4-BE49-F238E27FC236}">
                <a16:creationId xmlns:a16="http://schemas.microsoft.com/office/drawing/2014/main" id="{09FC12AC-8D7D-42E0-A1C4-E0F9C261E890}"/>
              </a:ext>
            </a:extLst>
          </p:cNvPr>
          <p:cNvSpPr>
            <a:spLocks xmlns:a="http://schemas.openxmlformats.org/drawingml/2006/main" noGrp="1"/>
          </p:cNvSpPr>
          <p:nvPr/>
        </p:nvSpPr>
        <p:spPr>
          <a:xfrm xmlns:a="http://schemas.openxmlformats.org/drawingml/2006/main">
            <a:off x="6400800" y="26670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$420.000 protegidos</a:t>
            </a:r>
          </a:p>
        </p:txBody>
      </p:sp>
      <p:sp>
        <p:nvSpPr>
          <p:cNvPr id="19" name="">
            <a:extLst xmlns:a="http://schemas.openxmlformats.org/drawingml/2006/main">
              <a:ext uri="{FF2B5EF4-FFF2-40B4-BE49-F238E27FC236}">
                <a16:creationId xmlns:a16="http://schemas.microsoft.com/office/drawing/2014/main" id="{D21A3D66-ED91-44F3-9566-7E550319D103}"/>
              </a:ext>
            </a:extLst>
          </p:cNvPr>
          <p:cNvSpPr>
            <a:spLocks xmlns:a="http://schemas.openxmlformats.org/drawingml/2006/main" noGrp="1"/>
          </p:cNvSpPr>
          <p:nvPr/>
        </p:nvSpPr>
        <p:spPr>
          <a:xfrm xmlns:a="http://schemas.openxmlformats.org/drawingml/2006/main">
            <a:off x="6400800" y="3238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C7D8E3"/>
                </a:solidFill>
                <a:latin typeface="DejaVu Sans"/>
                <a:ea typeface="DejaVu Sans"/>
                <a:cs typeface="DejaVu Sans"/>
              </a:defRPr>
            </a:pPr>
            <a:r>
              <a:rPr sz="1275" b="0">
                <a:solidFill>
                  <a:srgbClr val="C7D8E3"/>
                </a:solidFill>
                <a:latin typeface="DejaVu Sans"/>
                <a:ea typeface="DejaVu Sans"/>
                <a:cs typeface="DejaVu Sans"/>
              </a:rPr>
              <a:t>Abono estimado: viernes 24 de julio</a:t>
            </a:r>
          </a:p>
        </p:txBody>
      </p:sp>
      <p:sp>
        <p:nvSpPr>
          <p:cNvPr id="20" name="">
            <a:extLst xmlns:a="http://schemas.openxmlformats.org/drawingml/2006/main">
              <a:ext uri="{FF2B5EF4-FFF2-40B4-BE49-F238E27FC236}">
                <a16:creationId xmlns:a16="http://schemas.microsoft.com/office/drawing/2014/main" id="{66F45A9E-A465-4B30-9226-827EEF914327}"/>
              </a:ext>
            </a:extLst>
          </p:cNvPr>
          <p:cNvSpPr>
            <a:spLocks xmlns:a="http://schemas.openxmlformats.org/drawingml/2006/main" noGrp="1"/>
          </p:cNvSpPr>
          <p:nvPr/>
        </p:nvSpPr>
        <p:spPr>
          <a:xfrm xmlns:a="http://schemas.openxmlformats.org/drawingml/2006/main">
            <a:off x="6400800" y="3752850"/>
            <a:ext cx="4438650" cy="114300"/>
          </a:xfrm>
          <a:prstGeom xmlns:a="http://schemas.openxmlformats.org/drawingml/2006/main" prst="roundRect">
            <a:avLst>
              <a:gd name="adj" fmla="val 50000"/>
            </a:avLst>
          </a:prstGeom>
          <a:solidFill xmlns:a="http://schemas.openxmlformats.org/drawingml/2006/main">
            <a:srgbClr val="36556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9A1AF6-9315-46CD-9B38-3893A0FA117E}"/>
              </a:ext>
            </a:extLst>
          </p:cNvPr>
          <p:cNvSpPr>
            <a:spLocks xmlns:a="http://schemas.openxmlformats.org/drawingml/2006/main" noGrp="1"/>
          </p:cNvSpPr>
          <p:nvPr/>
        </p:nvSpPr>
        <p:spPr>
          <a:xfrm xmlns:a="http://schemas.openxmlformats.org/drawingml/2006/main">
            <a:off x="6400800" y="3752850"/>
            <a:ext cx="2647950" cy="114300"/>
          </a:xfrm>
          <a:prstGeom xmlns:a="http://schemas.openxmlformats.org/drawingml/2006/main" prst="roundRect">
            <a:avLst>
              <a:gd name="adj" fmla="val 50000"/>
            </a:avLst>
          </a:prstGeom>
          <a:solidFill xmlns:a="http://schemas.openxmlformats.org/drawingml/2006/main">
            <a:srgbClr val="00A7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B74CFEC-697E-4887-9D46-7653DB38BCAA}"/>
              </a:ext>
            </a:extLst>
          </p:cNvPr>
          <p:cNvSpPr>
            <a:spLocks xmlns:a="http://schemas.openxmlformats.org/drawingml/2006/main" noGrp="1"/>
          </p:cNvSpPr>
          <p:nvPr/>
        </p:nvSpPr>
        <p:spPr>
          <a:xfrm xmlns:a="http://schemas.openxmlformats.org/drawingml/2006/main">
            <a:off x="6296025" y="3705225"/>
            <a:ext cx="209550" cy="209550"/>
          </a:xfrm>
          <a:prstGeom xmlns:a="http://schemas.openxmlformats.org/drawingml/2006/main" prst="ellipse">
            <a:avLst/>
          </a:prstGeom>
          <a:solidFill xmlns:a="http://schemas.openxmlformats.org/drawingml/2006/main">
            <a:srgbClr val="00A7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25E7160-C6AF-4705-BCCF-CCEFED0C3381}"/>
              </a:ext>
            </a:extLst>
          </p:cNvPr>
          <p:cNvSpPr>
            <a:spLocks xmlns:a="http://schemas.openxmlformats.org/drawingml/2006/main" noGrp="1"/>
          </p:cNvSpPr>
          <p:nvPr/>
        </p:nvSpPr>
        <p:spPr>
          <a:xfrm xmlns:a="http://schemas.openxmlformats.org/drawingml/2006/main">
            <a:off x="8524875" y="3705225"/>
            <a:ext cx="209550" cy="209550"/>
          </a:xfrm>
          <a:prstGeom xmlns:a="http://schemas.openxmlformats.org/drawingml/2006/main" prst="ellipse">
            <a:avLst/>
          </a:prstGeom>
          <a:solidFill xmlns:a="http://schemas.openxmlformats.org/drawingml/2006/main">
            <a:srgbClr val="00A7A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276DFFF-73E1-4D3B-A6DA-C6FEEC922559}"/>
              </a:ext>
            </a:extLst>
          </p:cNvPr>
          <p:cNvSpPr>
            <a:spLocks xmlns:a="http://schemas.openxmlformats.org/drawingml/2006/main" noGrp="1"/>
          </p:cNvSpPr>
          <p:nvPr/>
        </p:nvSpPr>
        <p:spPr>
          <a:xfrm xmlns:a="http://schemas.openxmlformats.org/drawingml/2006/main">
            <a:off x="10734675" y="3705225"/>
            <a:ext cx="209550" cy="209550"/>
          </a:xfrm>
          <a:prstGeom xmlns:a="http://schemas.openxmlformats.org/drawingml/2006/main" prst="ellipse">
            <a:avLst/>
          </a:prstGeom>
          <a:solidFill xmlns:a="http://schemas.openxmlformats.org/drawingml/2006/main">
            <a:srgbClr val="36556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D792FC1-D967-4B03-B540-4ABC4AEA8852}"/>
              </a:ext>
            </a:extLst>
          </p:cNvPr>
          <p:cNvSpPr>
            <a:spLocks xmlns:a="http://schemas.openxmlformats.org/drawingml/2006/main" noGrp="1"/>
          </p:cNvSpPr>
          <p:nvPr/>
        </p:nvSpPr>
        <p:spPr>
          <a:xfrm xmlns:a="http://schemas.openxmlformats.org/drawingml/2006/main">
            <a:off x="6191250" y="4000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B7CBD9"/>
                </a:solidFill>
                <a:latin typeface="DejaVu Sans"/>
                <a:ea typeface="DejaVu Sans"/>
                <a:cs typeface="DejaVu Sans"/>
              </a:defRPr>
            </a:pPr>
            <a:r>
              <a:rPr sz="900" b="1">
                <a:solidFill>
                  <a:srgbClr val="B7CBD9"/>
                </a:solidFill>
                <a:latin typeface="DejaVu Sans"/>
                <a:ea typeface="DejaVu Sans"/>
                <a:cs typeface="DejaVu Sans"/>
              </a:rPr>
              <a:t>Solicitud</a:t>
            </a:r>
          </a:p>
        </p:txBody>
      </p:sp>
      <p:sp>
        <p:nvSpPr>
          <p:cNvPr id="26" name="">
            <a:extLst xmlns:a="http://schemas.openxmlformats.org/drawingml/2006/main">
              <a:ext uri="{FF2B5EF4-FFF2-40B4-BE49-F238E27FC236}">
                <a16:creationId xmlns:a16="http://schemas.microsoft.com/office/drawing/2014/main" id="{8BA863F8-DC64-44C8-B079-2E12C5F7A006}"/>
              </a:ext>
            </a:extLst>
          </p:cNvPr>
          <p:cNvSpPr>
            <a:spLocks xmlns:a="http://schemas.openxmlformats.org/drawingml/2006/main" noGrp="1"/>
          </p:cNvSpPr>
          <p:nvPr/>
        </p:nvSpPr>
        <p:spPr>
          <a:xfrm xmlns:a="http://schemas.openxmlformats.org/drawingml/2006/main">
            <a:off x="8153400" y="4000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71D8D0"/>
                </a:solidFill>
                <a:latin typeface="DejaVu Sans"/>
                <a:ea typeface="DejaVu Sans"/>
                <a:cs typeface="DejaVu Sans"/>
              </a:defRPr>
            </a:pPr>
            <a:r>
              <a:rPr sz="900" b="1">
                <a:solidFill>
                  <a:srgbClr val="71D8D0"/>
                </a:solidFill>
                <a:latin typeface="DejaVu Sans"/>
                <a:ea typeface="DejaVu Sans"/>
                <a:cs typeface="DejaVu Sans"/>
              </a:rPr>
              <a:t>Liquidación</a:t>
            </a:r>
          </a:p>
        </p:txBody>
      </p:sp>
      <p:sp>
        <p:nvSpPr>
          <p:cNvPr id="27" name="">
            <a:extLst xmlns:a="http://schemas.openxmlformats.org/drawingml/2006/main">
              <a:ext uri="{FF2B5EF4-FFF2-40B4-BE49-F238E27FC236}">
                <a16:creationId xmlns:a16="http://schemas.microsoft.com/office/drawing/2014/main" id="{93FDAAD1-0704-4642-8A44-AE540235058F}"/>
              </a:ext>
            </a:extLst>
          </p:cNvPr>
          <p:cNvSpPr>
            <a:spLocks xmlns:a="http://schemas.openxmlformats.org/drawingml/2006/main" noGrp="1"/>
          </p:cNvSpPr>
          <p:nvPr/>
        </p:nvSpPr>
        <p:spPr>
          <a:xfrm xmlns:a="http://schemas.openxmlformats.org/drawingml/2006/main">
            <a:off x="10382250" y="400050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1">
                <a:solidFill>
                  <a:srgbClr val="B7CBD9"/>
                </a:solidFill>
                <a:latin typeface="DejaVu Sans"/>
                <a:ea typeface="DejaVu Sans"/>
                <a:cs typeface="DejaVu Sans"/>
              </a:defRPr>
            </a:pPr>
            <a:r>
              <a:rPr sz="900" b="1">
                <a:solidFill>
                  <a:srgbClr val="B7CBD9"/>
                </a:solidFill>
                <a:latin typeface="DejaVu Sans"/>
                <a:ea typeface="DejaVu Sans"/>
                <a:cs typeface="DejaVu Sans"/>
              </a:rPr>
              <a:t>Abono</a:t>
            </a:r>
          </a:p>
        </p:txBody>
      </p:sp>
      <p:sp>
        <p:nvSpPr>
          <p:cNvPr id="28" name="">
            <a:extLst xmlns:a="http://schemas.openxmlformats.org/drawingml/2006/main">
              <a:ext uri="{FF2B5EF4-FFF2-40B4-BE49-F238E27FC236}">
                <a16:creationId xmlns:a16="http://schemas.microsoft.com/office/drawing/2014/main" id="{C39919BE-D9D0-4001-BB19-1B2F7DB9477A}"/>
              </a:ext>
            </a:extLst>
          </p:cNvPr>
          <p:cNvSpPr>
            <a:spLocks xmlns:a="http://schemas.openxmlformats.org/drawingml/2006/main" noGrp="1"/>
          </p:cNvSpPr>
          <p:nvPr/>
        </p:nvSpPr>
        <p:spPr>
          <a:xfrm xmlns:a="http://schemas.openxmlformats.org/drawingml/2006/main">
            <a:off x="6400800" y="4457700"/>
            <a:ext cx="4762500" cy="590550"/>
          </a:xfrm>
          <a:prstGeom xmlns:a="http://schemas.openxmlformats.org/drawingml/2006/main" prst="roundRect">
            <a:avLst>
              <a:gd name="adj" fmla="val 22581"/>
            </a:avLst>
          </a:prstGeom>
          <a:solidFill xmlns:a="http://schemas.openxmlformats.org/drawingml/2006/main">
            <a:srgbClr val="173B5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A3C36CD-55CB-400F-9574-AA0924986E90}"/>
              </a:ext>
            </a:extLst>
          </p:cNvPr>
          <p:cNvSpPr>
            <a:spLocks xmlns:a="http://schemas.openxmlformats.org/drawingml/2006/main" noGrp="1"/>
          </p:cNvSpPr>
          <p:nvPr/>
        </p:nvSpPr>
        <p:spPr>
          <a:xfrm xmlns:a="http://schemas.openxmlformats.org/drawingml/2006/main">
            <a:off x="6610350" y="4572000"/>
            <a:ext cx="434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286"/>
          </a:bodyPr>
          <a:lstStyle xmlns:a="http://schemas.openxmlformats.org/drawingml/2006/main"/>
          <a:p xmlns:a="http://schemas.openxmlformats.org/drawingml/2006/main">
            <a:pPr algn="l">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Tu dinero está en proceso. Te avisaremos cuando esté disponible.</a:t>
            </a:r>
          </a:p>
        </p:txBody>
      </p:sp>
      <p:sp>
        <p:nvSpPr>
          <p:cNvPr id="30" name="">
            <a:extLst xmlns:a="http://schemas.openxmlformats.org/drawingml/2006/main">
              <a:ext uri="{FF2B5EF4-FFF2-40B4-BE49-F238E27FC236}">
                <a16:creationId xmlns:a16="http://schemas.microsoft.com/office/drawing/2014/main" id="{0D579107-58E2-4603-877A-2AB6DBEEC31D}"/>
              </a:ext>
            </a:extLst>
          </p:cNvPr>
          <p:cNvSpPr>
            <a:spLocks xmlns:a="http://schemas.openxmlformats.org/drawingml/2006/main" noGrp="1"/>
          </p:cNvSpPr>
          <p:nvPr/>
        </p:nvSpPr>
        <p:spPr>
          <a:xfrm xmlns:a="http://schemas.openxmlformats.org/drawingml/2006/main">
            <a:off x="685800" y="5562600"/>
            <a:ext cx="10820400" cy="457200"/>
          </a:xfrm>
          <a:prstGeom xmlns:a="http://schemas.openxmlformats.org/drawingml/2006/main" prst="roundRect">
            <a:avLst>
              <a:gd name="adj" fmla="val 29167"/>
            </a:avLst>
          </a:prstGeom>
          <a:solidFill xmlns:a="http://schemas.openxmlformats.org/drawingml/2006/main">
            <a:srgbClr val="DDF5F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4250934-5973-45E6-86BF-4D687D2C26FE}"/>
              </a:ext>
            </a:extLst>
          </p:cNvPr>
          <p:cNvSpPr>
            <a:spLocks xmlns:a="http://schemas.openxmlformats.org/drawingml/2006/main" noGrp="1"/>
          </p:cNvSpPr>
          <p:nvPr/>
        </p:nvSpPr>
        <p:spPr>
          <a:xfrm xmlns:a="http://schemas.openxmlformats.org/drawingml/2006/main">
            <a:off x="914400" y="5657850"/>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007F79"/>
                </a:solidFill>
                <a:latin typeface="DejaVu Sans"/>
                <a:ea typeface="DejaVu Sans"/>
                <a:cs typeface="DejaVu Sans"/>
              </a:defRPr>
            </a:pPr>
            <a:r>
              <a:rPr sz="1125" b="1">
                <a:solidFill>
                  <a:srgbClr val="007F79"/>
                </a:solidFill>
                <a:latin typeface="DejaVu Sans"/>
                <a:ea typeface="DejaVu Sans"/>
                <a:cs typeface="DejaVu Sans"/>
              </a:rPr>
              <a:t>Control intacto: clave + SMS + cédula · Copy final validado por Compliance</a:t>
            </a:r>
          </a:p>
        </p:txBody>
      </p:sp>
      <p:sp>
        <p:nvSpPr>
          <p:cNvPr id="32" name="">
            <a:extLst xmlns:a="http://schemas.openxmlformats.org/drawingml/2006/main">
              <a:ext uri="{FF2B5EF4-FFF2-40B4-BE49-F238E27FC236}">
                <a16:creationId xmlns:a16="http://schemas.microsoft.com/office/drawing/2014/main" id="{376A16B1-C51D-4FE0-9BAA-7BA3739FA073}"/>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Concepto de experiencia; monto y fecha son ilustrativos. El ETA debe derivar de estados verificables.</a:t>
            </a:r>
          </a:p>
        </p:txBody>
      </p:sp>
    </p:spTree>
    <p:extLst>
      <p:ext uri="{BB962C8B-B14F-4D97-AF65-F5344CB8AC3E}">
        <p14:creationId xmlns:p14="http://schemas.microsoft.com/office/powerpoint/2010/main" val="2247855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541AC2-E496-4E11-A227-15CA7C6FF29D}"/>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SPRINT 1</a:t>
            </a:r>
          </a:p>
        </p:txBody>
      </p:sp>
      <p:sp>
        <p:nvSpPr>
          <p:cNvPr id="2" name="">
            <a:extLst xmlns:a="http://schemas.openxmlformats.org/drawingml/2006/main">
              <a:ext uri="{FF2B5EF4-FFF2-40B4-BE49-F238E27FC236}">
                <a16:creationId xmlns:a16="http://schemas.microsoft.com/office/drawing/2014/main" id="{89F422F3-7E06-4BA5-921C-836A78E8FA4D}"/>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435"/>
          </a:bodyPr>
          <a:lstStyle xmlns:a="http://schemas.openxmlformats.org/drawingml/2006/main"/>
          <a:p xmlns:a="http://schemas.openxmlformats.org/drawingml/2006/main">
            <a:pPr algn="l">
              <a:lnSpc>
                <a:spcPct val="95000"/>
              </a:lnSpc>
              <a:buNone/>
              <a:defRPr sz="2700" b="1">
                <a:solidFill>
                  <a:srgbClr val="102A43"/>
                </a:solidFill>
                <a:latin typeface="DejaVu Sans"/>
                <a:ea typeface="DejaVu Sans"/>
                <a:cs typeface="DejaVu Sans"/>
              </a:defRPr>
            </a:pPr>
            <a:r>
              <a:rPr sz="2700" b="1">
                <a:solidFill>
                  <a:srgbClr val="102A43"/>
                </a:solidFill>
                <a:latin typeface="DejaVu Sans"/>
                <a:ea typeface="DejaVu Sans"/>
                <a:cs typeface="DejaVu Sans"/>
              </a:rPr>
              <a:t>Dos semanas para lanzar; 30 días para probar confianza</a:t>
            </a:r>
          </a:p>
        </p:txBody>
      </p:sp>
      <p:sp>
        <p:nvSpPr>
          <p:cNvPr id="3" name="">
            <a:extLst xmlns:a="http://schemas.openxmlformats.org/drawingml/2006/main">
              <a:ext uri="{FF2B5EF4-FFF2-40B4-BE49-F238E27FC236}">
                <a16:creationId xmlns:a16="http://schemas.microsoft.com/office/drawing/2014/main" id="{651CF86F-8699-4AD2-A3BD-C71136D46098}"/>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D9E2E8"/>
            </a:solidFill>
            <a:prstDash val="solid"/>
          </a:ln>
        </p:spPr>
      </p:sp>
      <p:sp>
        <p:nvSpPr>
          <p:cNvPr id="4" name="">
            <a:extLst xmlns:a="http://schemas.openxmlformats.org/drawingml/2006/main">
              <a:ext uri="{FF2B5EF4-FFF2-40B4-BE49-F238E27FC236}">
                <a16:creationId xmlns:a16="http://schemas.microsoft.com/office/drawing/2014/main" id="{61A6D8C4-3E7A-4BE8-BE44-10D9052F9E37}"/>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5EC84227-FA26-4299-B984-121618CF956A}"/>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007F79"/>
                </a:solidFill>
                <a:latin typeface="DejaVu Sans"/>
                <a:ea typeface="DejaVu Sans"/>
                <a:cs typeface="DejaVu Sans"/>
              </a:defRPr>
            </a:pPr>
            <a:r>
              <a:rPr sz="825" b="1">
                <a:solidFill>
                  <a:srgbClr val="007F79"/>
                </a:solidFill>
                <a:latin typeface="DejaVu Sans"/>
                <a:ea typeface="DejaVu Sans"/>
                <a:cs typeface="DejaVu Sans"/>
              </a:rPr>
              <a:t>ERICK</a:t>
            </a:r>
          </a:p>
        </p:txBody>
      </p:sp>
      <p:sp>
        <p:nvSpPr>
          <p:cNvPr id="6" name="">
            <a:extLst xmlns:a="http://schemas.openxmlformats.org/drawingml/2006/main">
              <a:ext uri="{FF2B5EF4-FFF2-40B4-BE49-F238E27FC236}">
                <a16:creationId xmlns:a16="http://schemas.microsoft.com/office/drawing/2014/main" id="{5431CBD3-922E-4418-A361-5A22D7F65F26}"/>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5F6F7C"/>
                </a:solidFill>
                <a:latin typeface="DejaVu Sans"/>
                <a:ea typeface="DejaVu Sans"/>
                <a:cs typeface="DejaVu Sans"/>
              </a:defRPr>
            </a:pPr>
            <a:r>
              <a:rPr sz="825" b="1">
                <a:solidFill>
                  <a:srgbClr val="5F6F7C"/>
                </a:solidFill>
                <a:latin typeface="DejaVu Sans"/>
                <a:ea typeface="DejaVu Sans"/>
                <a:cs typeface="DejaVu Sans"/>
              </a:rPr>
              <a:t>11</a:t>
            </a:r>
          </a:p>
        </p:txBody>
      </p:sp>
      <p:sp>
        <p:nvSpPr>
          <p:cNvPr id="7" name="">
            <a:extLst xmlns:a="http://schemas.openxmlformats.org/drawingml/2006/main">
              <a:ext uri="{FF2B5EF4-FFF2-40B4-BE49-F238E27FC236}">
                <a16:creationId xmlns:a16="http://schemas.microsoft.com/office/drawing/2014/main" id="{B084BB36-B394-4921-9717-D5CE4035E01A}"/>
              </a:ext>
            </a:extLst>
          </p:cNvPr>
          <p:cNvSpPr>
            <a:spLocks xmlns:a="http://schemas.openxmlformats.org/drawingml/2006/main" noGrp="1"/>
          </p:cNvSpPr>
          <p:nvPr/>
        </p:nvSpPr>
        <p:spPr>
          <a:xfrm xmlns:a="http://schemas.openxmlformats.org/drawingml/2006/main">
            <a:off x="685800" y="12573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0">
                <a:solidFill>
                  <a:srgbClr val="5F6F7C"/>
                </a:solidFill>
                <a:latin typeface="DejaVu Sans"/>
                <a:ea typeface="DejaVu Sans"/>
                <a:cs typeface="DejaVu Sans"/>
              </a:defRPr>
            </a:pPr>
            <a:r>
              <a:rPr sz="1350" b="0">
                <a:solidFill>
                  <a:srgbClr val="5F6F7C"/>
                </a:solidFill>
                <a:latin typeface="DejaVu Sans"/>
                <a:ea typeface="DejaVu Sans"/>
                <a:cs typeface="DejaVu Sans"/>
              </a:rPr>
              <a:t>Sprint Goal: eliminar incertidumbre sin aumentar riesgo ni incumplir el plazo aplicable.</a:t>
            </a:r>
          </a:p>
        </p:txBody>
      </p:sp>
      <p:sp>
        <p:nvSpPr>
          <p:cNvPr id="8" name="">
            <a:extLst xmlns:a="http://schemas.openxmlformats.org/drawingml/2006/main">
              <a:ext uri="{FF2B5EF4-FFF2-40B4-BE49-F238E27FC236}">
                <a16:creationId xmlns:a16="http://schemas.microsoft.com/office/drawing/2014/main" id="{0A65090A-378E-4439-9A76-34FC77971FDA}"/>
              </a:ext>
            </a:extLst>
          </p:cNvPr>
          <p:cNvSpPr>
            <a:spLocks xmlns:a="http://schemas.openxmlformats.org/drawingml/2006/main" noGrp="1"/>
          </p:cNvSpPr>
          <p:nvPr/>
        </p:nvSpPr>
        <p:spPr>
          <a:xfrm xmlns:a="http://schemas.openxmlformats.org/drawingml/2006/main">
            <a:off x="1352550" y="2647950"/>
            <a:ext cx="9429750" cy="0"/>
          </a:xfrm>
          <a:prstGeom xmlns:a="http://schemas.openxmlformats.org/drawingml/2006/main" prst="line">
            <a:avLst/>
          </a:prstGeom>
          <a:noFill xmlns:a="http://schemas.openxmlformats.org/drawingml/2006/main"/>
          <a:ln xmlns:a="http://schemas.openxmlformats.org/drawingml/2006/main" w="47625">
            <a:solidFill>
              <a:srgbClr val="D9E2E8"/>
            </a:solidFill>
            <a:prstDash val="solid"/>
          </a:ln>
        </p:spPr>
      </p:sp>
      <p:sp>
        <p:nvSpPr>
          <p:cNvPr id="9" name="">
            <a:extLst xmlns:a="http://schemas.openxmlformats.org/drawingml/2006/main">
              <a:ext uri="{FF2B5EF4-FFF2-40B4-BE49-F238E27FC236}">
                <a16:creationId xmlns:a16="http://schemas.microsoft.com/office/drawing/2014/main" id="{47033F1E-C07C-471F-994D-FEEF6342FCDC}"/>
              </a:ext>
            </a:extLst>
          </p:cNvPr>
          <p:cNvSpPr>
            <a:spLocks xmlns:a="http://schemas.openxmlformats.org/drawingml/2006/main" noGrp="1"/>
          </p:cNvSpPr>
          <p:nvPr/>
        </p:nvSpPr>
        <p:spPr>
          <a:xfrm xmlns:a="http://schemas.openxmlformats.org/drawingml/2006/main">
            <a:off x="1057275" y="2352675"/>
            <a:ext cx="590550" cy="590550"/>
          </a:xfrm>
          <a:prstGeom xmlns:a="http://schemas.openxmlformats.org/drawingml/2006/main" prst="ellipse">
            <a:avLst/>
          </a:prstGeom>
          <a:solidFill xmlns:a="http://schemas.openxmlformats.org/drawingml/2006/main">
            <a:srgbClr val="102A43"/>
          </a:solidFill>
          <a:ln xmlns:a="http://schemas.openxmlformats.org/drawingml/2006/main" w="38100">
            <a:solidFill>
              <a:srgbClr val="FFFFFF"/>
            </a:solidFill>
            <a:prstDash val="solid"/>
          </a:ln>
        </p:spPr>
      </p:sp>
      <p:sp>
        <p:nvSpPr>
          <p:cNvPr id="10" name="">
            <a:extLst xmlns:a="http://schemas.openxmlformats.org/drawingml/2006/main">
              <a:ext uri="{FF2B5EF4-FFF2-40B4-BE49-F238E27FC236}">
                <a16:creationId xmlns:a16="http://schemas.microsoft.com/office/drawing/2014/main" id="{84D8F69B-6137-4ACD-A718-F07E2A687AF5}"/>
              </a:ext>
            </a:extLst>
          </p:cNvPr>
          <p:cNvSpPr>
            <a:spLocks xmlns:a="http://schemas.openxmlformats.org/drawingml/2006/main" noGrp="1"/>
          </p:cNvSpPr>
          <p:nvPr/>
        </p:nvSpPr>
        <p:spPr>
          <a:xfrm xmlns:a="http://schemas.openxmlformats.org/drawingml/2006/main">
            <a:off x="971550"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D1–2</a:t>
            </a:r>
          </a:p>
        </p:txBody>
      </p:sp>
      <p:sp>
        <p:nvSpPr>
          <p:cNvPr id="11" name="">
            <a:extLst xmlns:a="http://schemas.openxmlformats.org/drawingml/2006/main">
              <a:ext uri="{FF2B5EF4-FFF2-40B4-BE49-F238E27FC236}">
                <a16:creationId xmlns:a16="http://schemas.microsoft.com/office/drawing/2014/main" id="{2BDD6494-D57C-42EF-8A13-6121C72AE0D4}"/>
              </a:ext>
            </a:extLst>
          </p:cNvPr>
          <p:cNvSpPr>
            <a:spLocks xmlns:a="http://schemas.openxmlformats.org/drawingml/2006/main" noGrp="1"/>
          </p:cNvSpPr>
          <p:nvPr/>
        </p:nvSpPr>
        <p:spPr>
          <a:xfrm xmlns:a="http://schemas.openxmlformats.org/drawingml/2006/main">
            <a:off x="514350" y="314325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Alinear</a:t>
            </a:r>
          </a:p>
        </p:txBody>
      </p:sp>
      <p:sp>
        <p:nvSpPr>
          <p:cNvPr id="12" name="">
            <a:extLst xmlns:a="http://schemas.openxmlformats.org/drawingml/2006/main">
              <a:ext uri="{FF2B5EF4-FFF2-40B4-BE49-F238E27FC236}">
                <a16:creationId xmlns:a16="http://schemas.microsoft.com/office/drawing/2014/main" id="{FF362D5D-8D6C-4C49-98E6-019551D8B7CF}"/>
              </a:ext>
            </a:extLst>
          </p:cNvPr>
          <p:cNvSpPr>
            <a:spLocks xmlns:a="http://schemas.openxmlformats.org/drawingml/2006/main" noGrp="1"/>
          </p:cNvSpPr>
          <p:nvPr/>
        </p:nvSpPr>
        <p:spPr>
          <a:xfrm xmlns:a="http://schemas.openxmlformats.org/drawingml/2006/main">
            <a:off x="514350" y="34861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Estados · copy</a:t>
            </a:r>
          </a:p>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línea base</a:t>
            </a:r>
          </a:p>
        </p:txBody>
      </p:sp>
      <p:sp>
        <p:nvSpPr>
          <p:cNvPr id="13" name="">
            <a:extLst xmlns:a="http://schemas.openxmlformats.org/drawingml/2006/main">
              <a:ext uri="{FF2B5EF4-FFF2-40B4-BE49-F238E27FC236}">
                <a16:creationId xmlns:a16="http://schemas.microsoft.com/office/drawing/2014/main" id="{6AC67AFB-E570-4B19-942E-99ADE35CE066}"/>
              </a:ext>
            </a:extLst>
          </p:cNvPr>
          <p:cNvSpPr>
            <a:spLocks xmlns:a="http://schemas.openxmlformats.org/drawingml/2006/main" noGrp="1"/>
          </p:cNvSpPr>
          <p:nvPr/>
        </p:nvSpPr>
        <p:spPr>
          <a:xfrm xmlns:a="http://schemas.openxmlformats.org/drawingml/2006/main">
            <a:off x="3419475" y="2352675"/>
            <a:ext cx="590550" cy="590550"/>
          </a:xfrm>
          <a:prstGeom xmlns:a="http://schemas.openxmlformats.org/drawingml/2006/main" prst="ellipse">
            <a:avLst/>
          </a:prstGeom>
          <a:solidFill xmlns:a="http://schemas.openxmlformats.org/drawingml/2006/main">
            <a:srgbClr val="007F79"/>
          </a:solidFill>
          <a:ln xmlns:a="http://schemas.openxmlformats.org/drawingml/2006/main" w="38100">
            <a:solidFill>
              <a:srgbClr val="FFFFFF"/>
            </a:solidFill>
            <a:prstDash val="solid"/>
          </a:ln>
        </p:spPr>
      </p:sp>
      <p:sp>
        <p:nvSpPr>
          <p:cNvPr id="14" name="">
            <a:extLst xmlns:a="http://schemas.openxmlformats.org/drawingml/2006/main">
              <a:ext uri="{FF2B5EF4-FFF2-40B4-BE49-F238E27FC236}">
                <a16:creationId xmlns:a16="http://schemas.microsoft.com/office/drawing/2014/main" id="{9D6B5A96-5BAD-4DD7-9438-57F439A318F2}"/>
              </a:ext>
            </a:extLst>
          </p:cNvPr>
          <p:cNvSpPr>
            <a:spLocks xmlns:a="http://schemas.openxmlformats.org/drawingml/2006/main" noGrp="1"/>
          </p:cNvSpPr>
          <p:nvPr/>
        </p:nvSpPr>
        <p:spPr>
          <a:xfrm xmlns:a="http://schemas.openxmlformats.org/drawingml/2006/main">
            <a:off x="3333750"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D3–5</a:t>
            </a:r>
          </a:p>
        </p:txBody>
      </p:sp>
      <p:sp>
        <p:nvSpPr>
          <p:cNvPr id="15" name="">
            <a:extLst xmlns:a="http://schemas.openxmlformats.org/drawingml/2006/main">
              <a:ext uri="{FF2B5EF4-FFF2-40B4-BE49-F238E27FC236}">
                <a16:creationId xmlns:a16="http://schemas.microsoft.com/office/drawing/2014/main" id="{5A98A95D-DFE3-4C08-993F-8C94E5282989}"/>
              </a:ext>
            </a:extLst>
          </p:cNvPr>
          <p:cNvSpPr>
            <a:spLocks xmlns:a="http://schemas.openxmlformats.org/drawingml/2006/main" noGrp="1"/>
          </p:cNvSpPr>
          <p:nvPr/>
        </p:nvSpPr>
        <p:spPr>
          <a:xfrm xmlns:a="http://schemas.openxmlformats.org/drawingml/2006/main">
            <a:off x="2876550" y="314325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Probar</a:t>
            </a:r>
          </a:p>
        </p:txBody>
      </p:sp>
      <p:sp>
        <p:nvSpPr>
          <p:cNvPr id="16" name="">
            <a:extLst xmlns:a="http://schemas.openxmlformats.org/drawingml/2006/main">
              <a:ext uri="{FF2B5EF4-FFF2-40B4-BE49-F238E27FC236}">
                <a16:creationId xmlns:a16="http://schemas.microsoft.com/office/drawing/2014/main" id="{4FE3623B-C077-43EC-84D3-F68143DEFE76}"/>
              </a:ext>
            </a:extLst>
          </p:cNvPr>
          <p:cNvSpPr>
            <a:spLocks xmlns:a="http://schemas.openxmlformats.org/drawingml/2006/main" noGrp="1"/>
          </p:cNvSpPr>
          <p:nvPr/>
        </p:nvSpPr>
        <p:spPr>
          <a:xfrm xmlns:a="http://schemas.openxmlformats.org/drawingml/2006/main">
            <a:off x="2876550" y="34861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Prototipo</a:t>
            </a:r>
          </a:p>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5 usuarios</a:t>
            </a:r>
          </a:p>
        </p:txBody>
      </p:sp>
      <p:sp>
        <p:nvSpPr>
          <p:cNvPr id="17" name="">
            <a:extLst xmlns:a="http://schemas.openxmlformats.org/drawingml/2006/main">
              <a:ext uri="{FF2B5EF4-FFF2-40B4-BE49-F238E27FC236}">
                <a16:creationId xmlns:a16="http://schemas.microsoft.com/office/drawing/2014/main" id="{77875A43-D476-4173-8B41-5FE02557F7BD}"/>
              </a:ext>
            </a:extLst>
          </p:cNvPr>
          <p:cNvSpPr>
            <a:spLocks xmlns:a="http://schemas.openxmlformats.org/drawingml/2006/main" noGrp="1"/>
          </p:cNvSpPr>
          <p:nvPr/>
        </p:nvSpPr>
        <p:spPr>
          <a:xfrm xmlns:a="http://schemas.openxmlformats.org/drawingml/2006/main">
            <a:off x="5781675" y="2352675"/>
            <a:ext cx="590550" cy="590550"/>
          </a:xfrm>
          <a:prstGeom xmlns:a="http://schemas.openxmlformats.org/drawingml/2006/main" prst="ellipse">
            <a:avLst/>
          </a:prstGeom>
          <a:solidFill xmlns:a="http://schemas.openxmlformats.org/drawingml/2006/main">
            <a:srgbClr val="D99B35"/>
          </a:solidFill>
          <a:ln xmlns:a="http://schemas.openxmlformats.org/drawingml/2006/main" w="38100">
            <a:solidFill>
              <a:srgbClr val="FFFFFF"/>
            </a:solidFill>
            <a:prstDash val="solid"/>
          </a:ln>
        </p:spPr>
      </p:sp>
      <p:sp>
        <p:nvSpPr>
          <p:cNvPr id="18" name="">
            <a:extLst xmlns:a="http://schemas.openxmlformats.org/drawingml/2006/main">
              <a:ext uri="{FF2B5EF4-FFF2-40B4-BE49-F238E27FC236}">
                <a16:creationId xmlns:a16="http://schemas.microsoft.com/office/drawing/2014/main" id="{92845BF5-2741-47DC-8242-E7B3469B21C3}"/>
              </a:ext>
            </a:extLst>
          </p:cNvPr>
          <p:cNvSpPr>
            <a:spLocks xmlns:a="http://schemas.openxmlformats.org/drawingml/2006/main" noGrp="1"/>
          </p:cNvSpPr>
          <p:nvPr/>
        </p:nvSpPr>
        <p:spPr>
          <a:xfrm xmlns:a="http://schemas.openxmlformats.org/drawingml/2006/main">
            <a:off x="5695950"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D6–8</a:t>
            </a:r>
          </a:p>
        </p:txBody>
      </p:sp>
      <p:sp>
        <p:nvSpPr>
          <p:cNvPr id="19" name="">
            <a:extLst xmlns:a="http://schemas.openxmlformats.org/drawingml/2006/main">
              <a:ext uri="{FF2B5EF4-FFF2-40B4-BE49-F238E27FC236}">
                <a16:creationId xmlns:a16="http://schemas.microsoft.com/office/drawing/2014/main" id="{23E36358-F00E-4D8B-97D2-8093C3DA779E}"/>
              </a:ext>
            </a:extLst>
          </p:cNvPr>
          <p:cNvSpPr>
            <a:spLocks xmlns:a="http://schemas.openxmlformats.org/drawingml/2006/main" noGrp="1"/>
          </p:cNvSpPr>
          <p:nvPr/>
        </p:nvSpPr>
        <p:spPr>
          <a:xfrm xmlns:a="http://schemas.openxmlformats.org/drawingml/2006/main">
            <a:off x="5238750" y="314325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Construir</a:t>
            </a:r>
          </a:p>
        </p:txBody>
      </p:sp>
      <p:sp>
        <p:nvSpPr>
          <p:cNvPr id="20" name="">
            <a:extLst xmlns:a="http://schemas.openxmlformats.org/drawingml/2006/main">
              <a:ext uri="{FF2B5EF4-FFF2-40B4-BE49-F238E27FC236}">
                <a16:creationId xmlns:a16="http://schemas.microsoft.com/office/drawing/2014/main" id="{453EC22F-563B-44FC-BBD9-18E7B6CA1829}"/>
              </a:ext>
            </a:extLst>
          </p:cNvPr>
          <p:cNvSpPr>
            <a:spLocks xmlns:a="http://schemas.openxmlformats.org/drawingml/2006/main" noGrp="1"/>
          </p:cNvSpPr>
          <p:nvPr/>
        </p:nvSpPr>
        <p:spPr>
          <a:xfrm xmlns:a="http://schemas.openxmlformats.org/drawingml/2006/main">
            <a:off x="5238750" y="34861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Frontend</a:t>
            </a:r>
          </a:p>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analytics</a:t>
            </a:r>
          </a:p>
        </p:txBody>
      </p:sp>
      <p:sp>
        <p:nvSpPr>
          <p:cNvPr id="21" name="">
            <a:extLst xmlns:a="http://schemas.openxmlformats.org/drawingml/2006/main">
              <a:ext uri="{FF2B5EF4-FFF2-40B4-BE49-F238E27FC236}">
                <a16:creationId xmlns:a16="http://schemas.microsoft.com/office/drawing/2014/main" id="{A521F723-F832-4832-AEDD-63AA0553534E}"/>
              </a:ext>
            </a:extLst>
          </p:cNvPr>
          <p:cNvSpPr>
            <a:spLocks xmlns:a="http://schemas.openxmlformats.org/drawingml/2006/main" noGrp="1"/>
          </p:cNvSpPr>
          <p:nvPr/>
        </p:nvSpPr>
        <p:spPr>
          <a:xfrm xmlns:a="http://schemas.openxmlformats.org/drawingml/2006/main">
            <a:off x="8143875" y="2352675"/>
            <a:ext cx="590550" cy="590550"/>
          </a:xfrm>
          <a:prstGeom xmlns:a="http://schemas.openxmlformats.org/drawingml/2006/main" prst="ellipse">
            <a:avLst/>
          </a:prstGeom>
          <a:solidFill xmlns:a="http://schemas.openxmlformats.org/drawingml/2006/main">
            <a:srgbClr val="E86A5B"/>
          </a:solidFill>
          <a:ln xmlns:a="http://schemas.openxmlformats.org/drawingml/2006/main" w="38100">
            <a:solidFill>
              <a:srgbClr val="FFFFFF"/>
            </a:solidFill>
            <a:prstDash val="solid"/>
          </a:ln>
        </p:spPr>
      </p:sp>
      <p:sp>
        <p:nvSpPr>
          <p:cNvPr id="22" name="">
            <a:extLst xmlns:a="http://schemas.openxmlformats.org/drawingml/2006/main">
              <a:ext uri="{FF2B5EF4-FFF2-40B4-BE49-F238E27FC236}">
                <a16:creationId xmlns:a16="http://schemas.microsoft.com/office/drawing/2014/main" id="{E5540F7C-D836-4111-8658-E60A9B9B1549}"/>
              </a:ext>
            </a:extLst>
          </p:cNvPr>
          <p:cNvSpPr>
            <a:spLocks xmlns:a="http://schemas.openxmlformats.org/drawingml/2006/main" noGrp="1"/>
          </p:cNvSpPr>
          <p:nvPr/>
        </p:nvSpPr>
        <p:spPr>
          <a:xfrm xmlns:a="http://schemas.openxmlformats.org/drawingml/2006/main">
            <a:off x="8058150"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D9–10</a:t>
            </a:r>
          </a:p>
        </p:txBody>
      </p:sp>
      <p:sp>
        <p:nvSpPr>
          <p:cNvPr id="23" name="">
            <a:extLst xmlns:a="http://schemas.openxmlformats.org/drawingml/2006/main">
              <a:ext uri="{FF2B5EF4-FFF2-40B4-BE49-F238E27FC236}">
                <a16:creationId xmlns:a16="http://schemas.microsoft.com/office/drawing/2014/main" id="{07098856-AF19-457B-8F9A-5C9C7719F586}"/>
              </a:ext>
            </a:extLst>
          </p:cNvPr>
          <p:cNvSpPr>
            <a:spLocks xmlns:a="http://schemas.openxmlformats.org/drawingml/2006/main" noGrp="1"/>
          </p:cNvSpPr>
          <p:nvPr/>
        </p:nvSpPr>
        <p:spPr>
          <a:xfrm xmlns:a="http://schemas.openxmlformats.org/drawingml/2006/main">
            <a:off x="7600950" y="314325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Liberar</a:t>
            </a:r>
          </a:p>
        </p:txBody>
      </p:sp>
      <p:sp>
        <p:nvSpPr>
          <p:cNvPr id="24" name="">
            <a:extLst xmlns:a="http://schemas.openxmlformats.org/drawingml/2006/main">
              <a:ext uri="{FF2B5EF4-FFF2-40B4-BE49-F238E27FC236}">
                <a16:creationId xmlns:a16="http://schemas.microsoft.com/office/drawing/2014/main" id="{96818D03-ED23-44A8-8DF0-CBBBBE05E3AD}"/>
              </a:ext>
            </a:extLst>
          </p:cNvPr>
          <p:cNvSpPr>
            <a:spLocks xmlns:a="http://schemas.openxmlformats.org/drawingml/2006/main" noGrp="1"/>
          </p:cNvSpPr>
          <p:nvPr/>
        </p:nvSpPr>
        <p:spPr>
          <a:xfrm xmlns:a="http://schemas.openxmlformats.org/drawingml/2006/main">
            <a:off x="7600950" y="34861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Canario</a:t>
            </a:r>
          </a:p>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monitoreo</a:t>
            </a:r>
          </a:p>
        </p:txBody>
      </p:sp>
      <p:sp>
        <p:nvSpPr>
          <p:cNvPr id="25" name="">
            <a:extLst xmlns:a="http://schemas.openxmlformats.org/drawingml/2006/main">
              <a:ext uri="{FF2B5EF4-FFF2-40B4-BE49-F238E27FC236}">
                <a16:creationId xmlns:a16="http://schemas.microsoft.com/office/drawing/2014/main" id="{497570A5-BA98-48D2-AFBF-6135C62CE482}"/>
              </a:ext>
            </a:extLst>
          </p:cNvPr>
          <p:cNvSpPr>
            <a:spLocks xmlns:a="http://schemas.openxmlformats.org/drawingml/2006/main" noGrp="1"/>
          </p:cNvSpPr>
          <p:nvPr/>
        </p:nvSpPr>
        <p:spPr>
          <a:xfrm xmlns:a="http://schemas.openxmlformats.org/drawingml/2006/main">
            <a:off x="10506075" y="2352675"/>
            <a:ext cx="590550" cy="590550"/>
          </a:xfrm>
          <a:prstGeom xmlns:a="http://schemas.openxmlformats.org/drawingml/2006/main" prst="ellipse">
            <a:avLst/>
          </a:prstGeom>
          <a:solidFill xmlns:a="http://schemas.openxmlformats.org/drawingml/2006/main">
            <a:srgbClr val="2D8A6E"/>
          </a:solidFill>
          <a:ln xmlns:a="http://schemas.openxmlformats.org/drawingml/2006/main" w="38100">
            <a:solidFill>
              <a:srgbClr val="FFFFFF"/>
            </a:solidFill>
            <a:prstDash val="solid"/>
          </a:ln>
        </p:spPr>
      </p:sp>
      <p:sp>
        <p:nvSpPr>
          <p:cNvPr id="26" name="">
            <a:extLst xmlns:a="http://schemas.openxmlformats.org/drawingml/2006/main">
              <a:ext uri="{FF2B5EF4-FFF2-40B4-BE49-F238E27FC236}">
                <a16:creationId xmlns:a16="http://schemas.microsoft.com/office/drawing/2014/main" id="{D0FB71BF-7816-414B-BE52-76306792DBCE}"/>
              </a:ext>
            </a:extLst>
          </p:cNvPr>
          <p:cNvSpPr>
            <a:spLocks xmlns:a="http://schemas.openxmlformats.org/drawingml/2006/main" noGrp="1"/>
          </p:cNvSpPr>
          <p:nvPr/>
        </p:nvSpPr>
        <p:spPr>
          <a:xfrm xmlns:a="http://schemas.openxmlformats.org/drawingml/2006/main">
            <a:off x="10420350"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D30</a:t>
            </a:r>
          </a:p>
        </p:txBody>
      </p:sp>
      <p:sp>
        <p:nvSpPr>
          <p:cNvPr id="27" name="">
            <a:extLst xmlns:a="http://schemas.openxmlformats.org/drawingml/2006/main">
              <a:ext uri="{FF2B5EF4-FFF2-40B4-BE49-F238E27FC236}">
                <a16:creationId xmlns:a16="http://schemas.microsoft.com/office/drawing/2014/main" id="{B696CECC-34FB-4C12-9E67-4BC9896AB992}"/>
              </a:ext>
            </a:extLst>
          </p:cNvPr>
          <p:cNvSpPr>
            <a:spLocks xmlns:a="http://schemas.openxmlformats.org/drawingml/2006/main" noGrp="1"/>
          </p:cNvSpPr>
          <p:nvPr/>
        </p:nvSpPr>
        <p:spPr>
          <a:xfrm xmlns:a="http://schemas.openxmlformats.org/drawingml/2006/main">
            <a:off x="9963150" y="314325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Evaluar</a:t>
            </a:r>
          </a:p>
        </p:txBody>
      </p:sp>
      <p:sp>
        <p:nvSpPr>
          <p:cNvPr id="28" name="">
            <a:extLst xmlns:a="http://schemas.openxmlformats.org/drawingml/2006/main">
              <a:ext uri="{FF2B5EF4-FFF2-40B4-BE49-F238E27FC236}">
                <a16:creationId xmlns:a16="http://schemas.microsoft.com/office/drawing/2014/main" id="{388A8A0C-2A76-48BC-967D-AD4D9F440BB4}"/>
              </a:ext>
            </a:extLst>
          </p:cNvPr>
          <p:cNvSpPr>
            <a:spLocks xmlns:a="http://schemas.openxmlformats.org/drawingml/2006/main" noGrp="1"/>
          </p:cNvSpPr>
          <p:nvPr/>
        </p:nvSpPr>
        <p:spPr>
          <a:xfrm xmlns:a="http://schemas.openxmlformats.org/drawingml/2006/main">
            <a:off x="9963150" y="34861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TCI–30</a:t>
            </a:r>
          </a:p>
          <a:p xmlns:a="http://schemas.openxmlformats.org/drawingml/2006/main">
            <a:pPr algn="ctr">
              <a:lnSpc>
                <a:spcPct val="115000"/>
              </a:lnSpc>
              <a:buNone/>
              <a:defRPr sz="1125" b="0">
                <a:solidFill>
                  <a:srgbClr val="5F6F7C"/>
                </a:solidFill>
                <a:latin typeface="DejaVu Sans"/>
                <a:ea typeface="DejaVu Sans"/>
                <a:cs typeface="DejaVu Sans"/>
              </a:defRPr>
            </a:pPr>
            <a:r>
              <a:rPr sz="1125" b="0">
                <a:solidFill>
                  <a:srgbClr val="5F6F7C"/>
                </a:solidFill>
                <a:latin typeface="DejaVu Sans"/>
                <a:ea typeface="DejaVu Sans"/>
                <a:cs typeface="DejaVu Sans"/>
              </a:rPr>
              <a:t>stop / scale</a:t>
            </a:r>
          </a:p>
        </p:txBody>
      </p:sp>
      <p:sp>
        <p:nvSpPr>
          <p:cNvPr id="29" name="">
            <a:extLst xmlns:a="http://schemas.openxmlformats.org/drawingml/2006/main">
              <a:ext uri="{FF2B5EF4-FFF2-40B4-BE49-F238E27FC236}">
                <a16:creationId xmlns:a16="http://schemas.microsoft.com/office/drawing/2014/main" id="{2C10826C-491B-4FFD-ACC4-53A62FF4ED33}"/>
              </a:ext>
            </a:extLst>
          </p:cNvPr>
          <p:cNvSpPr>
            <a:spLocks xmlns:a="http://schemas.openxmlformats.org/drawingml/2006/main" noGrp="1"/>
          </p:cNvSpPr>
          <p:nvPr/>
        </p:nvSpPr>
        <p:spPr>
          <a:xfrm xmlns:a="http://schemas.openxmlformats.org/drawingml/2006/main">
            <a:off x="685800" y="4457700"/>
            <a:ext cx="10820400" cy="1371600"/>
          </a:xfrm>
          <a:prstGeom xmlns:a="http://schemas.openxmlformats.org/drawingml/2006/main" prst="roundRect">
            <a:avLst>
              <a:gd name="adj" fmla="val 12500"/>
            </a:avLst>
          </a:prstGeom>
          <a:solidFill xmlns:a="http://schemas.openxmlformats.org/drawingml/2006/main">
            <a:srgbClr val="F4F7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4C11AB0-2D8A-40B0-AD45-D383FD1EF566}"/>
              </a:ext>
            </a:extLst>
          </p:cNvPr>
          <p:cNvSpPr>
            <a:spLocks xmlns:a="http://schemas.openxmlformats.org/drawingml/2006/main" noGrp="1"/>
          </p:cNvSpPr>
          <p:nvPr/>
        </p:nvSpPr>
        <p:spPr>
          <a:xfrm xmlns:a="http://schemas.openxmlformats.org/drawingml/2006/main">
            <a:off x="914400" y="464820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007F79"/>
                </a:solidFill>
                <a:latin typeface="DejaVu Sans"/>
                <a:ea typeface="DejaVu Sans"/>
                <a:cs typeface="DejaVu Sans"/>
              </a:defRPr>
            </a:pPr>
            <a:r>
              <a:rPr sz="975" b="1">
                <a:solidFill>
                  <a:srgbClr val="007F79"/>
                </a:solidFill>
                <a:latin typeface="DejaVu Sans"/>
                <a:ea typeface="DejaVu Sans"/>
                <a:cs typeface="DejaVu Sans"/>
              </a:rPr>
              <a:t>ÉXITO TEMPRANO</a:t>
            </a:r>
          </a:p>
        </p:txBody>
      </p:sp>
      <p:sp>
        <p:nvSpPr>
          <p:cNvPr id="31" name="">
            <a:extLst xmlns:a="http://schemas.openxmlformats.org/drawingml/2006/main">
              <a:ext uri="{FF2B5EF4-FFF2-40B4-BE49-F238E27FC236}">
                <a16:creationId xmlns:a16="http://schemas.microsoft.com/office/drawing/2014/main" id="{7D5EA037-84EF-4A27-A123-DBE8F335E199}"/>
              </a:ext>
            </a:extLst>
          </p:cNvPr>
          <p:cNvSpPr>
            <a:spLocks xmlns:a="http://schemas.openxmlformats.org/drawingml/2006/main" noGrp="1"/>
          </p:cNvSpPr>
          <p:nvPr/>
        </p:nvSpPr>
        <p:spPr>
          <a:xfrm xmlns:a="http://schemas.openxmlformats.org/drawingml/2006/main">
            <a:off x="914400" y="49911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025" b="1">
                <a:solidFill>
                  <a:srgbClr val="102A43"/>
                </a:solidFill>
                <a:latin typeface="DejaVu Sans"/>
                <a:ea typeface="DejaVu Sans"/>
                <a:cs typeface="DejaVu Sans"/>
              </a:defRPr>
            </a:pPr>
            <a:r>
              <a:rPr sz="2025" b="1">
                <a:solidFill>
                  <a:srgbClr val="102A43"/>
                </a:solidFill>
                <a:latin typeface="DejaVu Sans"/>
                <a:ea typeface="DejaVu Sans"/>
                <a:cs typeface="DejaVu Sans"/>
              </a:rPr>
              <a:t>≥80%</a:t>
            </a:r>
          </a:p>
        </p:txBody>
      </p:sp>
      <p:sp>
        <p:nvSpPr>
          <p:cNvPr id="32" name="">
            <a:extLst xmlns:a="http://schemas.openxmlformats.org/drawingml/2006/main">
              <a:ext uri="{FF2B5EF4-FFF2-40B4-BE49-F238E27FC236}">
                <a16:creationId xmlns:a16="http://schemas.microsoft.com/office/drawing/2014/main" id="{E249877E-D299-42AE-831E-9F892797F689}"/>
              </a:ext>
            </a:extLst>
          </p:cNvPr>
          <p:cNvSpPr>
            <a:spLocks xmlns:a="http://schemas.openxmlformats.org/drawingml/2006/main" noGrp="1"/>
          </p:cNvSpPr>
          <p:nvPr/>
        </p:nvSpPr>
        <p:spPr>
          <a:xfrm xmlns:a="http://schemas.openxmlformats.org/drawingml/2006/main">
            <a:off x="1981200" y="49720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0">
                <a:solidFill>
                  <a:srgbClr val="5F6F7C"/>
                </a:solidFill>
                <a:latin typeface="DejaVu Sans"/>
                <a:ea typeface="DejaVu Sans"/>
                <a:cs typeface="DejaVu Sans"/>
              </a:defRPr>
            </a:pPr>
            <a:r>
              <a:rPr sz="1050" b="0">
                <a:solidFill>
                  <a:srgbClr val="5F6F7C"/>
                </a:solidFill>
                <a:latin typeface="DejaVu Sans"/>
                <a:ea typeface="DejaVu Sans"/>
                <a:cs typeface="DejaVu Sans"/>
              </a:rPr>
              <a:t>comprende estado y plazo</a:t>
            </a:r>
          </a:p>
        </p:txBody>
      </p:sp>
      <p:sp>
        <p:nvSpPr>
          <p:cNvPr id="33" name="">
            <a:extLst xmlns:a="http://schemas.openxmlformats.org/drawingml/2006/main">
              <a:ext uri="{FF2B5EF4-FFF2-40B4-BE49-F238E27FC236}">
                <a16:creationId xmlns:a16="http://schemas.microsoft.com/office/drawing/2014/main" id="{53BDC0A1-F613-4EAC-9809-BD9EAFB14B8C}"/>
              </a:ext>
            </a:extLst>
          </p:cNvPr>
          <p:cNvSpPr>
            <a:spLocks xmlns:a="http://schemas.openxmlformats.org/drawingml/2006/main" noGrp="1"/>
          </p:cNvSpPr>
          <p:nvPr/>
        </p:nvSpPr>
        <p:spPr>
          <a:xfrm xmlns:a="http://schemas.openxmlformats.org/drawingml/2006/main">
            <a:off x="3562350" y="49911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025" b="1">
                <a:solidFill>
                  <a:srgbClr val="E86A5B"/>
                </a:solidFill>
                <a:latin typeface="DejaVu Sans"/>
                <a:ea typeface="DejaVu Sans"/>
                <a:cs typeface="DejaVu Sans"/>
              </a:defRPr>
            </a:pPr>
            <a:r>
              <a:rPr sz="2025" b="1">
                <a:solidFill>
                  <a:srgbClr val="E86A5B"/>
                </a:solidFill>
                <a:latin typeface="DejaVu Sans"/>
                <a:ea typeface="DejaVu Sans"/>
                <a:cs typeface="DejaVu Sans"/>
              </a:rPr>
              <a:t>−30%</a:t>
            </a:r>
          </a:p>
        </p:txBody>
      </p:sp>
      <p:sp>
        <p:nvSpPr>
          <p:cNvPr id="34" name="">
            <a:extLst xmlns:a="http://schemas.openxmlformats.org/drawingml/2006/main">
              <a:ext uri="{FF2B5EF4-FFF2-40B4-BE49-F238E27FC236}">
                <a16:creationId xmlns:a16="http://schemas.microsoft.com/office/drawing/2014/main" id="{F84FE8F6-8D52-4D2E-9271-F78555F43841}"/>
              </a:ext>
            </a:extLst>
          </p:cNvPr>
          <p:cNvSpPr>
            <a:spLocks xmlns:a="http://schemas.openxmlformats.org/drawingml/2006/main" noGrp="1"/>
          </p:cNvSpPr>
          <p:nvPr/>
        </p:nvSpPr>
        <p:spPr>
          <a:xfrm xmlns:a="http://schemas.openxmlformats.org/drawingml/2006/main">
            <a:off x="4629150" y="49720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0">
                <a:solidFill>
                  <a:srgbClr val="5F6F7C"/>
                </a:solidFill>
                <a:latin typeface="DejaVu Sans"/>
                <a:ea typeface="DejaVu Sans"/>
                <a:cs typeface="DejaVu Sans"/>
              </a:defRPr>
            </a:pPr>
            <a:r>
              <a:rPr sz="1050" b="0">
                <a:solidFill>
                  <a:srgbClr val="5F6F7C"/>
                </a:solidFill>
                <a:latin typeface="DejaVu Sans"/>
                <a:ea typeface="DejaVu Sans"/>
                <a:cs typeface="DejaVu Sans"/>
              </a:rPr>
              <a:t>contactos por “dinero desaparecido”</a:t>
            </a:r>
          </a:p>
        </p:txBody>
      </p:sp>
      <p:sp>
        <p:nvSpPr>
          <p:cNvPr id="35" name="">
            <a:extLst xmlns:a="http://schemas.openxmlformats.org/drawingml/2006/main">
              <a:ext uri="{FF2B5EF4-FFF2-40B4-BE49-F238E27FC236}">
                <a16:creationId xmlns:a16="http://schemas.microsoft.com/office/drawing/2014/main" id="{BC4278FF-61D1-44BF-B0AF-ED95C5C67F33}"/>
              </a:ext>
            </a:extLst>
          </p:cNvPr>
          <p:cNvSpPr>
            <a:spLocks xmlns:a="http://schemas.openxmlformats.org/drawingml/2006/main" noGrp="1"/>
          </p:cNvSpPr>
          <p:nvPr/>
        </p:nvSpPr>
        <p:spPr>
          <a:xfrm xmlns:a="http://schemas.openxmlformats.org/drawingml/2006/main">
            <a:off x="6210300" y="49911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025" b="1">
                <a:solidFill>
                  <a:srgbClr val="102A43"/>
                </a:solidFill>
                <a:latin typeface="DejaVu Sans"/>
                <a:ea typeface="DejaVu Sans"/>
                <a:cs typeface="DejaVu Sans"/>
              </a:defRPr>
            </a:pPr>
            <a:r>
              <a:rPr sz="2025" b="1">
                <a:solidFill>
                  <a:srgbClr val="102A43"/>
                </a:solidFill>
                <a:latin typeface="DejaVu Sans"/>
                <a:ea typeface="DejaVu Sans"/>
                <a:cs typeface="DejaVu Sans"/>
              </a:rPr>
              <a:t>100%</a:t>
            </a:r>
          </a:p>
        </p:txBody>
      </p:sp>
      <p:sp>
        <p:nvSpPr>
          <p:cNvPr id="36" name="">
            <a:extLst xmlns:a="http://schemas.openxmlformats.org/drawingml/2006/main">
              <a:ext uri="{FF2B5EF4-FFF2-40B4-BE49-F238E27FC236}">
                <a16:creationId xmlns:a16="http://schemas.microsoft.com/office/drawing/2014/main" id="{42020720-EDED-42CB-8E82-5E404142C7B2}"/>
              </a:ext>
            </a:extLst>
          </p:cNvPr>
          <p:cNvSpPr>
            <a:spLocks xmlns:a="http://schemas.openxmlformats.org/drawingml/2006/main" noGrp="1"/>
          </p:cNvSpPr>
          <p:nvPr/>
        </p:nvSpPr>
        <p:spPr>
          <a:xfrm xmlns:a="http://schemas.openxmlformats.org/drawingml/2006/main">
            <a:off x="7277100" y="49720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0">
                <a:solidFill>
                  <a:srgbClr val="5F6F7C"/>
                </a:solidFill>
                <a:latin typeface="DejaVu Sans"/>
                <a:ea typeface="DejaVu Sans"/>
                <a:cs typeface="DejaVu Sans"/>
              </a:defRPr>
            </a:pPr>
            <a:r>
              <a:rPr sz="1050" b="0">
                <a:solidFill>
                  <a:srgbClr val="5F6F7C"/>
                </a:solidFill>
                <a:latin typeface="DejaVu Sans"/>
                <a:ea typeface="DejaVu Sans"/>
                <a:cs typeface="DejaVu Sans"/>
              </a:rPr>
              <a:t>dentro del reglamento aplicable</a:t>
            </a:r>
          </a:p>
        </p:txBody>
      </p:sp>
      <p:sp>
        <p:nvSpPr>
          <p:cNvPr id="37" name="">
            <a:extLst xmlns:a="http://schemas.openxmlformats.org/drawingml/2006/main">
              <a:ext uri="{FF2B5EF4-FFF2-40B4-BE49-F238E27FC236}">
                <a16:creationId xmlns:a16="http://schemas.microsoft.com/office/drawing/2014/main" id="{DF472393-A176-4B22-AA33-54E7B94C346C}"/>
              </a:ext>
            </a:extLst>
          </p:cNvPr>
          <p:cNvSpPr>
            <a:spLocks xmlns:a="http://schemas.openxmlformats.org/drawingml/2006/main" noGrp="1"/>
          </p:cNvSpPr>
          <p:nvPr/>
        </p:nvSpPr>
        <p:spPr>
          <a:xfrm xmlns:a="http://schemas.openxmlformats.org/drawingml/2006/main">
            <a:off x="8858250" y="49911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025" b="1">
                <a:solidFill>
                  <a:srgbClr val="102A43"/>
                </a:solidFill>
                <a:latin typeface="DejaVu Sans"/>
                <a:ea typeface="DejaVu Sans"/>
                <a:cs typeface="DejaVu Sans"/>
              </a:defRPr>
            </a:pPr>
            <a:r>
              <a:rPr sz="2025" b="1">
                <a:solidFill>
                  <a:srgbClr val="102A43"/>
                </a:solidFill>
                <a:latin typeface="DejaVu Sans"/>
                <a:ea typeface="DejaVu Sans"/>
                <a:cs typeface="DejaVu Sans"/>
              </a:rPr>
              <a:t>≤ base</a:t>
            </a:r>
          </a:p>
        </p:txBody>
      </p:sp>
      <p:sp>
        <p:nvSpPr>
          <p:cNvPr id="38" name="">
            <a:extLst xmlns:a="http://schemas.openxmlformats.org/drawingml/2006/main">
              <a:ext uri="{FF2B5EF4-FFF2-40B4-BE49-F238E27FC236}">
                <a16:creationId xmlns:a16="http://schemas.microsoft.com/office/drawing/2014/main" id="{6BD84A11-1C46-45DE-BEDA-CE761EB95C66}"/>
              </a:ext>
            </a:extLst>
          </p:cNvPr>
          <p:cNvSpPr>
            <a:spLocks xmlns:a="http://schemas.openxmlformats.org/drawingml/2006/main" noGrp="1"/>
          </p:cNvSpPr>
          <p:nvPr/>
        </p:nvSpPr>
        <p:spPr>
          <a:xfrm xmlns:a="http://schemas.openxmlformats.org/drawingml/2006/main">
            <a:off x="9925050" y="49720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050" b="0">
                <a:solidFill>
                  <a:srgbClr val="5F6F7C"/>
                </a:solidFill>
                <a:latin typeface="DejaVu Sans"/>
                <a:ea typeface="DejaVu Sans"/>
                <a:cs typeface="DejaVu Sans"/>
              </a:defRPr>
            </a:pPr>
            <a:r>
              <a:rPr sz="1050" b="0">
                <a:solidFill>
                  <a:srgbClr val="5F6F7C"/>
                </a:solidFill>
                <a:latin typeface="DejaVu Sans"/>
                <a:ea typeface="DejaVu Sans"/>
                <a:cs typeface="DejaVu Sans"/>
              </a:rPr>
              <a:t>fraude / suplantación</a:t>
            </a:r>
          </a:p>
        </p:txBody>
      </p:sp>
      <p:sp>
        <p:nvSpPr>
          <p:cNvPr id="39" name="">
            <a:extLst xmlns:a="http://schemas.openxmlformats.org/drawingml/2006/main">
              <a:ext uri="{FF2B5EF4-FFF2-40B4-BE49-F238E27FC236}">
                <a16:creationId xmlns:a16="http://schemas.microsoft.com/office/drawing/2014/main" id="{173DEB6D-E308-4075-9877-3926E107BF64}"/>
              </a:ext>
            </a:extLst>
          </p:cNvPr>
          <p:cNvSpPr>
            <a:spLocks xmlns:a="http://schemas.openxmlformats.org/drawingml/2006/main" noGrp="1"/>
          </p:cNvSpPr>
          <p:nvPr/>
        </p:nvSpPr>
        <p:spPr>
          <a:xfrm xmlns:a="http://schemas.openxmlformats.org/drawingml/2006/main">
            <a:off x="914400" y="5543550"/>
            <a:ext cx="1036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900" b="0">
                <a:solidFill>
                  <a:srgbClr val="82909B"/>
                </a:solidFill>
                <a:latin typeface="DejaVu Sans"/>
                <a:ea typeface="DejaVu Sans"/>
                <a:cs typeface="DejaVu Sans"/>
              </a:defRPr>
            </a:pPr>
            <a:r>
              <a:rPr sz="900" b="0">
                <a:solidFill>
                  <a:srgbClr val="82909B"/>
                </a:solidFill>
                <a:latin typeface="DejaVu Sans"/>
                <a:ea typeface="DejaVu Sans"/>
                <a:cs typeface="DejaVu Sans"/>
              </a:rPr>
              <a:t>Hipótesis de CX: −35% a −40% de tickets de retiro. Debe validarse; no es un resultado garantizado.</a:t>
            </a:r>
          </a:p>
        </p:txBody>
      </p:sp>
      <p:sp>
        <p:nvSpPr>
          <p:cNvPr id="40" name="">
            <a:extLst xmlns:a="http://schemas.openxmlformats.org/drawingml/2006/main">
              <a:ext uri="{FF2B5EF4-FFF2-40B4-BE49-F238E27FC236}">
                <a16:creationId xmlns:a16="http://schemas.microsoft.com/office/drawing/2014/main" id="{7F211D87-C01F-4F4D-A96D-D37AB9A91C23}"/>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82909B"/>
                </a:solidFill>
                <a:latin typeface="DejaVu Sans"/>
                <a:ea typeface="DejaVu Sans"/>
                <a:cs typeface="DejaVu Sans"/>
              </a:defRPr>
            </a:pPr>
            <a:r>
              <a:rPr sz="750" b="0">
                <a:solidFill>
                  <a:srgbClr val="82909B"/>
                </a:solidFill>
                <a:latin typeface="DejaVu Sans"/>
                <a:ea typeface="DejaVu Sans"/>
                <a:cs typeface="DejaVu Sans"/>
              </a:rPr>
              <a:t>Plan de validación: analytics + tickets + entrevistas reales + test de comprensión.</a:t>
            </a:r>
          </a:p>
        </p:txBody>
      </p:sp>
    </p:spTree>
    <p:extLst>
      <p:ext uri="{BB962C8B-B14F-4D97-AF65-F5344CB8AC3E}">
        <p14:creationId xmlns:p14="http://schemas.microsoft.com/office/powerpoint/2010/main" val="143234565"/>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DBAC92-DD07-4A64-A35F-BD8A2B74DC5D}"/>
              </a:ext>
            </a:extLst>
          </p:cNvPr>
          <p:cNvSpPr>
            <a:spLocks xmlns:a="http://schemas.openxmlformats.org/drawingml/2006/main" noGrp="1"/>
          </p:cNvSpPr>
          <p:nvPr/>
        </p:nvSpPr>
        <p:spPr>
          <a:xfrm xmlns:a="http://schemas.openxmlformats.org/drawingml/2006/main">
            <a:off x="685800" y="4000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975" b="1">
                <a:solidFill>
                  <a:srgbClr val="71D8D0"/>
                </a:solidFill>
                <a:latin typeface="DejaVu Sans"/>
                <a:ea typeface="DejaVu Sans"/>
                <a:cs typeface="DejaVu Sans"/>
              </a:defRPr>
            </a:pPr>
            <a:r>
              <a:rPr sz="975" b="1">
                <a:solidFill>
                  <a:srgbClr val="71D8D0"/>
                </a:solidFill>
                <a:latin typeface="DejaVu Sans"/>
                <a:ea typeface="DejaVu Sans"/>
                <a:cs typeface="DejaVu Sans"/>
              </a:rPr>
              <a:t>SOLICITUD FORMAL</a:t>
            </a:r>
          </a:p>
        </p:txBody>
      </p:sp>
      <p:sp>
        <p:nvSpPr>
          <p:cNvPr id="2" name="">
            <a:extLst xmlns:a="http://schemas.openxmlformats.org/drawingml/2006/main">
              <a:ext uri="{FF2B5EF4-FFF2-40B4-BE49-F238E27FC236}">
                <a16:creationId xmlns:a16="http://schemas.microsoft.com/office/drawing/2014/main" id="{CCC5CFB6-44C9-43EF-AB46-99F5F2BBA364}"/>
              </a:ext>
            </a:extLst>
          </p:cNvPr>
          <p:cNvSpPr>
            <a:spLocks xmlns:a="http://schemas.openxmlformats.org/drawingml/2006/main" noGrp="1"/>
          </p:cNvSpPr>
          <p:nvPr/>
        </p:nvSpPr>
        <p:spPr>
          <a:xfrm xmlns:a="http://schemas.openxmlformats.org/drawingml/2006/main">
            <a:off x="685800" y="704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95000"/>
              </a:lnSpc>
              <a:buNone/>
              <a:defRPr sz="2700" b="1">
                <a:solidFill>
                  <a:srgbClr val="FFFFFF"/>
                </a:solidFill>
                <a:latin typeface="DejaVu Sans"/>
                <a:ea typeface="DejaVu Sans"/>
                <a:cs typeface="DejaVu Sans"/>
              </a:defRPr>
            </a:pPr>
            <a:r>
              <a:rPr sz="2700" b="1">
                <a:solidFill>
                  <a:srgbClr val="FFFFFF"/>
                </a:solidFill>
                <a:latin typeface="DejaVu Sans"/>
                <a:ea typeface="DejaVu Sans"/>
                <a:cs typeface="DejaVu Sans"/>
              </a:rPr>
              <a:t>Aprobar el rescate, no transformar el core</a:t>
            </a:r>
          </a:p>
        </p:txBody>
      </p:sp>
      <p:sp>
        <p:nvSpPr>
          <p:cNvPr id="3" name="">
            <a:extLst xmlns:a="http://schemas.openxmlformats.org/drawingml/2006/main">
              <a:ext uri="{FF2B5EF4-FFF2-40B4-BE49-F238E27FC236}">
                <a16:creationId xmlns:a16="http://schemas.microsoft.com/office/drawing/2014/main" id="{3EE764E8-075B-470C-BCED-DCEA871CD62C}"/>
              </a:ext>
            </a:extLst>
          </p:cNvPr>
          <p:cNvSpPr>
            <a:spLocks xmlns:a="http://schemas.openxmlformats.org/drawingml/2006/main" noGrp="1"/>
          </p:cNvSpPr>
          <p:nvPr/>
        </p:nvSpPr>
        <p:spPr>
          <a:xfrm xmlns:a="http://schemas.openxmlformats.org/drawingml/2006/main">
            <a:off x="685800" y="6496050"/>
            <a:ext cx="10820400" cy="0"/>
          </a:xfrm>
          <a:prstGeom xmlns:a="http://schemas.openxmlformats.org/drawingml/2006/main" prst="line">
            <a:avLst/>
          </a:prstGeom>
          <a:noFill xmlns:a="http://schemas.openxmlformats.org/drawingml/2006/main"/>
          <a:ln xmlns:a="http://schemas.openxmlformats.org/drawingml/2006/main" w="9525">
            <a:solidFill>
              <a:srgbClr val="36556B"/>
            </a:solidFill>
            <a:prstDash val="solid"/>
          </a:ln>
        </p:spPr>
      </p:sp>
      <p:sp>
        <p:nvSpPr>
          <p:cNvPr id="4" name="">
            <a:extLst xmlns:a="http://schemas.openxmlformats.org/drawingml/2006/main">
              <a:ext uri="{FF2B5EF4-FFF2-40B4-BE49-F238E27FC236}">
                <a16:creationId xmlns:a16="http://schemas.microsoft.com/office/drawing/2014/main" id="{9495C7AB-8426-488C-BDFA-92648C96B119}"/>
              </a:ext>
            </a:extLst>
          </p:cNvPr>
          <p:cNvSpPr>
            <a:spLocks xmlns:a="http://schemas.openxmlformats.org/drawingml/2006/main" noGrp="1"/>
          </p:cNvSpPr>
          <p:nvPr/>
        </p:nvSpPr>
        <p:spPr>
          <a:xfrm xmlns:a="http://schemas.openxmlformats.org/drawingml/2006/main">
            <a:off x="685800" y="65722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825" b="1">
                <a:solidFill>
                  <a:srgbClr val="B7CBD9"/>
                </a:solidFill>
                <a:latin typeface="DejaVu Sans"/>
                <a:ea typeface="DejaVu Sans"/>
                <a:cs typeface="DejaVu Sans"/>
              </a:defRPr>
            </a:pPr>
            <a:r>
              <a:rPr sz="825" b="1">
                <a:solidFill>
                  <a:srgbClr val="B7CBD9"/>
                </a:solidFill>
                <a:latin typeface="DejaVu Sans"/>
                <a:ea typeface="DejaVu Sans"/>
                <a:cs typeface="DejaVu Sans"/>
              </a:rPr>
              <a:t>INVERUP · PLAN DE RESCATE</a:t>
            </a:r>
          </a:p>
        </p:txBody>
      </p:sp>
      <p:sp>
        <p:nvSpPr>
          <p:cNvPr id="5" name="">
            <a:extLst xmlns:a="http://schemas.openxmlformats.org/drawingml/2006/main">
              <a:ext uri="{FF2B5EF4-FFF2-40B4-BE49-F238E27FC236}">
                <a16:creationId xmlns:a16="http://schemas.microsoft.com/office/drawing/2014/main" id="{C61B0EFB-E557-42C3-A069-3E06CA25B6A8}"/>
              </a:ext>
            </a:extLst>
          </p:cNvPr>
          <p:cNvSpPr>
            <a:spLocks xmlns:a="http://schemas.openxmlformats.org/drawingml/2006/main" noGrp="1"/>
          </p:cNvSpPr>
          <p:nvPr/>
        </p:nvSpPr>
        <p:spPr>
          <a:xfrm xmlns:a="http://schemas.openxmlformats.org/drawingml/2006/main">
            <a:off x="9906000" y="6572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71D8D0"/>
                </a:solidFill>
                <a:latin typeface="DejaVu Sans"/>
                <a:ea typeface="DejaVu Sans"/>
                <a:cs typeface="DejaVu Sans"/>
              </a:defRPr>
            </a:pPr>
            <a:r>
              <a:rPr sz="825" b="1">
                <a:solidFill>
                  <a:srgbClr val="71D8D0"/>
                </a:solidFill>
                <a:latin typeface="DejaVu Sans"/>
                <a:ea typeface="DejaVu Sans"/>
                <a:cs typeface="DejaVu Sans"/>
              </a:rPr>
              <a:t>ERICK</a:t>
            </a:r>
          </a:p>
        </p:txBody>
      </p:sp>
      <p:sp>
        <p:nvSpPr>
          <p:cNvPr id="6" name="">
            <a:extLst xmlns:a="http://schemas.openxmlformats.org/drawingml/2006/main">
              <a:ext uri="{FF2B5EF4-FFF2-40B4-BE49-F238E27FC236}">
                <a16:creationId xmlns:a16="http://schemas.microsoft.com/office/drawing/2014/main" id="{355B33D1-FCD3-4B75-B423-FEA068E37FFC}"/>
              </a:ext>
            </a:extLst>
          </p:cNvPr>
          <p:cNvSpPr>
            <a:spLocks xmlns:a="http://schemas.openxmlformats.org/drawingml/2006/main" noGrp="1"/>
          </p:cNvSpPr>
          <p:nvPr/>
        </p:nvSpPr>
        <p:spPr>
          <a:xfrm xmlns:a="http://schemas.openxmlformats.org/drawingml/2006/main">
            <a:off x="11182350" y="6572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825" b="1">
                <a:solidFill>
                  <a:srgbClr val="B7CBD9"/>
                </a:solidFill>
                <a:latin typeface="DejaVu Sans"/>
                <a:ea typeface="DejaVu Sans"/>
                <a:cs typeface="DejaVu Sans"/>
              </a:defRPr>
            </a:pPr>
            <a:r>
              <a:rPr sz="825" b="1">
                <a:solidFill>
                  <a:srgbClr val="B7CBD9"/>
                </a:solidFill>
                <a:latin typeface="DejaVu Sans"/>
                <a:ea typeface="DejaVu Sans"/>
                <a:cs typeface="DejaVu Sans"/>
              </a:rPr>
              <a:t>12</a:t>
            </a:r>
          </a:p>
        </p:txBody>
      </p:sp>
      <p:sp>
        <p:nvSpPr>
          <p:cNvPr id="7" name="">
            <a:extLst xmlns:a="http://schemas.openxmlformats.org/drawingml/2006/main">
              <a:ext uri="{FF2B5EF4-FFF2-40B4-BE49-F238E27FC236}">
                <a16:creationId xmlns:a16="http://schemas.microsoft.com/office/drawing/2014/main" id="{D4958258-9D62-4215-8D46-488793C5DEE1}"/>
              </a:ext>
            </a:extLst>
          </p:cNvPr>
          <p:cNvSpPr>
            <a:spLocks xmlns:a="http://schemas.openxmlformats.org/drawingml/2006/main" noGrp="1"/>
          </p:cNvSpPr>
          <p:nvPr/>
        </p:nvSpPr>
        <p:spPr>
          <a:xfrm xmlns:a="http://schemas.openxmlformats.org/drawingml/2006/main">
            <a:off x="685800" y="13144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C7D8E3"/>
                </a:solidFill>
                <a:latin typeface="DejaVu Sans"/>
                <a:ea typeface="DejaVu Sans"/>
                <a:cs typeface="DejaVu Sans"/>
              </a:defRPr>
            </a:pPr>
            <a:r>
              <a:rPr sz="1425" b="0">
                <a:solidFill>
                  <a:srgbClr val="C7D8E3"/>
                </a:solidFill>
                <a:latin typeface="DejaVu Sans"/>
                <a:ea typeface="DejaVu Sans"/>
                <a:cs typeface="DejaVu Sans"/>
              </a:rPr>
              <a:t>Necesitamos tres habilitadores para empezar.</a:t>
            </a:r>
          </a:p>
        </p:txBody>
      </p:sp>
      <p:sp>
        <p:nvSpPr>
          <p:cNvPr id="8" name="">
            <a:extLst xmlns:a="http://schemas.openxmlformats.org/drawingml/2006/main">
              <a:ext uri="{FF2B5EF4-FFF2-40B4-BE49-F238E27FC236}">
                <a16:creationId xmlns:a16="http://schemas.microsoft.com/office/drawing/2014/main" id="{EF3EF89D-A20D-4795-8AA6-FD3618786AA6}"/>
              </a:ext>
            </a:extLst>
          </p:cNvPr>
          <p:cNvSpPr>
            <a:spLocks xmlns:a="http://schemas.openxmlformats.org/drawingml/2006/main" noGrp="1"/>
          </p:cNvSpPr>
          <p:nvPr/>
        </p:nvSpPr>
        <p:spPr>
          <a:xfrm xmlns:a="http://schemas.openxmlformats.org/drawingml/2006/main">
            <a:off x="4000500" y="2152650"/>
            <a:ext cx="0" cy="2286000"/>
          </a:xfrm>
          <a:prstGeom xmlns:a="http://schemas.openxmlformats.org/drawingml/2006/main" prst="line">
            <a:avLst/>
          </a:prstGeom>
          <a:noFill xmlns:a="http://schemas.openxmlformats.org/drawingml/2006/main"/>
          <a:ln xmlns:a="http://schemas.openxmlformats.org/drawingml/2006/main" w="9525">
            <a:solidFill>
              <a:srgbClr val="36556B"/>
            </a:solidFill>
            <a:prstDash val="solid"/>
          </a:ln>
        </p:spPr>
      </p:sp>
      <p:sp>
        <p:nvSpPr>
          <p:cNvPr id="9" name="">
            <a:extLst xmlns:a="http://schemas.openxmlformats.org/drawingml/2006/main">
              <a:ext uri="{FF2B5EF4-FFF2-40B4-BE49-F238E27FC236}">
                <a16:creationId xmlns:a16="http://schemas.microsoft.com/office/drawing/2014/main" id="{FF7F2D05-F017-40C7-A581-D4A6C8B2B7C9}"/>
              </a:ext>
            </a:extLst>
          </p:cNvPr>
          <p:cNvSpPr>
            <a:spLocks xmlns:a="http://schemas.openxmlformats.org/drawingml/2006/main" noGrp="1"/>
          </p:cNvSpPr>
          <p:nvPr/>
        </p:nvSpPr>
        <p:spPr>
          <a:xfrm xmlns:a="http://schemas.openxmlformats.org/drawingml/2006/main">
            <a:off x="7734300" y="2152650"/>
            <a:ext cx="0" cy="2286000"/>
          </a:xfrm>
          <a:prstGeom xmlns:a="http://schemas.openxmlformats.org/drawingml/2006/main" prst="line">
            <a:avLst/>
          </a:prstGeom>
          <a:noFill xmlns:a="http://schemas.openxmlformats.org/drawingml/2006/main"/>
          <a:ln xmlns:a="http://schemas.openxmlformats.org/drawingml/2006/main" w="9525">
            <a:solidFill>
              <a:srgbClr val="36556B"/>
            </a:solidFill>
            <a:prstDash val="solid"/>
          </a:ln>
        </p:spPr>
      </p:sp>
      <p:sp>
        <p:nvSpPr>
          <p:cNvPr id="10" name="">
            <a:extLst xmlns:a="http://schemas.openxmlformats.org/drawingml/2006/main">
              <a:ext uri="{FF2B5EF4-FFF2-40B4-BE49-F238E27FC236}">
                <a16:creationId xmlns:a16="http://schemas.microsoft.com/office/drawing/2014/main" id="{12DFFB97-4811-4AC4-9111-19B697118949}"/>
              </a:ext>
            </a:extLst>
          </p:cNvPr>
          <p:cNvSpPr>
            <a:spLocks xmlns:a="http://schemas.openxmlformats.org/drawingml/2006/main" noGrp="1"/>
          </p:cNvSpPr>
          <p:nvPr/>
        </p:nvSpPr>
        <p:spPr>
          <a:xfrm xmlns:a="http://schemas.openxmlformats.org/drawingml/2006/main">
            <a:off x="685800" y="2095500"/>
            <a:ext cx="81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250" b="1">
                <a:solidFill>
                  <a:srgbClr val="71D8D0"/>
                </a:solidFill>
                <a:latin typeface="DejaVu Sans"/>
                <a:ea typeface="DejaVu Sans"/>
                <a:cs typeface="DejaVu Sans"/>
              </a:defRPr>
            </a:pPr>
            <a:r>
              <a:rPr sz="2250" b="1">
                <a:solidFill>
                  <a:srgbClr val="71D8D0"/>
                </a:solidFill>
                <a:latin typeface="DejaVu Sans"/>
                <a:ea typeface="DejaVu Sans"/>
                <a:cs typeface="DejaVu Sans"/>
              </a:rPr>
              <a:t>01</a:t>
            </a:r>
          </a:p>
        </p:txBody>
      </p:sp>
      <p:sp>
        <p:nvSpPr>
          <p:cNvPr id="11" name="">
            <a:extLst xmlns:a="http://schemas.openxmlformats.org/drawingml/2006/main">
              <a:ext uri="{FF2B5EF4-FFF2-40B4-BE49-F238E27FC236}">
                <a16:creationId xmlns:a16="http://schemas.microsoft.com/office/drawing/2014/main" id="{5CF66FB8-736E-4CE3-8374-3FA75ACF8F83}"/>
              </a:ext>
            </a:extLst>
          </p:cNvPr>
          <p:cNvSpPr>
            <a:spLocks xmlns:a="http://schemas.openxmlformats.org/drawingml/2006/main" noGrp="1"/>
          </p:cNvSpPr>
          <p:nvPr/>
        </p:nvSpPr>
        <p:spPr>
          <a:xfrm xmlns:a="http://schemas.openxmlformats.org/drawingml/2006/main">
            <a:off x="6858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Aprobación</a:t>
            </a:r>
          </a:p>
        </p:txBody>
      </p:sp>
      <p:sp>
        <p:nvSpPr>
          <p:cNvPr id="12" name="">
            <a:extLst xmlns:a="http://schemas.openxmlformats.org/drawingml/2006/main">
              <a:ext uri="{FF2B5EF4-FFF2-40B4-BE49-F238E27FC236}">
                <a16:creationId xmlns:a16="http://schemas.microsoft.com/office/drawing/2014/main" id="{6E21B054-0771-4E77-9412-17DF74C3195A}"/>
              </a:ext>
            </a:extLst>
          </p:cNvPr>
          <p:cNvSpPr>
            <a:spLocks xmlns:a="http://schemas.openxmlformats.org/drawingml/2006/main" noGrp="1"/>
          </p:cNvSpPr>
          <p:nvPr/>
        </p:nvSpPr>
        <p:spPr>
          <a:xfrm xmlns:a="http://schemas.openxmlformats.org/drawingml/2006/main">
            <a:off x="685800" y="3200400"/>
            <a:ext cx="285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a:solidFill>
                  <a:srgbClr val="C7D8E3"/>
                </a:solidFill>
                <a:latin typeface="DejaVu Sans"/>
                <a:ea typeface="DejaVu Sans"/>
                <a:cs typeface="DejaVu Sans"/>
              </a:defRPr>
            </a:pPr>
            <a:r>
              <a:rPr sz="1275" b="0">
                <a:solidFill>
                  <a:srgbClr val="C7D8E3"/>
                </a:solidFill>
                <a:latin typeface="DejaVu Sans"/>
                <a:ea typeface="DejaVu Sans"/>
                <a:cs typeface="DejaVu Sans"/>
              </a:rPr>
              <a:t>Sprint de dos semanas para Fondos en tránsito + Lenguaje Claro.</a:t>
            </a:r>
          </a:p>
        </p:txBody>
      </p:sp>
      <p:sp>
        <p:nvSpPr>
          <p:cNvPr id="13" name="">
            <a:extLst xmlns:a="http://schemas.openxmlformats.org/drawingml/2006/main">
              <a:ext uri="{FF2B5EF4-FFF2-40B4-BE49-F238E27FC236}">
                <a16:creationId xmlns:a16="http://schemas.microsoft.com/office/drawing/2014/main" id="{8AFAF31A-3DFB-4970-B66F-1F5C56A92E96}"/>
              </a:ext>
            </a:extLst>
          </p:cNvPr>
          <p:cNvSpPr>
            <a:spLocks xmlns:a="http://schemas.openxmlformats.org/drawingml/2006/main" noGrp="1"/>
          </p:cNvSpPr>
          <p:nvPr/>
        </p:nvSpPr>
        <p:spPr>
          <a:xfrm xmlns:a="http://schemas.openxmlformats.org/drawingml/2006/main">
            <a:off x="4419600" y="2095500"/>
            <a:ext cx="81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250" b="1">
                <a:solidFill>
                  <a:srgbClr val="71D8D0"/>
                </a:solidFill>
                <a:latin typeface="DejaVu Sans"/>
                <a:ea typeface="DejaVu Sans"/>
                <a:cs typeface="DejaVu Sans"/>
              </a:defRPr>
            </a:pPr>
            <a:r>
              <a:rPr sz="2250" b="1">
                <a:solidFill>
                  <a:srgbClr val="71D8D0"/>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55BDB1BA-5F9F-4402-A282-4C98A8D82036}"/>
              </a:ext>
            </a:extLst>
          </p:cNvPr>
          <p:cNvSpPr>
            <a:spLocks xmlns:a="http://schemas.openxmlformats.org/drawingml/2006/main" noGrp="1"/>
          </p:cNvSpPr>
          <p:nvPr/>
        </p:nvSpPr>
        <p:spPr>
          <a:xfrm xmlns:a="http://schemas.openxmlformats.org/drawingml/2006/main">
            <a:off x="44196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Habilitadores</a:t>
            </a:r>
          </a:p>
        </p:txBody>
      </p:sp>
      <p:sp>
        <p:nvSpPr>
          <p:cNvPr id="15" name="">
            <a:extLst xmlns:a="http://schemas.openxmlformats.org/drawingml/2006/main">
              <a:ext uri="{FF2B5EF4-FFF2-40B4-BE49-F238E27FC236}">
                <a16:creationId xmlns:a16="http://schemas.microsoft.com/office/drawing/2014/main" id="{E7543F20-1B00-4801-9B09-7CCC58128681}"/>
              </a:ext>
            </a:extLst>
          </p:cNvPr>
          <p:cNvSpPr>
            <a:spLocks xmlns:a="http://schemas.openxmlformats.org/drawingml/2006/main" noGrp="1"/>
          </p:cNvSpPr>
          <p:nvPr/>
        </p:nvSpPr>
        <p:spPr>
          <a:xfrm xmlns:a="http://schemas.openxmlformats.org/drawingml/2006/main">
            <a:off x="4419600" y="3200400"/>
            <a:ext cx="285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a:solidFill>
                  <a:srgbClr val="C7D8E3"/>
                </a:solidFill>
                <a:latin typeface="DejaVu Sans"/>
                <a:ea typeface="DejaVu Sans"/>
                <a:cs typeface="DejaVu Sans"/>
              </a:defRPr>
            </a:pPr>
            <a:r>
              <a:rPr sz="1275" b="0">
                <a:solidFill>
                  <a:srgbClr val="C7D8E3"/>
                </a:solidFill>
                <a:latin typeface="DejaVu Sans"/>
                <a:ea typeface="DejaVu Sans"/>
                <a:cs typeface="DejaVu Sans"/>
              </a:rPr>
              <a:t>Owner de Compliance y acceso a retiros, tickets y continuidad de inversión.</a:t>
            </a:r>
          </a:p>
        </p:txBody>
      </p:sp>
      <p:sp>
        <p:nvSpPr>
          <p:cNvPr id="16" name="">
            <a:extLst xmlns:a="http://schemas.openxmlformats.org/drawingml/2006/main">
              <a:ext uri="{FF2B5EF4-FFF2-40B4-BE49-F238E27FC236}">
                <a16:creationId xmlns:a16="http://schemas.microsoft.com/office/drawing/2014/main" id="{8C5C66D8-9F31-4D14-B6BE-DF8F1B522332}"/>
              </a:ext>
            </a:extLst>
          </p:cNvPr>
          <p:cNvSpPr>
            <a:spLocks xmlns:a="http://schemas.openxmlformats.org/drawingml/2006/main" noGrp="1"/>
          </p:cNvSpPr>
          <p:nvPr/>
        </p:nvSpPr>
        <p:spPr>
          <a:xfrm xmlns:a="http://schemas.openxmlformats.org/drawingml/2006/main">
            <a:off x="8153400" y="2095500"/>
            <a:ext cx="819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250" b="1">
                <a:solidFill>
                  <a:srgbClr val="71D8D0"/>
                </a:solidFill>
                <a:latin typeface="DejaVu Sans"/>
                <a:ea typeface="DejaVu Sans"/>
                <a:cs typeface="DejaVu Sans"/>
              </a:defRPr>
            </a:pPr>
            <a:r>
              <a:rPr sz="2250" b="1">
                <a:solidFill>
                  <a:srgbClr val="71D8D0"/>
                </a:solidFill>
                <a:latin typeface="DejaVu Sans"/>
                <a:ea typeface="DejaVu Sans"/>
                <a:cs typeface="DejaVu Sans"/>
              </a:rPr>
              <a:t>03</a:t>
            </a:r>
          </a:p>
        </p:txBody>
      </p:sp>
      <p:sp>
        <p:nvSpPr>
          <p:cNvPr id="17" name="">
            <a:extLst xmlns:a="http://schemas.openxmlformats.org/drawingml/2006/main">
              <a:ext uri="{FF2B5EF4-FFF2-40B4-BE49-F238E27FC236}">
                <a16:creationId xmlns:a16="http://schemas.microsoft.com/office/drawing/2014/main" id="{A8D9987E-4EC6-4E66-ADE8-EA2CBA91685B}"/>
              </a:ext>
            </a:extLst>
          </p:cNvPr>
          <p:cNvSpPr>
            <a:spLocks xmlns:a="http://schemas.openxmlformats.org/drawingml/2006/main" noGrp="1"/>
          </p:cNvSpPr>
          <p:nvPr/>
        </p:nvSpPr>
        <p:spPr>
          <a:xfrm xmlns:a="http://schemas.openxmlformats.org/drawingml/2006/main">
            <a:off x="81534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Gobernanza</a:t>
            </a:r>
          </a:p>
        </p:txBody>
      </p:sp>
      <p:sp>
        <p:nvSpPr>
          <p:cNvPr id="18" name="">
            <a:extLst xmlns:a="http://schemas.openxmlformats.org/drawingml/2006/main">
              <a:ext uri="{FF2B5EF4-FFF2-40B4-BE49-F238E27FC236}">
                <a16:creationId xmlns:a16="http://schemas.microsoft.com/office/drawing/2014/main" id="{02A5D6CC-C31B-4F81-A4FD-847999047464}"/>
              </a:ext>
            </a:extLst>
          </p:cNvPr>
          <p:cNvSpPr>
            <a:spLocks xmlns:a="http://schemas.openxmlformats.org/drawingml/2006/main" noGrp="1"/>
          </p:cNvSpPr>
          <p:nvPr/>
        </p:nvSpPr>
        <p:spPr>
          <a:xfrm xmlns:a="http://schemas.openxmlformats.org/drawingml/2006/main">
            <a:off x="8153400" y="3200400"/>
            <a:ext cx="285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a:solidFill>
                  <a:srgbClr val="C7D8E3"/>
                </a:solidFill>
                <a:latin typeface="DejaVu Sans"/>
                <a:ea typeface="DejaVu Sans"/>
                <a:cs typeface="DejaVu Sans"/>
              </a:defRPr>
            </a:pPr>
            <a:r>
              <a:rPr sz="1275" b="0">
                <a:solidFill>
                  <a:srgbClr val="C7D8E3"/>
                </a:solidFill>
                <a:latin typeface="DejaVu Sans"/>
                <a:ea typeface="DejaVu Sans"/>
                <a:cs typeface="DejaVu Sans"/>
              </a:rPr>
              <a:t>Revisión ejecutiva al Día 10 y evaluación de TCI–30 al cumplirse la cohorte.</a:t>
            </a:r>
          </a:p>
        </p:txBody>
      </p:sp>
      <p:sp>
        <p:nvSpPr>
          <p:cNvPr id="19" name="">
            <a:extLst xmlns:a="http://schemas.openxmlformats.org/drawingml/2006/main">
              <a:ext uri="{FF2B5EF4-FFF2-40B4-BE49-F238E27FC236}">
                <a16:creationId xmlns:a16="http://schemas.microsoft.com/office/drawing/2014/main" id="{AF37B3C3-2BBA-4701-99A9-07AE8B388598}"/>
              </a:ext>
            </a:extLst>
          </p:cNvPr>
          <p:cNvSpPr>
            <a:spLocks xmlns:a="http://schemas.openxmlformats.org/drawingml/2006/main" noGrp="1"/>
          </p:cNvSpPr>
          <p:nvPr/>
        </p:nvSpPr>
        <p:spPr>
          <a:xfrm xmlns:a="http://schemas.openxmlformats.org/drawingml/2006/main">
            <a:off x="685800" y="4857750"/>
            <a:ext cx="10820400" cy="1085850"/>
          </a:xfrm>
          <a:prstGeom xmlns:a="http://schemas.openxmlformats.org/drawingml/2006/main" prst="roundRect">
            <a:avLst>
              <a:gd name="adj" fmla="val 17544"/>
            </a:avLst>
          </a:prstGeom>
          <a:solidFill xmlns:a="http://schemas.openxmlformats.org/drawingml/2006/main">
            <a:srgbClr val="00A7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C2C373-4AFF-451C-84E7-1A9AE0580968}"/>
              </a:ext>
            </a:extLst>
          </p:cNvPr>
          <p:cNvSpPr>
            <a:spLocks xmlns:a="http://schemas.openxmlformats.org/drawingml/2006/main" noGrp="1"/>
          </p:cNvSpPr>
          <p:nvPr/>
        </p:nvSpPr>
        <p:spPr>
          <a:xfrm xmlns:a="http://schemas.openxmlformats.org/drawingml/2006/main">
            <a:off x="990600" y="5010150"/>
            <a:ext cx="10210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La regulación explica por qué el dinero tarda.</a:t>
            </a:r>
          </a:p>
          <a:p xmlns:a="http://schemas.openxmlformats.org/drawingml/2006/main">
            <a:pPr algn="ctr">
              <a:lnSpc>
                <a:spcPct val="102000"/>
              </a:lnSpc>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InverUp debe evitar que, durante la espera, el usuario sienta que lo perdió.</a:t>
            </a:r>
          </a:p>
        </p:txBody>
      </p:sp>
      <p:sp>
        <p:nvSpPr>
          <p:cNvPr id="21" name="">
            <a:extLst xmlns:a="http://schemas.openxmlformats.org/drawingml/2006/main">
              <a:ext uri="{FF2B5EF4-FFF2-40B4-BE49-F238E27FC236}">
                <a16:creationId xmlns:a16="http://schemas.microsoft.com/office/drawing/2014/main" id="{9FA37028-A069-4EE5-A6E5-C7E79826363E}"/>
              </a:ext>
            </a:extLst>
          </p:cNvPr>
          <p:cNvSpPr>
            <a:spLocks xmlns:a="http://schemas.openxmlformats.org/drawingml/2006/main" noGrp="1"/>
          </p:cNvSpPr>
          <p:nvPr/>
        </p:nvSpPr>
        <p:spPr>
          <a:xfrm xmlns:a="http://schemas.openxmlformats.org/drawingml/2006/main">
            <a:off x="685800" y="6267450"/>
            <a:ext cx="9334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750" b="0">
                <a:solidFill>
                  <a:srgbClr val="9FB5C4"/>
                </a:solidFill>
                <a:latin typeface="DejaVu Sans"/>
                <a:ea typeface="DejaVu Sans"/>
                <a:cs typeface="DejaVu Sans"/>
              </a:defRPr>
            </a:pPr>
            <a:r>
              <a:rPr sz="750" b="0">
                <a:solidFill>
                  <a:srgbClr val="9FB5C4"/>
                </a:solidFill>
                <a:latin typeface="DejaVu Sans"/>
                <a:ea typeface="DejaVu Sans"/>
                <a:cs typeface="DejaVu Sans"/>
              </a:rPr>
              <a:t>Solicitud: autorización, responsables y acceso a línea base.</a:t>
            </a:r>
          </a:p>
        </p:txBody>
      </p:sp>
    </p:spTree>
    <p:extLst>
      <p:ext uri="{BB962C8B-B14F-4D97-AF65-F5344CB8AC3E}">
        <p14:creationId xmlns:p14="http://schemas.microsoft.com/office/powerpoint/2010/main" val="2185106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2026-07-22T15:26:16.0280000Z</dcterms:created>
  <dcterms:modified xsi:type="dcterms:W3CDTF">2026-07-22T15:26:16.0280000Z</dcterms:modified>
</coreProperties>
</file>